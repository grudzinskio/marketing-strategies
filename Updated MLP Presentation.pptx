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58" r:id="rId4"/>
    <p:sldId id="268" r:id="rId5"/>
    <p:sldId id="267" r:id="rId6"/>
    <p:sldId id="259" r:id="rId7"/>
    <p:sldId id="275" r:id="rId8"/>
    <p:sldId id="276" r:id="rId9"/>
    <p:sldId id="277" r:id="rId10"/>
    <p:sldId id="278" r:id="rId11"/>
    <p:sldId id="279" r:id="rId12"/>
    <p:sldId id="280" r:id="rId13"/>
    <p:sldId id="281" r:id="rId14"/>
    <p:sldId id="282" r:id="rId15"/>
    <p:sldId id="260" r:id="rId16"/>
    <p:sldId id="261" r:id="rId17"/>
    <p:sldId id="273" r:id="rId18"/>
    <p:sldId id="264" r:id="rId19"/>
    <p:sldId id="265" r:id="rId20"/>
    <p:sldId id="269" r:id="rId21"/>
    <p:sldId id="266" r:id="rId22"/>
    <p:sldId id="270" r:id="rId23"/>
    <p:sldId id="271" r:id="rId24"/>
    <p:sldId id="272" r:id="rId25"/>
    <p:sldId id="262" r:id="rId26"/>
    <p:sldId id="263" r:id="rId27"/>
    <p:sldId id="27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6886" autoAdjust="0"/>
  </p:normalViewPr>
  <p:slideViewPr>
    <p:cSldViewPr snapToGrid="0">
      <p:cViewPr>
        <p:scale>
          <a:sx n="57" d="100"/>
          <a:sy n="57" d="100"/>
        </p:scale>
        <p:origin x="14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A680B0B-F924-496C-91C6-A0B5B9C73DF1}"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74F87938-8975-4613-8558-A7C253ACDDF7}">
      <dgm:prSet/>
      <dgm:spPr/>
      <dgm:t>
        <a:bodyPr/>
        <a:lstStyle/>
        <a:p>
          <a:r>
            <a:rPr lang="en-US" b="1"/>
            <a:t>Strengths:</a:t>
          </a:r>
          <a:endParaRPr lang="en-US"/>
        </a:p>
      </dgm:t>
    </dgm:pt>
    <dgm:pt modelId="{8B0AED01-05CD-4E89-9971-08C7ED0A3EDF}" type="parTrans" cxnId="{2CBA14F0-00BF-4F86-A59B-10D160923ED1}">
      <dgm:prSet/>
      <dgm:spPr/>
      <dgm:t>
        <a:bodyPr/>
        <a:lstStyle/>
        <a:p>
          <a:endParaRPr lang="en-US"/>
        </a:p>
      </dgm:t>
    </dgm:pt>
    <dgm:pt modelId="{5EC28AFA-AB47-4C93-9BCD-D41B238A636D}" type="sibTrans" cxnId="{2CBA14F0-00BF-4F86-A59B-10D160923ED1}">
      <dgm:prSet/>
      <dgm:spPr/>
      <dgm:t>
        <a:bodyPr/>
        <a:lstStyle/>
        <a:p>
          <a:endParaRPr lang="en-US"/>
        </a:p>
      </dgm:t>
    </dgm:pt>
    <dgm:pt modelId="{543F09C7-5777-4F02-B101-FFA2E04E756B}">
      <dgm:prSet/>
      <dgm:spPr/>
      <dgm:t>
        <a:bodyPr/>
        <a:lstStyle/>
        <a:p>
          <a:r>
            <a:rPr lang="en-US"/>
            <a:t>- Ability to model non-linear relationships</a:t>
          </a:r>
        </a:p>
      </dgm:t>
    </dgm:pt>
    <dgm:pt modelId="{02176722-72D6-4489-A07C-A333EA7B393B}" type="parTrans" cxnId="{FEEEB610-A4A2-444D-9E71-DA7C60DE1815}">
      <dgm:prSet/>
      <dgm:spPr/>
      <dgm:t>
        <a:bodyPr/>
        <a:lstStyle/>
        <a:p>
          <a:endParaRPr lang="en-US"/>
        </a:p>
      </dgm:t>
    </dgm:pt>
    <dgm:pt modelId="{AE3BB466-C4F6-44EF-884C-A25137575673}" type="sibTrans" cxnId="{FEEEB610-A4A2-444D-9E71-DA7C60DE1815}">
      <dgm:prSet/>
      <dgm:spPr/>
      <dgm:t>
        <a:bodyPr/>
        <a:lstStyle/>
        <a:p>
          <a:endParaRPr lang="en-US"/>
        </a:p>
      </dgm:t>
    </dgm:pt>
    <dgm:pt modelId="{A2841E88-7C11-4865-9A10-CD62FF08BB68}">
      <dgm:prSet/>
      <dgm:spPr/>
      <dgm:t>
        <a:bodyPr/>
        <a:lstStyle/>
        <a:p>
          <a:r>
            <a:rPr lang="en-US"/>
            <a:t>- Flexibility with input data</a:t>
          </a:r>
        </a:p>
      </dgm:t>
    </dgm:pt>
    <dgm:pt modelId="{654AE919-A98D-44D1-9697-D0A1393FE81E}" type="parTrans" cxnId="{F63DF662-93B9-4F65-9367-FA4DCD633318}">
      <dgm:prSet/>
      <dgm:spPr/>
      <dgm:t>
        <a:bodyPr/>
        <a:lstStyle/>
        <a:p>
          <a:endParaRPr lang="en-US"/>
        </a:p>
      </dgm:t>
    </dgm:pt>
    <dgm:pt modelId="{6AFE1174-3C7C-40FC-AF16-C133A4B6184C}" type="sibTrans" cxnId="{F63DF662-93B9-4F65-9367-FA4DCD633318}">
      <dgm:prSet/>
      <dgm:spPr/>
      <dgm:t>
        <a:bodyPr/>
        <a:lstStyle/>
        <a:p>
          <a:endParaRPr lang="en-US"/>
        </a:p>
      </dgm:t>
    </dgm:pt>
    <dgm:pt modelId="{A87744FE-070F-4930-8439-8E104D4BA889}">
      <dgm:prSet/>
      <dgm:spPr/>
      <dgm:t>
        <a:bodyPr/>
        <a:lstStyle/>
        <a:p>
          <a:r>
            <a:rPr lang="en-US"/>
            <a:t>- Scalable to large datasets</a:t>
          </a:r>
        </a:p>
      </dgm:t>
    </dgm:pt>
    <dgm:pt modelId="{CF94AE7A-7E2C-42C1-A8C0-5EAAA0E9F744}" type="parTrans" cxnId="{22D2A575-DC79-4288-ADBB-C71425FB22E9}">
      <dgm:prSet/>
      <dgm:spPr/>
      <dgm:t>
        <a:bodyPr/>
        <a:lstStyle/>
        <a:p>
          <a:endParaRPr lang="en-US"/>
        </a:p>
      </dgm:t>
    </dgm:pt>
    <dgm:pt modelId="{F7C277F8-9510-4F66-8CA7-A6932B20BABC}" type="sibTrans" cxnId="{22D2A575-DC79-4288-ADBB-C71425FB22E9}">
      <dgm:prSet/>
      <dgm:spPr/>
      <dgm:t>
        <a:bodyPr/>
        <a:lstStyle/>
        <a:p>
          <a:endParaRPr lang="en-US"/>
        </a:p>
      </dgm:t>
    </dgm:pt>
    <dgm:pt modelId="{2233F8F7-4F99-4A44-AB77-7789E60230F3}">
      <dgm:prSet/>
      <dgm:spPr/>
      <dgm:t>
        <a:bodyPr/>
        <a:lstStyle/>
        <a:p>
          <a:r>
            <a:rPr lang="en-US" b="1"/>
            <a:t>Weaknesses:</a:t>
          </a:r>
          <a:endParaRPr lang="en-US"/>
        </a:p>
      </dgm:t>
    </dgm:pt>
    <dgm:pt modelId="{F52986D0-E676-4A26-91E0-C2C731C99C6F}" type="parTrans" cxnId="{3E69C597-89BC-42AA-9875-269500A4D830}">
      <dgm:prSet/>
      <dgm:spPr/>
      <dgm:t>
        <a:bodyPr/>
        <a:lstStyle/>
        <a:p>
          <a:endParaRPr lang="en-US"/>
        </a:p>
      </dgm:t>
    </dgm:pt>
    <dgm:pt modelId="{9621112B-7D05-4B30-9545-24A47A54B51C}" type="sibTrans" cxnId="{3E69C597-89BC-42AA-9875-269500A4D830}">
      <dgm:prSet/>
      <dgm:spPr/>
      <dgm:t>
        <a:bodyPr/>
        <a:lstStyle/>
        <a:p>
          <a:endParaRPr lang="en-US"/>
        </a:p>
      </dgm:t>
    </dgm:pt>
    <dgm:pt modelId="{01581315-F3EF-435C-B71A-A260E206374F}">
      <dgm:prSet/>
      <dgm:spPr/>
      <dgm:t>
        <a:bodyPr/>
        <a:lstStyle/>
        <a:p>
          <a:r>
            <a:rPr lang="en-US"/>
            <a:t>- Requires large amounts of data</a:t>
          </a:r>
        </a:p>
      </dgm:t>
    </dgm:pt>
    <dgm:pt modelId="{9CAD85A8-0D07-4EC0-B0B0-0AEE61D114D2}" type="parTrans" cxnId="{6A338235-41FE-4D2E-93C0-F0D3B1D508D6}">
      <dgm:prSet/>
      <dgm:spPr/>
      <dgm:t>
        <a:bodyPr/>
        <a:lstStyle/>
        <a:p>
          <a:endParaRPr lang="en-US"/>
        </a:p>
      </dgm:t>
    </dgm:pt>
    <dgm:pt modelId="{BE615F47-8DD3-47CB-B6B0-08CCB7E3AB31}" type="sibTrans" cxnId="{6A338235-41FE-4D2E-93C0-F0D3B1D508D6}">
      <dgm:prSet/>
      <dgm:spPr/>
      <dgm:t>
        <a:bodyPr/>
        <a:lstStyle/>
        <a:p>
          <a:endParaRPr lang="en-US"/>
        </a:p>
      </dgm:t>
    </dgm:pt>
    <dgm:pt modelId="{B99C7A06-C6FD-42A4-879E-0D9CC8810952}">
      <dgm:prSet/>
      <dgm:spPr/>
      <dgm:t>
        <a:bodyPr/>
        <a:lstStyle/>
        <a:p>
          <a:r>
            <a:rPr lang="en-US"/>
            <a:t>- Sensitive to hyperparameters</a:t>
          </a:r>
        </a:p>
      </dgm:t>
    </dgm:pt>
    <dgm:pt modelId="{818FE67D-EA4E-428E-AB0E-032A0352219A}" type="parTrans" cxnId="{E631F90E-815F-47CD-BEBD-EDB38C8A314D}">
      <dgm:prSet/>
      <dgm:spPr/>
      <dgm:t>
        <a:bodyPr/>
        <a:lstStyle/>
        <a:p>
          <a:endParaRPr lang="en-US"/>
        </a:p>
      </dgm:t>
    </dgm:pt>
    <dgm:pt modelId="{E6E65C38-310A-4A9E-996C-EE115D13326F}" type="sibTrans" cxnId="{E631F90E-815F-47CD-BEBD-EDB38C8A314D}">
      <dgm:prSet/>
      <dgm:spPr/>
      <dgm:t>
        <a:bodyPr/>
        <a:lstStyle/>
        <a:p>
          <a:endParaRPr lang="en-US"/>
        </a:p>
      </dgm:t>
    </dgm:pt>
    <dgm:pt modelId="{C5B8FA60-6E8B-4ECB-B69A-C6CFFB2E2C3E}">
      <dgm:prSet/>
      <dgm:spPr/>
      <dgm:t>
        <a:bodyPr/>
        <a:lstStyle/>
        <a:p>
          <a:r>
            <a:rPr lang="en-US"/>
            <a:t>- Risk of overfitting</a:t>
          </a:r>
        </a:p>
      </dgm:t>
    </dgm:pt>
    <dgm:pt modelId="{B847F969-A274-4547-97EB-7DFE9CA6CC82}" type="parTrans" cxnId="{89F2A5E0-A5B5-4846-86EA-902AE1B697BC}">
      <dgm:prSet/>
      <dgm:spPr/>
      <dgm:t>
        <a:bodyPr/>
        <a:lstStyle/>
        <a:p>
          <a:endParaRPr lang="en-US"/>
        </a:p>
      </dgm:t>
    </dgm:pt>
    <dgm:pt modelId="{F54F4868-57D7-4771-8AF1-A50BF2C2162F}" type="sibTrans" cxnId="{89F2A5E0-A5B5-4846-86EA-902AE1B697BC}">
      <dgm:prSet/>
      <dgm:spPr/>
      <dgm:t>
        <a:bodyPr/>
        <a:lstStyle/>
        <a:p>
          <a:endParaRPr lang="en-US"/>
        </a:p>
      </dgm:t>
    </dgm:pt>
    <dgm:pt modelId="{568DCBB1-DC7F-4DB2-B14A-451651BEE2C9}">
      <dgm:prSet/>
      <dgm:spPr/>
      <dgm:t>
        <a:bodyPr/>
        <a:lstStyle/>
        <a:p>
          <a:r>
            <a:rPr lang="en-US"/>
            <a:t>- Difficulty with sequential or structured data</a:t>
          </a:r>
        </a:p>
      </dgm:t>
    </dgm:pt>
    <dgm:pt modelId="{FEA6334A-AF45-4C9F-87ED-8E0BE8307A9B}" type="parTrans" cxnId="{6E7FCB2B-4817-4C88-8EE3-2DA74D4DFA71}">
      <dgm:prSet/>
      <dgm:spPr/>
      <dgm:t>
        <a:bodyPr/>
        <a:lstStyle/>
        <a:p>
          <a:endParaRPr lang="en-US"/>
        </a:p>
      </dgm:t>
    </dgm:pt>
    <dgm:pt modelId="{67794627-6A1A-40DF-980B-CE41A9903143}" type="sibTrans" cxnId="{6E7FCB2B-4817-4C88-8EE3-2DA74D4DFA71}">
      <dgm:prSet/>
      <dgm:spPr/>
      <dgm:t>
        <a:bodyPr/>
        <a:lstStyle/>
        <a:p>
          <a:endParaRPr lang="en-US"/>
        </a:p>
      </dgm:t>
    </dgm:pt>
    <dgm:pt modelId="{609EE3C3-1D8C-41C7-9D99-6D4B62FCEADD}" type="pres">
      <dgm:prSet presAssocID="{0A680B0B-F924-496C-91C6-A0B5B9C73DF1}" presName="vert0" presStyleCnt="0">
        <dgm:presLayoutVars>
          <dgm:dir/>
          <dgm:animOne val="branch"/>
          <dgm:animLvl val="lvl"/>
        </dgm:presLayoutVars>
      </dgm:prSet>
      <dgm:spPr/>
    </dgm:pt>
    <dgm:pt modelId="{7849B5D2-B0DF-41E3-93B3-92F8A9C97164}" type="pres">
      <dgm:prSet presAssocID="{74F87938-8975-4613-8558-A7C253ACDDF7}" presName="thickLine" presStyleLbl="alignNode1" presStyleIdx="0" presStyleCnt="9"/>
      <dgm:spPr/>
    </dgm:pt>
    <dgm:pt modelId="{A0E89ECF-B32F-4199-AC1E-F04CB10950FA}" type="pres">
      <dgm:prSet presAssocID="{74F87938-8975-4613-8558-A7C253ACDDF7}" presName="horz1" presStyleCnt="0"/>
      <dgm:spPr/>
    </dgm:pt>
    <dgm:pt modelId="{8F998077-1CDA-4E68-87CA-1CE7DEB82485}" type="pres">
      <dgm:prSet presAssocID="{74F87938-8975-4613-8558-A7C253ACDDF7}" presName="tx1" presStyleLbl="revTx" presStyleIdx="0" presStyleCnt="9"/>
      <dgm:spPr/>
    </dgm:pt>
    <dgm:pt modelId="{ECEEC401-877F-400E-A05C-FFB1E3AEEB1E}" type="pres">
      <dgm:prSet presAssocID="{74F87938-8975-4613-8558-A7C253ACDDF7}" presName="vert1" presStyleCnt="0"/>
      <dgm:spPr/>
    </dgm:pt>
    <dgm:pt modelId="{A6E48C65-1CBC-4741-B330-3B4B9CE46ED0}" type="pres">
      <dgm:prSet presAssocID="{543F09C7-5777-4F02-B101-FFA2E04E756B}" presName="thickLine" presStyleLbl="alignNode1" presStyleIdx="1" presStyleCnt="9"/>
      <dgm:spPr/>
    </dgm:pt>
    <dgm:pt modelId="{975BD557-34EC-4D8E-8303-2C2EAFC8BA69}" type="pres">
      <dgm:prSet presAssocID="{543F09C7-5777-4F02-B101-FFA2E04E756B}" presName="horz1" presStyleCnt="0"/>
      <dgm:spPr/>
    </dgm:pt>
    <dgm:pt modelId="{4A495213-7FE7-44A1-AA3B-7A89E7FE9C00}" type="pres">
      <dgm:prSet presAssocID="{543F09C7-5777-4F02-B101-FFA2E04E756B}" presName="tx1" presStyleLbl="revTx" presStyleIdx="1" presStyleCnt="9"/>
      <dgm:spPr/>
    </dgm:pt>
    <dgm:pt modelId="{1033D204-0BC3-4C63-9D77-22227F4DA37B}" type="pres">
      <dgm:prSet presAssocID="{543F09C7-5777-4F02-B101-FFA2E04E756B}" presName="vert1" presStyleCnt="0"/>
      <dgm:spPr/>
    </dgm:pt>
    <dgm:pt modelId="{F5200F9A-4D3F-400F-A5DB-210968B0D9F4}" type="pres">
      <dgm:prSet presAssocID="{A2841E88-7C11-4865-9A10-CD62FF08BB68}" presName="thickLine" presStyleLbl="alignNode1" presStyleIdx="2" presStyleCnt="9"/>
      <dgm:spPr/>
    </dgm:pt>
    <dgm:pt modelId="{8A0E34F6-ACD8-4139-9681-1492FA95B363}" type="pres">
      <dgm:prSet presAssocID="{A2841E88-7C11-4865-9A10-CD62FF08BB68}" presName="horz1" presStyleCnt="0"/>
      <dgm:spPr/>
    </dgm:pt>
    <dgm:pt modelId="{7DFE8DE7-99CC-46FE-8D5B-2A93DEE141D5}" type="pres">
      <dgm:prSet presAssocID="{A2841E88-7C11-4865-9A10-CD62FF08BB68}" presName="tx1" presStyleLbl="revTx" presStyleIdx="2" presStyleCnt="9"/>
      <dgm:spPr/>
    </dgm:pt>
    <dgm:pt modelId="{332FB35B-3D7F-4476-8EFD-7CD2BF38856D}" type="pres">
      <dgm:prSet presAssocID="{A2841E88-7C11-4865-9A10-CD62FF08BB68}" presName="vert1" presStyleCnt="0"/>
      <dgm:spPr/>
    </dgm:pt>
    <dgm:pt modelId="{22942F93-C05B-433F-8BAF-2EFBF35AAA8B}" type="pres">
      <dgm:prSet presAssocID="{A87744FE-070F-4930-8439-8E104D4BA889}" presName="thickLine" presStyleLbl="alignNode1" presStyleIdx="3" presStyleCnt="9"/>
      <dgm:spPr/>
    </dgm:pt>
    <dgm:pt modelId="{3C2C5311-93A0-45CF-A624-1445A9BC5697}" type="pres">
      <dgm:prSet presAssocID="{A87744FE-070F-4930-8439-8E104D4BA889}" presName="horz1" presStyleCnt="0"/>
      <dgm:spPr/>
    </dgm:pt>
    <dgm:pt modelId="{A71DAADF-155D-4985-8FB5-00810121A11C}" type="pres">
      <dgm:prSet presAssocID="{A87744FE-070F-4930-8439-8E104D4BA889}" presName="tx1" presStyleLbl="revTx" presStyleIdx="3" presStyleCnt="9"/>
      <dgm:spPr/>
    </dgm:pt>
    <dgm:pt modelId="{36395344-0BC2-4070-A994-FCB25979F13A}" type="pres">
      <dgm:prSet presAssocID="{A87744FE-070F-4930-8439-8E104D4BA889}" presName="vert1" presStyleCnt="0"/>
      <dgm:spPr/>
    </dgm:pt>
    <dgm:pt modelId="{4FD8DB05-2E81-4801-A2E9-151C12A57FA7}" type="pres">
      <dgm:prSet presAssocID="{2233F8F7-4F99-4A44-AB77-7789E60230F3}" presName="thickLine" presStyleLbl="alignNode1" presStyleIdx="4" presStyleCnt="9"/>
      <dgm:spPr/>
    </dgm:pt>
    <dgm:pt modelId="{B434A235-8B4A-4D61-A689-D3468C2D4EEE}" type="pres">
      <dgm:prSet presAssocID="{2233F8F7-4F99-4A44-AB77-7789E60230F3}" presName="horz1" presStyleCnt="0"/>
      <dgm:spPr/>
    </dgm:pt>
    <dgm:pt modelId="{A4E08155-C743-4153-9EF6-02D1D3D58151}" type="pres">
      <dgm:prSet presAssocID="{2233F8F7-4F99-4A44-AB77-7789E60230F3}" presName="tx1" presStyleLbl="revTx" presStyleIdx="4" presStyleCnt="9"/>
      <dgm:spPr/>
    </dgm:pt>
    <dgm:pt modelId="{4CB86669-A48D-413F-BCC8-6933314500EB}" type="pres">
      <dgm:prSet presAssocID="{2233F8F7-4F99-4A44-AB77-7789E60230F3}" presName="vert1" presStyleCnt="0"/>
      <dgm:spPr/>
    </dgm:pt>
    <dgm:pt modelId="{4F1ADA35-6AFC-4667-B9AB-00DF446EB552}" type="pres">
      <dgm:prSet presAssocID="{01581315-F3EF-435C-B71A-A260E206374F}" presName="thickLine" presStyleLbl="alignNode1" presStyleIdx="5" presStyleCnt="9"/>
      <dgm:spPr/>
    </dgm:pt>
    <dgm:pt modelId="{093120DF-9E7F-44C4-8EE2-67E21AC793E1}" type="pres">
      <dgm:prSet presAssocID="{01581315-F3EF-435C-B71A-A260E206374F}" presName="horz1" presStyleCnt="0"/>
      <dgm:spPr/>
    </dgm:pt>
    <dgm:pt modelId="{0F2C3E77-CC06-4B82-AD24-8229E52FC936}" type="pres">
      <dgm:prSet presAssocID="{01581315-F3EF-435C-B71A-A260E206374F}" presName="tx1" presStyleLbl="revTx" presStyleIdx="5" presStyleCnt="9"/>
      <dgm:spPr/>
    </dgm:pt>
    <dgm:pt modelId="{CA32E521-2C17-45BB-9B88-E4FE8F115A1F}" type="pres">
      <dgm:prSet presAssocID="{01581315-F3EF-435C-B71A-A260E206374F}" presName="vert1" presStyleCnt="0"/>
      <dgm:spPr/>
    </dgm:pt>
    <dgm:pt modelId="{B3AFCEA6-2393-4B5E-BEA9-DCB964ED1C48}" type="pres">
      <dgm:prSet presAssocID="{B99C7A06-C6FD-42A4-879E-0D9CC8810952}" presName="thickLine" presStyleLbl="alignNode1" presStyleIdx="6" presStyleCnt="9"/>
      <dgm:spPr/>
    </dgm:pt>
    <dgm:pt modelId="{04ED72A8-3A85-4BF3-A1D9-D75E9DCAA85F}" type="pres">
      <dgm:prSet presAssocID="{B99C7A06-C6FD-42A4-879E-0D9CC8810952}" presName="horz1" presStyleCnt="0"/>
      <dgm:spPr/>
    </dgm:pt>
    <dgm:pt modelId="{6EA39232-9B56-4CD5-A44D-D8600FC59E43}" type="pres">
      <dgm:prSet presAssocID="{B99C7A06-C6FD-42A4-879E-0D9CC8810952}" presName="tx1" presStyleLbl="revTx" presStyleIdx="6" presStyleCnt="9"/>
      <dgm:spPr/>
    </dgm:pt>
    <dgm:pt modelId="{936779FF-C1B2-470C-AC12-04763DD64DAA}" type="pres">
      <dgm:prSet presAssocID="{B99C7A06-C6FD-42A4-879E-0D9CC8810952}" presName="vert1" presStyleCnt="0"/>
      <dgm:spPr/>
    </dgm:pt>
    <dgm:pt modelId="{9B0BE3FB-860D-4264-8A1A-48667102469F}" type="pres">
      <dgm:prSet presAssocID="{C5B8FA60-6E8B-4ECB-B69A-C6CFFB2E2C3E}" presName="thickLine" presStyleLbl="alignNode1" presStyleIdx="7" presStyleCnt="9"/>
      <dgm:spPr/>
    </dgm:pt>
    <dgm:pt modelId="{BB3DDB19-1A36-4B98-9E72-3EDBCAFCFB48}" type="pres">
      <dgm:prSet presAssocID="{C5B8FA60-6E8B-4ECB-B69A-C6CFFB2E2C3E}" presName="horz1" presStyleCnt="0"/>
      <dgm:spPr/>
    </dgm:pt>
    <dgm:pt modelId="{4BDE7CB6-DF02-4A93-8A68-07962966E2A2}" type="pres">
      <dgm:prSet presAssocID="{C5B8FA60-6E8B-4ECB-B69A-C6CFFB2E2C3E}" presName="tx1" presStyleLbl="revTx" presStyleIdx="7" presStyleCnt="9"/>
      <dgm:spPr/>
    </dgm:pt>
    <dgm:pt modelId="{2176E065-BBEE-4BAD-B46A-CAAF5D415B2F}" type="pres">
      <dgm:prSet presAssocID="{C5B8FA60-6E8B-4ECB-B69A-C6CFFB2E2C3E}" presName="vert1" presStyleCnt="0"/>
      <dgm:spPr/>
    </dgm:pt>
    <dgm:pt modelId="{EE7FD6F0-DD2B-43F2-8C0D-A43D4DC77F79}" type="pres">
      <dgm:prSet presAssocID="{568DCBB1-DC7F-4DB2-B14A-451651BEE2C9}" presName="thickLine" presStyleLbl="alignNode1" presStyleIdx="8" presStyleCnt="9"/>
      <dgm:spPr/>
    </dgm:pt>
    <dgm:pt modelId="{1DF886FE-AA06-4285-BDEB-28F6B3681A3B}" type="pres">
      <dgm:prSet presAssocID="{568DCBB1-DC7F-4DB2-B14A-451651BEE2C9}" presName="horz1" presStyleCnt="0"/>
      <dgm:spPr/>
    </dgm:pt>
    <dgm:pt modelId="{49F6E781-C0FF-46B5-A5C0-4F3E2C120B9C}" type="pres">
      <dgm:prSet presAssocID="{568DCBB1-DC7F-4DB2-B14A-451651BEE2C9}" presName="tx1" presStyleLbl="revTx" presStyleIdx="8" presStyleCnt="9"/>
      <dgm:spPr/>
    </dgm:pt>
    <dgm:pt modelId="{575FA301-8DED-4A55-95F3-9730CF5A04FE}" type="pres">
      <dgm:prSet presAssocID="{568DCBB1-DC7F-4DB2-B14A-451651BEE2C9}" presName="vert1" presStyleCnt="0"/>
      <dgm:spPr/>
    </dgm:pt>
  </dgm:ptLst>
  <dgm:cxnLst>
    <dgm:cxn modelId="{E631F90E-815F-47CD-BEBD-EDB38C8A314D}" srcId="{0A680B0B-F924-496C-91C6-A0B5B9C73DF1}" destId="{B99C7A06-C6FD-42A4-879E-0D9CC8810952}" srcOrd="6" destOrd="0" parTransId="{818FE67D-EA4E-428E-AB0E-032A0352219A}" sibTransId="{E6E65C38-310A-4A9E-996C-EE115D13326F}"/>
    <dgm:cxn modelId="{FEEEB610-A4A2-444D-9E71-DA7C60DE1815}" srcId="{0A680B0B-F924-496C-91C6-A0B5B9C73DF1}" destId="{543F09C7-5777-4F02-B101-FFA2E04E756B}" srcOrd="1" destOrd="0" parTransId="{02176722-72D6-4489-A07C-A333EA7B393B}" sibTransId="{AE3BB466-C4F6-44EF-884C-A25137575673}"/>
    <dgm:cxn modelId="{BC9CBD17-1B51-4190-BF99-042CE551A03C}" type="presOf" srcId="{2233F8F7-4F99-4A44-AB77-7789E60230F3}" destId="{A4E08155-C743-4153-9EF6-02D1D3D58151}" srcOrd="0" destOrd="0" presId="urn:microsoft.com/office/officeart/2008/layout/LinedList"/>
    <dgm:cxn modelId="{ACB60620-E639-429A-8B04-4B3E356C7C21}" type="presOf" srcId="{C5B8FA60-6E8B-4ECB-B69A-C6CFFB2E2C3E}" destId="{4BDE7CB6-DF02-4A93-8A68-07962966E2A2}" srcOrd="0" destOrd="0" presId="urn:microsoft.com/office/officeart/2008/layout/LinedList"/>
    <dgm:cxn modelId="{6E7FCB2B-4817-4C88-8EE3-2DA74D4DFA71}" srcId="{0A680B0B-F924-496C-91C6-A0B5B9C73DF1}" destId="{568DCBB1-DC7F-4DB2-B14A-451651BEE2C9}" srcOrd="8" destOrd="0" parTransId="{FEA6334A-AF45-4C9F-87ED-8E0BE8307A9B}" sibTransId="{67794627-6A1A-40DF-980B-CE41A9903143}"/>
    <dgm:cxn modelId="{EFEB2332-98D3-45E8-AFE5-BA2DFB27A766}" type="presOf" srcId="{0A680B0B-F924-496C-91C6-A0B5B9C73DF1}" destId="{609EE3C3-1D8C-41C7-9D99-6D4B62FCEADD}" srcOrd="0" destOrd="0" presId="urn:microsoft.com/office/officeart/2008/layout/LinedList"/>
    <dgm:cxn modelId="{6A338235-41FE-4D2E-93C0-F0D3B1D508D6}" srcId="{0A680B0B-F924-496C-91C6-A0B5B9C73DF1}" destId="{01581315-F3EF-435C-B71A-A260E206374F}" srcOrd="5" destOrd="0" parTransId="{9CAD85A8-0D07-4EC0-B0B0-0AEE61D114D2}" sibTransId="{BE615F47-8DD3-47CB-B6B0-08CCB7E3AB31}"/>
    <dgm:cxn modelId="{89ABDC3B-9914-4150-B06E-A7004CCBFA81}" type="presOf" srcId="{A2841E88-7C11-4865-9A10-CD62FF08BB68}" destId="{7DFE8DE7-99CC-46FE-8D5B-2A93DEE141D5}" srcOrd="0" destOrd="0" presId="urn:microsoft.com/office/officeart/2008/layout/LinedList"/>
    <dgm:cxn modelId="{F63DF662-93B9-4F65-9367-FA4DCD633318}" srcId="{0A680B0B-F924-496C-91C6-A0B5B9C73DF1}" destId="{A2841E88-7C11-4865-9A10-CD62FF08BB68}" srcOrd="2" destOrd="0" parTransId="{654AE919-A98D-44D1-9697-D0A1393FE81E}" sibTransId="{6AFE1174-3C7C-40FC-AF16-C133A4B6184C}"/>
    <dgm:cxn modelId="{67D5684C-9A31-4111-9866-8991C98AF813}" type="presOf" srcId="{A87744FE-070F-4930-8439-8E104D4BA889}" destId="{A71DAADF-155D-4985-8FB5-00810121A11C}" srcOrd="0" destOrd="0" presId="urn:microsoft.com/office/officeart/2008/layout/LinedList"/>
    <dgm:cxn modelId="{22D2A575-DC79-4288-ADBB-C71425FB22E9}" srcId="{0A680B0B-F924-496C-91C6-A0B5B9C73DF1}" destId="{A87744FE-070F-4930-8439-8E104D4BA889}" srcOrd="3" destOrd="0" parTransId="{CF94AE7A-7E2C-42C1-A8C0-5EAAA0E9F744}" sibTransId="{F7C277F8-9510-4F66-8CA7-A6932B20BABC}"/>
    <dgm:cxn modelId="{B1B91356-09C7-4BF9-B471-D0D0F3E726B0}" type="presOf" srcId="{01581315-F3EF-435C-B71A-A260E206374F}" destId="{0F2C3E77-CC06-4B82-AD24-8229E52FC936}" srcOrd="0" destOrd="0" presId="urn:microsoft.com/office/officeart/2008/layout/LinedList"/>
    <dgm:cxn modelId="{3E69C597-89BC-42AA-9875-269500A4D830}" srcId="{0A680B0B-F924-496C-91C6-A0B5B9C73DF1}" destId="{2233F8F7-4F99-4A44-AB77-7789E60230F3}" srcOrd="4" destOrd="0" parTransId="{F52986D0-E676-4A26-91E0-C2C731C99C6F}" sibTransId="{9621112B-7D05-4B30-9545-24A47A54B51C}"/>
    <dgm:cxn modelId="{1024A2A2-8514-4E34-8EE5-5DFC6B57B7B0}" type="presOf" srcId="{74F87938-8975-4613-8558-A7C253ACDDF7}" destId="{8F998077-1CDA-4E68-87CA-1CE7DEB82485}" srcOrd="0" destOrd="0" presId="urn:microsoft.com/office/officeart/2008/layout/LinedList"/>
    <dgm:cxn modelId="{BC7EBED0-D26C-44A9-90F5-F95D1CEFBEE3}" type="presOf" srcId="{568DCBB1-DC7F-4DB2-B14A-451651BEE2C9}" destId="{49F6E781-C0FF-46B5-A5C0-4F3E2C120B9C}" srcOrd="0" destOrd="0" presId="urn:microsoft.com/office/officeart/2008/layout/LinedList"/>
    <dgm:cxn modelId="{D64E79DE-F2C8-4A37-AC9F-5BBA4984C498}" type="presOf" srcId="{B99C7A06-C6FD-42A4-879E-0D9CC8810952}" destId="{6EA39232-9B56-4CD5-A44D-D8600FC59E43}" srcOrd="0" destOrd="0" presId="urn:microsoft.com/office/officeart/2008/layout/LinedList"/>
    <dgm:cxn modelId="{89F2A5E0-A5B5-4846-86EA-902AE1B697BC}" srcId="{0A680B0B-F924-496C-91C6-A0B5B9C73DF1}" destId="{C5B8FA60-6E8B-4ECB-B69A-C6CFFB2E2C3E}" srcOrd="7" destOrd="0" parTransId="{B847F969-A274-4547-97EB-7DFE9CA6CC82}" sibTransId="{F54F4868-57D7-4771-8AF1-A50BF2C2162F}"/>
    <dgm:cxn modelId="{2CBA14F0-00BF-4F86-A59B-10D160923ED1}" srcId="{0A680B0B-F924-496C-91C6-A0B5B9C73DF1}" destId="{74F87938-8975-4613-8558-A7C253ACDDF7}" srcOrd="0" destOrd="0" parTransId="{8B0AED01-05CD-4E89-9971-08C7ED0A3EDF}" sibTransId="{5EC28AFA-AB47-4C93-9BCD-D41B238A636D}"/>
    <dgm:cxn modelId="{4061A0F4-7181-4B41-B34F-C6397F5B27D2}" type="presOf" srcId="{543F09C7-5777-4F02-B101-FFA2E04E756B}" destId="{4A495213-7FE7-44A1-AA3B-7A89E7FE9C00}" srcOrd="0" destOrd="0" presId="urn:microsoft.com/office/officeart/2008/layout/LinedList"/>
    <dgm:cxn modelId="{666168EA-44EA-4375-9160-43E5F3677D63}" type="presParOf" srcId="{609EE3C3-1D8C-41C7-9D99-6D4B62FCEADD}" destId="{7849B5D2-B0DF-41E3-93B3-92F8A9C97164}" srcOrd="0" destOrd="0" presId="urn:microsoft.com/office/officeart/2008/layout/LinedList"/>
    <dgm:cxn modelId="{6FDF8A4F-3B6B-4DE9-960B-C68D1BD7F1F5}" type="presParOf" srcId="{609EE3C3-1D8C-41C7-9D99-6D4B62FCEADD}" destId="{A0E89ECF-B32F-4199-AC1E-F04CB10950FA}" srcOrd="1" destOrd="0" presId="urn:microsoft.com/office/officeart/2008/layout/LinedList"/>
    <dgm:cxn modelId="{4FF05B59-2608-4039-BFDF-DEAE72AFE33A}" type="presParOf" srcId="{A0E89ECF-B32F-4199-AC1E-F04CB10950FA}" destId="{8F998077-1CDA-4E68-87CA-1CE7DEB82485}" srcOrd="0" destOrd="0" presId="urn:microsoft.com/office/officeart/2008/layout/LinedList"/>
    <dgm:cxn modelId="{355E5B0E-C99A-443F-A6D9-CB2C1060359F}" type="presParOf" srcId="{A0E89ECF-B32F-4199-AC1E-F04CB10950FA}" destId="{ECEEC401-877F-400E-A05C-FFB1E3AEEB1E}" srcOrd="1" destOrd="0" presId="urn:microsoft.com/office/officeart/2008/layout/LinedList"/>
    <dgm:cxn modelId="{6806EB6D-36CC-41A2-9046-B3DE98E18423}" type="presParOf" srcId="{609EE3C3-1D8C-41C7-9D99-6D4B62FCEADD}" destId="{A6E48C65-1CBC-4741-B330-3B4B9CE46ED0}" srcOrd="2" destOrd="0" presId="urn:microsoft.com/office/officeart/2008/layout/LinedList"/>
    <dgm:cxn modelId="{C698EF94-D92B-4782-B2B6-B7D1EE9118E4}" type="presParOf" srcId="{609EE3C3-1D8C-41C7-9D99-6D4B62FCEADD}" destId="{975BD557-34EC-4D8E-8303-2C2EAFC8BA69}" srcOrd="3" destOrd="0" presId="urn:microsoft.com/office/officeart/2008/layout/LinedList"/>
    <dgm:cxn modelId="{E0492427-5ECC-470D-B5F2-C73985057A07}" type="presParOf" srcId="{975BD557-34EC-4D8E-8303-2C2EAFC8BA69}" destId="{4A495213-7FE7-44A1-AA3B-7A89E7FE9C00}" srcOrd="0" destOrd="0" presId="urn:microsoft.com/office/officeart/2008/layout/LinedList"/>
    <dgm:cxn modelId="{2EBFBE58-26EF-41EC-8C3D-3C6BD40292B3}" type="presParOf" srcId="{975BD557-34EC-4D8E-8303-2C2EAFC8BA69}" destId="{1033D204-0BC3-4C63-9D77-22227F4DA37B}" srcOrd="1" destOrd="0" presId="urn:microsoft.com/office/officeart/2008/layout/LinedList"/>
    <dgm:cxn modelId="{A50D30EE-8187-442A-88F7-820D1AE53200}" type="presParOf" srcId="{609EE3C3-1D8C-41C7-9D99-6D4B62FCEADD}" destId="{F5200F9A-4D3F-400F-A5DB-210968B0D9F4}" srcOrd="4" destOrd="0" presId="urn:microsoft.com/office/officeart/2008/layout/LinedList"/>
    <dgm:cxn modelId="{8F287FBA-99BB-44C9-B291-AB6F14D2E8F3}" type="presParOf" srcId="{609EE3C3-1D8C-41C7-9D99-6D4B62FCEADD}" destId="{8A0E34F6-ACD8-4139-9681-1492FA95B363}" srcOrd="5" destOrd="0" presId="urn:microsoft.com/office/officeart/2008/layout/LinedList"/>
    <dgm:cxn modelId="{AB286AB7-E197-4DC7-B9E1-7942548DC633}" type="presParOf" srcId="{8A0E34F6-ACD8-4139-9681-1492FA95B363}" destId="{7DFE8DE7-99CC-46FE-8D5B-2A93DEE141D5}" srcOrd="0" destOrd="0" presId="urn:microsoft.com/office/officeart/2008/layout/LinedList"/>
    <dgm:cxn modelId="{84FC9B63-267E-4E6E-840E-11AB7049EB6A}" type="presParOf" srcId="{8A0E34F6-ACD8-4139-9681-1492FA95B363}" destId="{332FB35B-3D7F-4476-8EFD-7CD2BF38856D}" srcOrd="1" destOrd="0" presId="urn:microsoft.com/office/officeart/2008/layout/LinedList"/>
    <dgm:cxn modelId="{5E6D273D-2F4A-4EF6-81F2-11223767297A}" type="presParOf" srcId="{609EE3C3-1D8C-41C7-9D99-6D4B62FCEADD}" destId="{22942F93-C05B-433F-8BAF-2EFBF35AAA8B}" srcOrd="6" destOrd="0" presId="urn:microsoft.com/office/officeart/2008/layout/LinedList"/>
    <dgm:cxn modelId="{9340E473-1F91-4A0C-944F-69B667F13F6A}" type="presParOf" srcId="{609EE3C3-1D8C-41C7-9D99-6D4B62FCEADD}" destId="{3C2C5311-93A0-45CF-A624-1445A9BC5697}" srcOrd="7" destOrd="0" presId="urn:microsoft.com/office/officeart/2008/layout/LinedList"/>
    <dgm:cxn modelId="{99D85D14-5B9A-4E57-8AED-F5AF5D6C13DC}" type="presParOf" srcId="{3C2C5311-93A0-45CF-A624-1445A9BC5697}" destId="{A71DAADF-155D-4985-8FB5-00810121A11C}" srcOrd="0" destOrd="0" presId="urn:microsoft.com/office/officeart/2008/layout/LinedList"/>
    <dgm:cxn modelId="{A5F3D673-13EE-4095-8BC4-FB6FBE3BCA23}" type="presParOf" srcId="{3C2C5311-93A0-45CF-A624-1445A9BC5697}" destId="{36395344-0BC2-4070-A994-FCB25979F13A}" srcOrd="1" destOrd="0" presId="urn:microsoft.com/office/officeart/2008/layout/LinedList"/>
    <dgm:cxn modelId="{5BBF5AE2-DC7F-4859-9239-EDF33A8903C9}" type="presParOf" srcId="{609EE3C3-1D8C-41C7-9D99-6D4B62FCEADD}" destId="{4FD8DB05-2E81-4801-A2E9-151C12A57FA7}" srcOrd="8" destOrd="0" presId="urn:microsoft.com/office/officeart/2008/layout/LinedList"/>
    <dgm:cxn modelId="{30B6F3E6-D1CD-4A0B-962E-847766F482E9}" type="presParOf" srcId="{609EE3C3-1D8C-41C7-9D99-6D4B62FCEADD}" destId="{B434A235-8B4A-4D61-A689-D3468C2D4EEE}" srcOrd="9" destOrd="0" presId="urn:microsoft.com/office/officeart/2008/layout/LinedList"/>
    <dgm:cxn modelId="{88E2671A-5CC9-445C-A824-269584C097EC}" type="presParOf" srcId="{B434A235-8B4A-4D61-A689-D3468C2D4EEE}" destId="{A4E08155-C743-4153-9EF6-02D1D3D58151}" srcOrd="0" destOrd="0" presId="urn:microsoft.com/office/officeart/2008/layout/LinedList"/>
    <dgm:cxn modelId="{88FE654B-4153-43E3-9B7A-7EE63F8B76DC}" type="presParOf" srcId="{B434A235-8B4A-4D61-A689-D3468C2D4EEE}" destId="{4CB86669-A48D-413F-BCC8-6933314500EB}" srcOrd="1" destOrd="0" presId="urn:microsoft.com/office/officeart/2008/layout/LinedList"/>
    <dgm:cxn modelId="{6E19F54A-4D5D-43BE-8D0A-BC4CFAD22615}" type="presParOf" srcId="{609EE3C3-1D8C-41C7-9D99-6D4B62FCEADD}" destId="{4F1ADA35-6AFC-4667-B9AB-00DF446EB552}" srcOrd="10" destOrd="0" presId="urn:microsoft.com/office/officeart/2008/layout/LinedList"/>
    <dgm:cxn modelId="{3B6177B9-0411-4327-B9F4-10980F8F6AC3}" type="presParOf" srcId="{609EE3C3-1D8C-41C7-9D99-6D4B62FCEADD}" destId="{093120DF-9E7F-44C4-8EE2-67E21AC793E1}" srcOrd="11" destOrd="0" presId="urn:microsoft.com/office/officeart/2008/layout/LinedList"/>
    <dgm:cxn modelId="{937A426D-5419-49A2-9F9C-929F1876C607}" type="presParOf" srcId="{093120DF-9E7F-44C4-8EE2-67E21AC793E1}" destId="{0F2C3E77-CC06-4B82-AD24-8229E52FC936}" srcOrd="0" destOrd="0" presId="urn:microsoft.com/office/officeart/2008/layout/LinedList"/>
    <dgm:cxn modelId="{8165F98D-62E2-402A-A0C0-63D734450D08}" type="presParOf" srcId="{093120DF-9E7F-44C4-8EE2-67E21AC793E1}" destId="{CA32E521-2C17-45BB-9B88-E4FE8F115A1F}" srcOrd="1" destOrd="0" presId="urn:microsoft.com/office/officeart/2008/layout/LinedList"/>
    <dgm:cxn modelId="{AD7FFC4D-908C-43D0-98A5-439FF8E4A1F1}" type="presParOf" srcId="{609EE3C3-1D8C-41C7-9D99-6D4B62FCEADD}" destId="{B3AFCEA6-2393-4B5E-BEA9-DCB964ED1C48}" srcOrd="12" destOrd="0" presId="urn:microsoft.com/office/officeart/2008/layout/LinedList"/>
    <dgm:cxn modelId="{145453AC-9DC9-499D-BE0E-FF254B59BA23}" type="presParOf" srcId="{609EE3C3-1D8C-41C7-9D99-6D4B62FCEADD}" destId="{04ED72A8-3A85-4BF3-A1D9-D75E9DCAA85F}" srcOrd="13" destOrd="0" presId="urn:microsoft.com/office/officeart/2008/layout/LinedList"/>
    <dgm:cxn modelId="{C45AF42C-FE5E-403C-A9CF-4BDDC4A2DD85}" type="presParOf" srcId="{04ED72A8-3A85-4BF3-A1D9-D75E9DCAA85F}" destId="{6EA39232-9B56-4CD5-A44D-D8600FC59E43}" srcOrd="0" destOrd="0" presId="urn:microsoft.com/office/officeart/2008/layout/LinedList"/>
    <dgm:cxn modelId="{9E590EC8-492C-4039-8066-24CB981B83BD}" type="presParOf" srcId="{04ED72A8-3A85-4BF3-A1D9-D75E9DCAA85F}" destId="{936779FF-C1B2-470C-AC12-04763DD64DAA}" srcOrd="1" destOrd="0" presId="urn:microsoft.com/office/officeart/2008/layout/LinedList"/>
    <dgm:cxn modelId="{300B4656-EC79-41BB-8F52-8C8C981B879A}" type="presParOf" srcId="{609EE3C3-1D8C-41C7-9D99-6D4B62FCEADD}" destId="{9B0BE3FB-860D-4264-8A1A-48667102469F}" srcOrd="14" destOrd="0" presId="urn:microsoft.com/office/officeart/2008/layout/LinedList"/>
    <dgm:cxn modelId="{9455195B-29B6-419A-9B88-CA7E11A18605}" type="presParOf" srcId="{609EE3C3-1D8C-41C7-9D99-6D4B62FCEADD}" destId="{BB3DDB19-1A36-4B98-9E72-3EDBCAFCFB48}" srcOrd="15" destOrd="0" presId="urn:microsoft.com/office/officeart/2008/layout/LinedList"/>
    <dgm:cxn modelId="{E46A0232-4856-4852-9A69-FBF728733EF6}" type="presParOf" srcId="{BB3DDB19-1A36-4B98-9E72-3EDBCAFCFB48}" destId="{4BDE7CB6-DF02-4A93-8A68-07962966E2A2}" srcOrd="0" destOrd="0" presId="urn:microsoft.com/office/officeart/2008/layout/LinedList"/>
    <dgm:cxn modelId="{1216E7E7-385A-4188-AAB0-CB4157659653}" type="presParOf" srcId="{BB3DDB19-1A36-4B98-9E72-3EDBCAFCFB48}" destId="{2176E065-BBEE-4BAD-B46A-CAAF5D415B2F}" srcOrd="1" destOrd="0" presId="urn:microsoft.com/office/officeart/2008/layout/LinedList"/>
    <dgm:cxn modelId="{639D7D35-4344-4DA9-84A3-C498717C6D35}" type="presParOf" srcId="{609EE3C3-1D8C-41C7-9D99-6D4B62FCEADD}" destId="{EE7FD6F0-DD2B-43F2-8C0D-A43D4DC77F79}" srcOrd="16" destOrd="0" presId="urn:microsoft.com/office/officeart/2008/layout/LinedList"/>
    <dgm:cxn modelId="{35DD2D5C-EC76-4101-B603-0D4295E39FDC}" type="presParOf" srcId="{609EE3C3-1D8C-41C7-9D99-6D4B62FCEADD}" destId="{1DF886FE-AA06-4285-BDEB-28F6B3681A3B}" srcOrd="17" destOrd="0" presId="urn:microsoft.com/office/officeart/2008/layout/LinedList"/>
    <dgm:cxn modelId="{D2E4BD2C-B283-4DEC-A5B6-A076C02C2132}" type="presParOf" srcId="{1DF886FE-AA06-4285-BDEB-28F6B3681A3B}" destId="{49F6E781-C0FF-46B5-A5C0-4F3E2C120B9C}" srcOrd="0" destOrd="0" presId="urn:microsoft.com/office/officeart/2008/layout/LinedList"/>
    <dgm:cxn modelId="{9F5EA9AE-B0DC-4679-B1DD-2E25276FC2E0}" type="presParOf" srcId="{1DF886FE-AA06-4285-BDEB-28F6B3681A3B}" destId="{575FA301-8DED-4A55-95F3-9730CF5A04FE}"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49B5D2-B0DF-41E3-93B3-92F8A9C97164}">
      <dsp:nvSpPr>
        <dsp:cNvPr id="0" name=""/>
        <dsp:cNvSpPr/>
      </dsp:nvSpPr>
      <dsp:spPr>
        <a:xfrm>
          <a:off x="0" y="677"/>
          <a:ext cx="6555347"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F998077-1CDA-4E68-87CA-1CE7DEB82485}">
      <dsp:nvSpPr>
        <dsp:cNvPr id="0" name=""/>
        <dsp:cNvSpPr/>
      </dsp:nvSpPr>
      <dsp:spPr>
        <a:xfrm>
          <a:off x="0" y="677"/>
          <a:ext cx="6555347" cy="6160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b="1" kern="1200"/>
            <a:t>Strengths:</a:t>
          </a:r>
          <a:endParaRPr lang="en-US" sz="2600" kern="1200"/>
        </a:p>
      </dsp:txBody>
      <dsp:txXfrm>
        <a:off x="0" y="677"/>
        <a:ext cx="6555347" cy="616076"/>
      </dsp:txXfrm>
    </dsp:sp>
    <dsp:sp modelId="{A6E48C65-1CBC-4741-B330-3B4B9CE46ED0}">
      <dsp:nvSpPr>
        <dsp:cNvPr id="0" name=""/>
        <dsp:cNvSpPr/>
      </dsp:nvSpPr>
      <dsp:spPr>
        <a:xfrm>
          <a:off x="0" y="616754"/>
          <a:ext cx="6555347"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495213-7FE7-44A1-AA3B-7A89E7FE9C00}">
      <dsp:nvSpPr>
        <dsp:cNvPr id="0" name=""/>
        <dsp:cNvSpPr/>
      </dsp:nvSpPr>
      <dsp:spPr>
        <a:xfrm>
          <a:off x="0" y="616754"/>
          <a:ext cx="6555347" cy="6160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a:t>- Ability to model non-linear relationships</a:t>
          </a:r>
        </a:p>
      </dsp:txBody>
      <dsp:txXfrm>
        <a:off x="0" y="616754"/>
        <a:ext cx="6555347" cy="616076"/>
      </dsp:txXfrm>
    </dsp:sp>
    <dsp:sp modelId="{F5200F9A-4D3F-400F-A5DB-210968B0D9F4}">
      <dsp:nvSpPr>
        <dsp:cNvPr id="0" name=""/>
        <dsp:cNvSpPr/>
      </dsp:nvSpPr>
      <dsp:spPr>
        <a:xfrm>
          <a:off x="0" y="1232831"/>
          <a:ext cx="6555347"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DFE8DE7-99CC-46FE-8D5B-2A93DEE141D5}">
      <dsp:nvSpPr>
        <dsp:cNvPr id="0" name=""/>
        <dsp:cNvSpPr/>
      </dsp:nvSpPr>
      <dsp:spPr>
        <a:xfrm>
          <a:off x="0" y="1232831"/>
          <a:ext cx="6555347" cy="6160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a:t>- Flexibility with input data</a:t>
          </a:r>
        </a:p>
      </dsp:txBody>
      <dsp:txXfrm>
        <a:off x="0" y="1232831"/>
        <a:ext cx="6555347" cy="616076"/>
      </dsp:txXfrm>
    </dsp:sp>
    <dsp:sp modelId="{22942F93-C05B-433F-8BAF-2EFBF35AAA8B}">
      <dsp:nvSpPr>
        <dsp:cNvPr id="0" name=""/>
        <dsp:cNvSpPr/>
      </dsp:nvSpPr>
      <dsp:spPr>
        <a:xfrm>
          <a:off x="0" y="1848908"/>
          <a:ext cx="6555347"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71DAADF-155D-4985-8FB5-00810121A11C}">
      <dsp:nvSpPr>
        <dsp:cNvPr id="0" name=""/>
        <dsp:cNvSpPr/>
      </dsp:nvSpPr>
      <dsp:spPr>
        <a:xfrm>
          <a:off x="0" y="1848908"/>
          <a:ext cx="6555347" cy="6160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a:t>- Scalable to large datasets</a:t>
          </a:r>
        </a:p>
      </dsp:txBody>
      <dsp:txXfrm>
        <a:off x="0" y="1848908"/>
        <a:ext cx="6555347" cy="616076"/>
      </dsp:txXfrm>
    </dsp:sp>
    <dsp:sp modelId="{4FD8DB05-2E81-4801-A2E9-151C12A57FA7}">
      <dsp:nvSpPr>
        <dsp:cNvPr id="0" name=""/>
        <dsp:cNvSpPr/>
      </dsp:nvSpPr>
      <dsp:spPr>
        <a:xfrm>
          <a:off x="0" y="2464985"/>
          <a:ext cx="6555347"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4E08155-C743-4153-9EF6-02D1D3D58151}">
      <dsp:nvSpPr>
        <dsp:cNvPr id="0" name=""/>
        <dsp:cNvSpPr/>
      </dsp:nvSpPr>
      <dsp:spPr>
        <a:xfrm>
          <a:off x="0" y="2464985"/>
          <a:ext cx="6555347" cy="6160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b="1" kern="1200"/>
            <a:t>Weaknesses:</a:t>
          </a:r>
          <a:endParaRPr lang="en-US" sz="2600" kern="1200"/>
        </a:p>
      </dsp:txBody>
      <dsp:txXfrm>
        <a:off x="0" y="2464985"/>
        <a:ext cx="6555347" cy="616076"/>
      </dsp:txXfrm>
    </dsp:sp>
    <dsp:sp modelId="{4F1ADA35-6AFC-4667-B9AB-00DF446EB552}">
      <dsp:nvSpPr>
        <dsp:cNvPr id="0" name=""/>
        <dsp:cNvSpPr/>
      </dsp:nvSpPr>
      <dsp:spPr>
        <a:xfrm>
          <a:off x="0" y="3081061"/>
          <a:ext cx="6555347"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F2C3E77-CC06-4B82-AD24-8229E52FC936}">
      <dsp:nvSpPr>
        <dsp:cNvPr id="0" name=""/>
        <dsp:cNvSpPr/>
      </dsp:nvSpPr>
      <dsp:spPr>
        <a:xfrm>
          <a:off x="0" y="3081061"/>
          <a:ext cx="6555347" cy="6160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a:t>- Requires large amounts of data</a:t>
          </a:r>
        </a:p>
      </dsp:txBody>
      <dsp:txXfrm>
        <a:off x="0" y="3081061"/>
        <a:ext cx="6555347" cy="616076"/>
      </dsp:txXfrm>
    </dsp:sp>
    <dsp:sp modelId="{B3AFCEA6-2393-4B5E-BEA9-DCB964ED1C48}">
      <dsp:nvSpPr>
        <dsp:cNvPr id="0" name=""/>
        <dsp:cNvSpPr/>
      </dsp:nvSpPr>
      <dsp:spPr>
        <a:xfrm>
          <a:off x="0" y="3697138"/>
          <a:ext cx="6555347"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A39232-9B56-4CD5-A44D-D8600FC59E43}">
      <dsp:nvSpPr>
        <dsp:cNvPr id="0" name=""/>
        <dsp:cNvSpPr/>
      </dsp:nvSpPr>
      <dsp:spPr>
        <a:xfrm>
          <a:off x="0" y="3697138"/>
          <a:ext cx="6555347" cy="6160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a:t>- Sensitive to hyperparameters</a:t>
          </a:r>
        </a:p>
      </dsp:txBody>
      <dsp:txXfrm>
        <a:off x="0" y="3697138"/>
        <a:ext cx="6555347" cy="616076"/>
      </dsp:txXfrm>
    </dsp:sp>
    <dsp:sp modelId="{9B0BE3FB-860D-4264-8A1A-48667102469F}">
      <dsp:nvSpPr>
        <dsp:cNvPr id="0" name=""/>
        <dsp:cNvSpPr/>
      </dsp:nvSpPr>
      <dsp:spPr>
        <a:xfrm>
          <a:off x="0" y="4313215"/>
          <a:ext cx="6555347"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DE7CB6-DF02-4A93-8A68-07962966E2A2}">
      <dsp:nvSpPr>
        <dsp:cNvPr id="0" name=""/>
        <dsp:cNvSpPr/>
      </dsp:nvSpPr>
      <dsp:spPr>
        <a:xfrm>
          <a:off x="0" y="4313215"/>
          <a:ext cx="6555347" cy="6160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a:t>- Risk of overfitting</a:t>
          </a:r>
        </a:p>
      </dsp:txBody>
      <dsp:txXfrm>
        <a:off x="0" y="4313215"/>
        <a:ext cx="6555347" cy="616076"/>
      </dsp:txXfrm>
    </dsp:sp>
    <dsp:sp modelId="{EE7FD6F0-DD2B-43F2-8C0D-A43D4DC77F79}">
      <dsp:nvSpPr>
        <dsp:cNvPr id="0" name=""/>
        <dsp:cNvSpPr/>
      </dsp:nvSpPr>
      <dsp:spPr>
        <a:xfrm>
          <a:off x="0" y="4929292"/>
          <a:ext cx="6555347"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9F6E781-C0FF-46B5-A5C0-4F3E2C120B9C}">
      <dsp:nvSpPr>
        <dsp:cNvPr id="0" name=""/>
        <dsp:cNvSpPr/>
      </dsp:nvSpPr>
      <dsp:spPr>
        <a:xfrm>
          <a:off x="0" y="4929292"/>
          <a:ext cx="6555347" cy="6160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a:t>- Difficulty with sequential or structured data</a:t>
          </a:r>
        </a:p>
      </dsp:txBody>
      <dsp:txXfrm>
        <a:off x="0" y="4929292"/>
        <a:ext cx="6555347" cy="61607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5A4283-306C-4276-9C0D-A10B1C530BC0}" type="datetimeFigureOut">
              <a:rPr lang="en-US" smtClean="0"/>
              <a:t>12/6/2025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5C3472-224F-4F31-9706-FC7607163979}" type="slidenum">
              <a:rPr lang="en-US" smtClean="0"/>
              <a:t>‹#›</a:t>
            </a:fld>
            <a:endParaRPr lang="en-US"/>
          </a:p>
        </p:txBody>
      </p:sp>
    </p:spTree>
    <p:extLst>
      <p:ext uri="{BB962C8B-B14F-4D97-AF65-F5344CB8AC3E}">
        <p14:creationId xmlns:p14="http://schemas.microsoft.com/office/powerpoint/2010/main" val="2767366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5C3472-224F-4F31-9706-FC7607163979}" type="slidenum">
              <a:rPr lang="en-US" smtClean="0"/>
              <a:t>3</a:t>
            </a:fld>
            <a:endParaRPr lang="en-US"/>
          </a:p>
        </p:txBody>
      </p:sp>
    </p:spTree>
    <p:extLst>
      <p:ext uri="{BB962C8B-B14F-4D97-AF65-F5344CB8AC3E}">
        <p14:creationId xmlns:p14="http://schemas.microsoft.com/office/powerpoint/2010/main" val="3765137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b="1" dirty="0"/>
                  <a:t>1. Input Features (X₁, X₂, …, Xd)</a:t>
                </a:r>
              </a:p>
              <a:p>
                <a:r>
                  <a:rPr lang="en-US" dirty="0"/>
                  <a:t>These are the variables or attributes used to make predictions. Each feature represents some measurable characteristic of the data.</a:t>
                </a:r>
              </a:p>
              <a:p>
                <a:endParaRPr lang="en-US" dirty="0"/>
              </a:p>
              <a:p>
                <a:r>
                  <a:rPr lang="en-US" b="1" dirty="0"/>
                  <a:t>2. Weighted Sum: z = </a:t>
                </a:r>
                <a:r>
                  <a:rPr lang="en-US" b="1" dirty="0" err="1"/>
                  <a:t>w₁X</a:t>
                </a:r>
                <a:r>
                  <a:rPr lang="en-US" b="1" dirty="0"/>
                  <a:t>₁ + </a:t>
                </a:r>
                <a:r>
                  <a:rPr lang="en-US" b="1" dirty="0" err="1"/>
                  <a:t>w₂X</a:t>
                </a:r>
                <a:r>
                  <a:rPr lang="en-US" b="1" dirty="0"/>
                  <a:t>₂ + … + wd*Xd + b</a:t>
                </a:r>
              </a:p>
              <a:p>
                <a:r>
                  <a:rPr lang="en-US" b="0" dirty="0"/>
                  <a:t>Logistic regression first computes a linear combination of the input features.</a:t>
                </a:r>
              </a:p>
              <a:p>
                <a:r>
                  <a:rPr lang="en-US" b="0" dirty="0"/>
                  <a:t>	-  Each feature </a:t>
                </a:r>
                <a14:m>
                  <m:oMath xmlns:m="http://schemas.openxmlformats.org/officeDocument/2006/math">
                    <m:sSub>
                      <m:sSubPr>
                        <m:ctrlPr>
                          <a:rPr lang="ar-AE" sz="1200" b="0" i="1" kern="1200">
                            <a:solidFill>
                              <a:schemeClr val="tx1"/>
                            </a:solidFill>
                            <a:latin typeface="Cambria Math" panose="02040503050406030204" pitchFamily="18" charset="0"/>
                            <a:ea typeface="+mn-ea"/>
                            <a:cs typeface="+mn-cs"/>
                          </a:rPr>
                        </m:ctrlPr>
                      </m:sSubPr>
                      <m:e>
                        <m:r>
                          <a:rPr lang="ar-AE" sz="1200" b="0" i="1" kern="1200" smtClean="0">
                            <a:solidFill>
                              <a:schemeClr val="tx1"/>
                            </a:solidFill>
                            <a:latin typeface="Cambria Math" panose="02040503050406030204" pitchFamily="18" charset="0"/>
                            <a:ea typeface="+mn-ea"/>
                            <a:cs typeface="+mn-cs"/>
                          </a:rPr>
                          <m:t>𝑋</m:t>
                        </m:r>
                      </m:e>
                      <m:sub>
                        <m:r>
                          <a:rPr lang="ar-AE" sz="1200" b="0" i="1" kern="1200" smtClean="0">
                            <a:solidFill>
                              <a:schemeClr val="tx1"/>
                            </a:solidFill>
                            <a:latin typeface="Cambria Math" panose="02040503050406030204" pitchFamily="18" charset="0"/>
                            <a:ea typeface="+mn-ea"/>
                            <a:cs typeface="+mn-cs"/>
                          </a:rPr>
                          <m:t>𝑖</m:t>
                        </m:r>
                      </m:sub>
                    </m:sSub>
                  </m:oMath>
                </a14:m>
                <a:r>
                  <a:rPr lang="en-US" b="0" dirty="0"/>
                  <a:t>is multiplied by a learnable weight </a:t>
                </a:r>
                <a14:m>
                  <m:oMath xmlns:m="http://schemas.openxmlformats.org/officeDocument/2006/math">
                    <m:sSub>
                      <m:sSubPr>
                        <m:ctrlPr>
                          <a:rPr lang="ar-AE" sz="1200" b="0" i="1" kern="1200">
                            <a:solidFill>
                              <a:schemeClr val="tx1"/>
                            </a:solidFill>
                            <a:latin typeface="Cambria Math" panose="02040503050406030204" pitchFamily="18" charset="0"/>
                            <a:ea typeface="+mn-ea"/>
                            <a:cs typeface="+mn-cs"/>
                          </a:rPr>
                        </m:ctrlPr>
                      </m:sSubPr>
                      <m:e>
                        <m:r>
                          <a:rPr lang="ar-AE" sz="1200" b="0" i="1" kern="1200" smtClean="0">
                            <a:solidFill>
                              <a:schemeClr val="tx1"/>
                            </a:solidFill>
                            <a:latin typeface="Cambria Math" panose="02040503050406030204" pitchFamily="18" charset="0"/>
                            <a:ea typeface="+mn-ea"/>
                            <a:cs typeface="+mn-cs"/>
                          </a:rPr>
                          <m:t>𝑤</m:t>
                        </m:r>
                      </m:e>
                      <m:sub>
                        <m:r>
                          <a:rPr lang="ar-AE" sz="1200" b="0" i="1" kern="1200" smtClean="0">
                            <a:solidFill>
                              <a:schemeClr val="tx1"/>
                            </a:solidFill>
                            <a:latin typeface="Cambria Math" panose="02040503050406030204" pitchFamily="18" charset="0"/>
                            <a:ea typeface="+mn-ea"/>
                            <a:cs typeface="+mn-cs"/>
                          </a:rPr>
                          <m:t>𝑖</m:t>
                        </m:r>
                      </m:sub>
                    </m:sSub>
                  </m:oMath>
                </a14:m>
                <a:r>
                  <a:rPr lang="ar-AE" b="0" dirty="0"/>
                  <a:t>.</a:t>
                </a:r>
              </a:p>
              <a:p>
                <a:r>
                  <a:rPr lang="en-US" b="0" dirty="0"/>
                  <a:t>	-</a:t>
                </a:r>
                <a:r>
                  <a:rPr lang="en-US" b="0" baseline="0" dirty="0"/>
                  <a:t>  </a:t>
                </a:r>
                <a:r>
                  <a:rPr lang="en-US" b="0" dirty="0"/>
                  <a:t>A bias term </a:t>
                </a:r>
                <a14:m>
                  <m:oMath xmlns:m="http://schemas.openxmlformats.org/officeDocument/2006/math">
                    <m:r>
                      <a:rPr lang="en-US" sz="1200" b="0" i="1" kern="1200" smtClean="0">
                        <a:solidFill>
                          <a:schemeClr val="tx1"/>
                        </a:solidFill>
                        <a:latin typeface="Cambria Math" panose="02040503050406030204" pitchFamily="18" charset="0"/>
                        <a:ea typeface="+mn-ea"/>
                        <a:cs typeface="+mn-cs"/>
                      </a:rPr>
                      <m:t>𝑏</m:t>
                    </m:r>
                  </m:oMath>
                </a14:m>
                <a:r>
                  <a:rPr lang="en-US" b="0" dirty="0"/>
                  <a:t>is added to shift the decision boundary.</a:t>
                </a:r>
              </a:p>
              <a:p>
                <a:endParaRPr lang="en-US" dirty="0"/>
              </a:p>
              <a:p>
                <a:r>
                  <a:rPr lang="en-US" b="1" dirty="0"/>
                  <a:t>3. Sigmoid Activation: σ(z) = 1 / (1 + exp(-z))</a:t>
                </a:r>
              </a:p>
              <a:p>
                <a:r>
                  <a:rPr lang="en-US" b="0" dirty="0"/>
                  <a:t>Because classification requires a probability between 0 and 1, logistic regression passes the linear output </a:t>
                </a:r>
                <a14:m>
                  <m:oMath xmlns:m="http://schemas.openxmlformats.org/officeDocument/2006/math">
                    <m:r>
                      <a:rPr lang="en-US" sz="1200" b="0" i="1" kern="1200">
                        <a:solidFill>
                          <a:schemeClr val="tx1"/>
                        </a:solidFill>
                        <a:latin typeface="Cambria Math" panose="02040503050406030204" pitchFamily="18" charset="0"/>
                        <a:ea typeface="+mn-ea"/>
                        <a:cs typeface="+mn-cs"/>
                      </a:rPr>
                      <m:t>𝑧</m:t>
                    </m:r>
                  </m:oMath>
                </a14:m>
                <a:r>
                  <a:rPr lang="en-US" b="0" dirty="0"/>
                  <a:t>through the sigmoid (logistic) function.</a:t>
                </a:r>
              </a:p>
              <a:p>
                <a:r>
                  <a:rPr lang="en-US" b="0" dirty="0"/>
                  <a:t>	- The sigmoid function “squashes” any real-valued number into a range from 0 to 1.</a:t>
                </a:r>
              </a:p>
              <a:p>
                <a:r>
                  <a:rPr lang="en-US" b="0" dirty="0"/>
                  <a:t>	- A larger value of </a:t>
                </a:r>
                <a14:m>
                  <m:oMath xmlns:m="http://schemas.openxmlformats.org/officeDocument/2006/math">
                    <m:r>
                      <a:rPr lang="en-US" sz="1200" b="0" i="1" kern="1200">
                        <a:solidFill>
                          <a:schemeClr val="tx1"/>
                        </a:solidFill>
                        <a:latin typeface="Cambria Math" panose="02040503050406030204" pitchFamily="18" charset="0"/>
                        <a:ea typeface="+mn-ea"/>
                        <a:cs typeface="+mn-cs"/>
                      </a:rPr>
                      <m:t>𝑧</m:t>
                    </m:r>
                  </m:oMath>
                </a14:m>
                <a:r>
                  <a:rPr lang="en-US" b="0" dirty="0"/>
                  <a:t>results in a probability close to 1, while a very negative </a:t>
                </a:r>
                <a14:m>
                  <m:oMath xmlns:m="http://schemas.openxmlformats.org/officeDocument/2006/math">
                    <m:r>
                      <a:rPr lang="en-US" sz="1200" b="0" i="1" kern="1200">
                        <a:solidFill>
                          <a:schemeClr val="tx1"/>
                        </a:solidFill>
                        <a:latin typeface="Cambria Math" panose="02040503050406030204" pitchFamily="18" charset="0"/>
                        <a:ea typeface="+mn-ea"/>
                        <a:cs typeface="+mn-cs"/>
                      </a:rPr>
                      <m:t>𝑧</m:t>
                    </m:r>
                  </m:oMath>
                </a14:m>
                <a:r>
                  <a:rPr lang="en-US" b="0" dirty="0"/>
                  <a:t> produces a probability close to 0.</a:t>
                </a:r>
              </a:p>
              <a:p>
                <a:endParaRPr lang="en-US" b="0" dirty="0"/>
              </a:p>
              <a:p>
                <a:r>
                  <a:rPr lang="en-US" b="1" dirty="0"/>
                  <a:t>4. Output Probability: P(y = 1 | X) = σ(z)</a:t>
                </a:r>
              </a:p>
              <a:p>
                <a:r>
                  <a:rPr lang="en-US" dirty="0"/>
                  <a:t>The result of the sigmoid function is interpreted as the predicted </a:t>
                </a:r>
                <a:r>
                  <a:rPr lang="en-US" b="0" dirty="0"/>
                  <a:t>probability </a:t>
                </a:r>
                <a:r>
                  <a:rPr lang="en-US" dirty="0"/>
                  <a:t>that the target class </a:t>
                </a:r>
                <a14:m>
                  <m:oMath xmlns:m="http://schemas.openxmlformats.org/officeDocument/2006/math">
                    <m:r>
                      <a:rPr lang="en-US" sz="1200" i="1" kern="1200">
                        <a:solidFill>
                          <a:schemeClr val="tx1"/>
                        </a:solidFill>
                        <a:latin typeface="Cambria Math" panose="02040503050406030204" pitchFamily="18" charset="0"/>
                        <a:ea typeface="+mn-ea"/>
                        <a:cs typeface="+mn-cs"/>
                      </a:rPr>
                      <m:t>𝑦</m:t>
                    </m:r>
                  </m:oMath>
                </a14:m>
                <a:r>
                  <a:rPr lang="en-US" dirty="0"/>
                  <a:t>is equal to 1 given the input features </a:t>
                </a:r>
                <a14:m>
                  <m:oMath xmlns:m="http://schemas.openxmlformats.org/officeDocument/2006/math">
                    <m:r>
                      <a:rPr lang="en-US" sz="1200" i="1" kern="1200">
                        <a:solidFill>
                          <a:schemeClr val="tx1"/>
                        </a:solidFill>
                        <a:latin typeface="Cambria Math" panose="02040503050406030204" pitchFamily="18" charset="0"/>
                        <a:ea typeface="+mn-ea"/>
                        <a:cs typeface="+mn-cs"/>
                      </a:rPr>
                      <m:t>𝑋</m:t>
                    </m:r>
                  </m:oMath>
                </a14:m>
                <a:r>
                  <a:rPr lang="en-US" dirty="0"/>
                  <a:t>.</a:t>
                </a:r>
              </a:p>
              <a:p>
                <a:r>
                  <a:rPr lang="en-US" dirty="0"/>
                  <a:t>For example, the model might output:</a:t>
                </a:r>
              </a:p>
              <a:p>
                <a:r>
                  <a:rPr lang="en-US" dirty="0"/>
                  <a:t>	- 0.87 → 87% chance of “positive” or class 1</a:t>
                </a:r>
              </a:p>
              <a:p>
                <a:r>
                  <a:rPr lang="en-US" dirty="0"/>
                  <a:t>	- 0.12 → 12% chance of class 1</a:t>
                </a:r>
              </a:p>
              <a:p>
                <a:endParaRPr lang="en-US" b="0" dirty="0"/>
              </a:p>
              <a:p>
                <a:r>
                  <a:rPr lang="en-US" b="1" dirty="0"/>
                  <a:t>5. Decision Threshold (default = 0.5)</a:t>
                </a:r>
              </a:p>
              <a:p>
                <a:r>
                  <a:rPr lang="en-US" b="0" dirty="0"/>
                  <a:t>To convert the probability into a class label, logistic regression uses a threshold.</a:t>
                </a:r>
              </a:p>
              <a:p>
                <a:r>
                  <a:rPr lang="en-US" b="0" dirty="0"/>
                  <a:t>	- If the probability is greater than or equal to 0.5, the prediction is class 1.</a:t>
                </a:r>
              </a:p>
              <a:p>
                <a:r>
                  <a:rPr lang="en-US" b="0" dirty="0"/>
                  <a:t>	- If it is less than 0.5, the prediction is class 0.</a:t>
                </a:r>
              </a:p>
              <a:p>
                <a:endParaRPr lang="en-US" b="0" dirty="0"/>
              </a:p>
              <a:p>
                <a:r>
                  <a:rPr lang="en-US" b="1" dirty="0"/>
                  <a:t>6. Predicted Class: ŷ = 0 or 1</a:t>
                </a:r>
              </a:p>
              <a:p>
                <a:r>
                  <a:rPr lang="en-US" b="0" dirty="0"/>
                  <a:t>Finally, the model outputs the predicted class label:</a:t>
                </a:r>
              </a:p>
              <a:p>
                <a:r>
                  <a:rPr lang="en-US" b="0" dirty="0"/>
                  <a:t>	- ŷ = 1 if the probability meets or exceeds the threshold</a:t>
                </a:r>
              </a:p>
              <a:p>
                <a:r>
                  <a:rPr lang="en-US" b="0" dirty="0"/>
                  <a:t>	- ŷ = 0 otherwise</a:t>
                </a:r>
              </a:p>
              <a:p>
                <a:endParaRPr lang="en-US" b="0" dirty="0"/>
              </a:p>
              <a:p>
                <a:endParaRPr lang="en-US" b="0" dirty="0"/>
              </a:p>
              <a:p>
                <a:endParaRPr lang="en-US" dirty="0"/>
              </a:p>
              <a:p>
                <a:endParaRPr lang="en-US" dirty="0"/>
              </a:p>
            </p:txBody>
          </p:sp>
        </mc:Choice>
        <mc:Fallback xmlns="">
          <p:sp>
            <p:nvSpPr>
              <p:cNvPr id="3" name="Notes Placeholder 2"/>
              <p:cNvSpPr>
                <a:spLocks noGrp="1"/>
              </p:cNvSpPr>
              <p:nvPr>
                <p:ph type="body" idx="1"/>
              </p:nvPr>
            </p:nvSpPr>
            <p:spPr/>
            <p:txBody>
              <a:bodyPr/>
              <a:lstStyle/>
              <a:p>
                <a:r>
                  <a:rPr lang="en-US" b="1" dirty="0"/>
                  <a:t>1. Input Features (X₁, X₂, …, Xd)</a:t>
                </a:r>
              </a:p>
              <a:p>
                <a:r>
                  <a:rPr lang="en-US" dirty="0"/>
                  <a:t>These are the variables or attributes used to make predictions. Each feature represents some measurable characteristic of the data.</a:t>
                </a:r>
              </a:p>
              <a:p>
                <a:endParaRPr lang="en-US" dirty="0"/>
              </a:p>
              <a:p>
                <a:r>
                  <a:rPr lang="en-US" b="1" dirty="0"/>
                  <a:t>2. Weighted Sum: z = </a:t>
                </a:r>
                <a:r>
                  <a:rPr lang="en-US" b="1" dirty="0" err="1"/>
                  <a:t>w₁X</a:t>
                </a:r>
                <a:r>
                  <a:rPr lang="en-US" b="1" dirty="0"/>
                  <a:t>₁ + </a:t>
                </a:r>
                <a:r>
                  <a:rPr lang="en-US" b="1" dirty="0" err="1"/>
                  <a:t>w₂X</a:t>
                </a:r>
                <a:r>
                  <a:rPr lang="en-US" b="1" dirty="0"/>
                  <a:t>₂ + … + wd*Xd + b</a:t>
                </a:r>
              </a:p>
              <a:p>
                <a:r>
                  <a:rPr lang="en-US" b="0" dirty="0"/>
                  <a:t>Logistic regression first computes a linear combination of the input features.</a:t>
                </a:r>
              </a:p>
              <a:p>
                <a:r>
                  <a:rPr lang="en-US" b="0" dirty="0"/>
                  <a:t>	-  Each feature </a:t>
                </a:r>
                <a:r>
                  <a:rPr lang="ar-AE" sz="1200" b="0" i="0" kern="1200">
                    <a:solidFill>
                      <a:schemeClr val="tx1"/>
                    </a:solidFill>
                    <a:latin typeface="Cambria Math" panose="02040503050406030204" pitchFamily="18" charset="0"/>
                    <a:ea typeface="+mn-ea"/>
                    <a:cs typeface="+mn-cs"/>
                  </a:rPr>
                  <a:t>𝑋</a:t>
                </a:r>
                <a:r>
                  <a:rPr lang="ar-AE" sz="1200" b="0" i="0" kern="1200">
                    <a:solidFill>
                      <a:schemeClr val="tx1"/>
                    </a:solidFill>
                    <a:latin typeface="+mn-lt"/>
                    <a:ea typeface="+mn-ea"/>
                    <a:cs typeface="+mn-cs"/>
                  </a:rPr>
                  <a:t>_</a:t>
                </a:r>
                <a:r>
                  <a:rPr lang="ar-AE" sz="1200" b="0" i="0" kern="1200">
                    <a:solidFill>
                      <a:schemeClr val="tx1"/>
                    </a:solidFill>
                    <a:latin typeface="Cambria Math" panose="02040503050406030204" pitchFamily="18" charset="0"/>
                    <a:ea typeface="+mn-ea"/>
                    <a:cs typeface="+mn-cs"/>
                  </a:rPr>
                  <a:t>𝑖</a:t>
                </a:r>
                <a:r>
                  <a:rPr lang="en-US" b="0" dirty="0"/>
                  <a:t>is multiplied by a learnable weight </a:t>
                </a:r>
                <a:r>
                  <a:rPr lang="ar-AE" sz="1200" b="0" i="0" kern="1200">
                    <a:solidFill>
                      <a:schemeClr val="tx1"/>
                    </a:solidFill>
                    <a:latin typeface="Cambria Math" panose="02040503050406030204" pitchFamily="18" charset="0"/>
                    <a:ea typeface="+mn-ea"/>
                    <a:cs typeface="+mn-cs"/>
                  </a:rPr>
                  <a:t>𝑤</a:t>
                </a:r>
                <a:r>
                  <a:rPr lang="ar-AE" sz="1200" b="0" i="0" kern="1200">
                    <a:solidFill>
                      <a:schemeClr val="tx1"/>
                    </a:solidFill>
                    <a:latin typeface="+mn-lt"/>
                    <a:ea typeface="+mn-ea"/>
                    <a:cs typeface="+mn-cs"/>
                  </a:rPr>
                  <a:t>_</a:t>
                </a:r>
                <a:r>
                  <a:rPr lang="ar-AE" sz="1200" b="0" i="0" kern="1200">
                    <a:solidFill>
                      <a:schemeClr val="tx1"/>
                    </a:solidFill>
                    <a:latin typeface="Cambria Math" panose="02040503050406030204" pitchFamily="18" charset="0"/>
                    <a:ea typeface="+mn-ea"/>
                    <a:cs typeface="+mn-cs"/>
                  </a:rPr>
                  <a:t>𝑖</a:t>
                </a:r>
                <a:r>
                  <a:rPr lang="ar-AE" b="0" dirty="0"/>
                  <a:t>.</a:t>
                </a:r>
              </a:p>
              <a:p>
                <a:r>
                  <a:rPr lang="en-US" b="0" dirty="0"/>
                  <a:t>	-</a:t>
                </a:r>
                <a:r>
                  <a:rPr lang="en-US" b="0" baseline="0" dirty="0"/>
                  <a:t>  </a:t>
                </a:r>
                <a:r>
                  <a:rPr lang="en-US" b="0" dirty="0"/>
                  <a:t>A bias term </a:t>
                </a:r>
                <a:r>
                  <a:rPr lang="en-US" sz="1200" b="0" i="0" kern="1200">
                    <a:solidFill>
                      <a:schemeClr val="tx1"/>
                    </a:solidFill>
                    <a:latin typeface="Cambria Math" panose="02040503050406030204" pitchFamily="18" charset="0"/>
                    <a:ea typeface="+mn-ea"/>
                    <a:cs typeface="+mn-cs"/>
                  </a:rPr>
                  <a:t>𝑏</a:t>
                </a:r>
                <a:r>
                  <a:rPr lang="en-US" b="0" dirty="0"/>
                  <a:t>is added to shift the decision boundary.</a:t>
                </a:r>
              </a:p>
              <a:p>
                <a:endParaRPr lang="en-US" dirty="0"/>
              </a:p>
              <a:p>
                <a:r>
                  <a:rPr lang="en-US" b="1" dirty="0"/>
                  <a:t>3. Sigmoid Activation: σ(z) = 1 / (1 + exp(-z))</a:t>
                </a:r>
              </a:p>
              <a:p>
                <a:r>
                  <a:rPr lang="en-US" b="0" dirty="0"/>
                  <a:t>Because classification requires a probability between 0 and 1, logistic regression passes the linear output </a:t>
                </a:r>
                <a:r>
                  <a:rPr lang="en-US" sz="1200" b="0" i="0" kern="1200">
                    <a:solidFill>
                      <a:schemeClr val="tx1"/>
                    </a:solidFill>
                    <a:latin typeface="+mn-lt"/>
                    <a:ea typeface="+mn-ea"/>
                    <a:cs typeface="+mn-cs"/>
                  </a:rPr>
                  <a:t>𝑧</a:t>
                </a:r>
                <a:r>
                  <a:rPr lang="en-US" b="0" dirty="0"/>
                  <a:t>through the sigmoid (logistic) function.</a:t>
                </a:r>
              </a:p>
              <a:p>
                <a:r>
                  <a:rPr lang="en-US" b="0" dirty="0"/>
                  <a:t>	- The sigmoid function “squashes” any real-valued number into a range from 0 to 1.</a:t>
                </a:r>
              </a:p>
              <a:p>
                <a:r>
                  <a:rPr lang="en-US" b="0" dirty="0"/>
                  <a:t>	- A larger value of </a:t>
                </a:r>
                <a:r>
                  <a:rPr lang="en-US" sz="1200" b="0" i="0" kern="1200">
                    <a:solidFill>
                      <a:schemeClr val="tx1"/>
                    </a:solidFill>
                    <a:latin typeface="+mn-lt"/>
                    <a:ea typeface="+mn-ea"/>
                    <a:cs typeface="+mn-cs"/>
                  </a:rPr>
                  <a:t>𝑧</a:t>
                </a:r>
                <a:r>
                  <a:rPr lang="en-US" b="0" dirty="0"/>
                  <a:t>results in a probability close to 1, while a very negative </a:t>
                </a:r>
                <a:r>
                  <a:rPr lang="en-US" sz="1200" b="0" i="0" kern="1200">
                    <a:solidFill>
                      <a:schemeClr val="tx1"/>
                    </a:solidFill>
                    <a:latin typeface="+mn-lt"/>
                    <a:ea typeface="+mn-ea"/>
                    <a:cs typeface="+mn-cs"/>
                  </a:rPr>
                  <a:t>𝑧</a:t>
                </a:r>
                <a:r>
                  <a:rPr lang="en-US" b="0" dirty="0"/>
                  <a:t> produces a probability close to 0.</a:t>
                </a:r>
              </a:p>
              <a:p>
                <a:endParaRPr lang="en-US" b="0" dirty="0"/>
              </a:p>
              <a:p>
                <a:r>
                  <a:rPr lang="en-US" b="1" dirty="0"/>
                  <a:t>4. Output Probability: P(y = 1 | X) = σ(z)</a:t>
                </a:r>
              </a:p>
              <a:p>
                <a:r>
                  <a:rPr lang="en-US" dirty="0"/>
                  <a:t>The result of the sigmoid function is interpreted as the predicted </a:t>
                </a:r>
                <a:r>
                  <a:rPr lang="en-US" b="0" dirty="0"/>
                  <a:t>probability </a:t>
                </a:r>
                <a:r>
                  <a:rPr lang="en-US" dirty="0"/>
                  <a:t>that the target class </a:t>
                </a:r>
                <a:r>
                  <a:rPr lang="en-US" sz="1200" i="0" kern="1200">
                    <a:solidFill>
                      <a:schemeClr val="tx1"/>
                    </a:solidFill>
                    <a:latin typeface="+mn-lt"/>
                    <a:ea typeface="+mn-ea"/>
                    <a:cs typeface="+mn-cs"/>
                  </a:rPr>
                  <a:t>𝑦</a:t>
                </a:r>
                <a:r>
                  <a:rPr lang="en-US" dirty="0"/>
                  <a:t>is equal to 1 given the input features </a:t>
                </a:r>
                <a:r>
                  <a:rPr lang="en-US" sz="1200" i="0" kern="1200">
                    <a:solidFill>
                      <a:schemeClr val="tx1"/>
                    </a:solidFill>
                    <a:latin typeface="+mn-lt"/>
                    <a:ea typeface="+mn-ea"/>
                    <a:cs typeface="+mn-cs"/>
                  </a:rPr>
                  <a:t>𝑋</a:t>
                </a:r>
                <a:r>
                  <a:rPr lang="en-US" dirty="0"/>
                  <a:t>.</a:t>
                </a:r>
              </a:p>
              <a:p>
                <a:r>
                  <a:rPr lang="en-US" dirty="0"/>
                  <a:t>For example, the model might output:</a:t>
                </a:r>
              </a:p>
              <a:p>
                <a:r>
                  <a:rPr lang="en-US" dirty="0"/>
                  <a:t>	- 0.87 → 87% chance of “positive” or class 1</a:t>
                </a:r>
              </a:p>
              <a:p>
                <a:r>
                  <a:rPr lang="en-US" dirty="0"/>
                  <a:t>	- 0.12 → 12% chance of class 1</a:t>
                </a:r>
              </a:p>
              <a:p>
                <a:endParaRPr lang="en-US" b="0" dirty="0"/>
              </a:p>
              <a:p>
                <a:r>
                  <a:rPr lang="en-US" b="1" dirty="0"/>
                  <a:t>5. Decision Threshold (default = 0.5)</a:t>
                </a:r>
              </a:p>
              <a:p>
                <a:r>
                  <a:rPr lang="en-US" b="0" dirty="0"/>
                  <a:t>To convert the probability into a class label, logistic regression uses a threshold.</a:t>
                </a:r>
              </a:p>
              <a:p>
                <a:r>
                  <a:rPr lang="en-US" b="0" dirty="0"/>
                  <a:t>	- If the probability is greater than or equal to 0.5, the prediction is class 1.</a:t>
                </a:r>
              </a:p>
              <a:p>
                <a:r>
                  <a:rPr lang="en-US" b="0" dirty="0"/>
                  <a:t>	- If it is less than 0.5, the prediction is class 0.</a:t>
                </a:r>
              </a:p>
              <a:p>
                <a:endParaRPr lang="en-US" b="0" dirty="0"/>
              </a:p>
              <a:p>
                <a:r>
                  <a:rPr lang="en-US" b="1" dirty="0"/>
                  <a:t>6. Predicted Class: ŷ = 0 or 1</a:t>
                </a:r>
              </a:p>
              <a:p>
                <a:r>
                  <a:rPr lang="en-US" b="0" dirty="0"/>
                  <a:t>Finally, the model outputs the predicted class label:</a:t>
                </a:r>
              </a:p>
              <a:p>
                <a:r>
                  <a:rPr lang="en-US" b="0" dirty="0"/>
                  <a:t>	- ŷ = 1 if the probability meets or exceeds the threshold</a:t>
                </a:r>
              </a:p>
              <a:p>
                <a:r>
                  <a:rPr lang="en-US" b="0" dirty="0"/>
                  <a:t>	- ŷ = 0 otherwise</a:t>
                </a:r>
              </a:p>
              <a:p>
                <a:endParaRPr lang="en-US" b="0" dirty="0"/>
              </a:p>
              <a:p>
                <a:endParaRPr lang="en-US" b="0" dirty="0"/>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9C5C3472-224F-4F31-9706-FC7607163979}" type="slidenum">
              <a:rPr lang="en-US" smtClean="0"/>
              <a:t>6</a:t>
            </a:fld>
            <a:endParaRPr lang="en-US"/>
          </a:p>
        </p:txBody>
      </p:sp>
    </p:spTree>
    <p:extLst>
      <p:ext uri="{BB962C8B-B14F-4D97-AF65-F5344CB8AC3E}">
        <p14:creationId xmlns:p14="http://schemas.microsoft.com/office/powerpoint/2010/main" val="9494535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m usually refers to the number of training examples in a batch.</a:t>
            </a:r>
          </a:p>
          <a:p>
            <a:endParaRPr lang="en-US" b="0" dirty="0"/>
          </a:p>
          <a:p>
            <a:r>
              <a:rPr lang="en-US" b="0" dirty="0"/>
              <a:t>d refers to the number of input features.</a:t>
            </a:r>
          </a:p>
          <a:p>
            <a:endParaRPr lang="en-US" b="0" dirty="0"/>
          </a:p>
        </p:txBody>
      </p:sp>
      <p:sp>
        <p:nvSpPr>
          <p:cNvPr id="4" name="Slide Number Placeholder 3"/>
          <p:cNvSpPr>
            <a:spLocks noGrp="1"/>
          </p:cNvSpPr>
          <p:nvPr>
            <p:ph type="sldNum" sz="quarter" idx="5"/>
          </p:nvPr>
        </p:nvSpPr>
        <p:spPr/>
        <p:txBody>
          <a:bodyPr/>
          <a:lstStyle/>
          <a:p>
            <a:fld id="{9C5C3472-224F-4F31-9706-FC7607163979}" type="slidenum">
              <a:rPr lang="en-US" smtClean="0"/>
              <a:t>8</a:t>
            </a:fld>
            <a:endParaRPr lang="en-US"/>
          </a:p>
        </p:txBody>
      </p:sp>
    </p:spTree>
    <p:extLst>
      <p:ext uri="{BB962C8B-B14F-4D97-AF65-F5344CB8AC3E}">
        <p14:creationId xmlns:p14="http://schemas.microsoft.com/office/powerpoint/2010/main" val="33172730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h₁ = the number of neurons</a:t>
            </a:r>
          </a:p>
        </p:txBody>
      </p:sp>
      <p:sp>
        <p:nvSpPr>
          <p:cNvPr id="4" name="Slide Number Placeholder 3"/>
          <p:cNvSpPr>
            <a:spLocks noGrp="1"/>
          </p:cNvSpPr>
          <p:nvPr>
            <p:ph type="sldNum" sz="quarter" idx="5"/>
          </p:nvPr>
        </p:nvSpPr>
        <p:spPr/>
        <p:txBody>
          <a:bodyPr/>
          <a:lstStyle/>
          <a:p>
            <a:fld id="{9C5C3472-224F-4F31-9706-FC7607163979}" type="slidenum">
              <a:rPr lang="en-US" smtClean="0"/>
              <a:t>9</a:t>
            </a:fld>
            <a:endParaRPr lang="en-US"/>
          </a:p>
        </p:txBody>
      </p:sp>
    </p:spTree>
    <p:extLst>
      <p:ext uri="{BB962C8B-B14F-4D97-AF65-F5344CB8AC3E}">
        <p14:creationId xmlns:p14="http://schemas.microsoft.com/office/powerpoint/2010/main" val="17795917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Application will based on Marketing </a:t>
            </a:r>
          </a:p>
        </p:txBody>
      </p:sp>
      <p:sp>
        <p:nvSpPr>
          <p:cNvPr id="4" name="Slide Number Placeholder 3"/>
          <p:cNvSpPr>
            <a:spLocks noGrp="1"/>
          </p:cNvSpPr>
          <p:nvPr>
            <p:ph type="sldNum" sz="quarter" idx="5"/>
          </p:nvPr>
        </p:nvSpPr>
        <p:spPr/>
        <p:txBody>
          <a:bodyPr/>
          <a:lstStyle/>
          <a:p>
            <a:fld id="{9C5C3472-224F-4F31-9706-FC7607163979}" type="slidenum">
              <a:rPr lang="en-US" smtClean="0"/>
              <a:t>16</a:t>
            </a:fld>
            <a:endParaRPr lang="en-US"/>
          </a:p>
        </p:txBody>
      </p:sp>
    </p:spTree>
    <p:extLst>
      <p:ext uri="{BB962C8B-B14F-4D97-AF65-F5344CB8AC3E}">
        <p14:creationId xmlns:p14="http://schemas.microsoft.com/office/powerpoint/2010/main" val="10542173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5C3472-224F-4F31-9706-FC7607163979}" type="slidenum">
              <a:rPr lang="en-US" smtClean="0"/>
              <a:t>18</a:t>
            </a:fld>
            <a:endParaRPr lang="en-US"/>
          </a:p>
        </p:txBody>
      </p:sp>
    </p:spTree>
    <p:extLst>
      <p:ext uri="{BB962C8B-B14F-4D97-AF65-F5344CB8AC3E}">
        <p14:creationId xmlns:p14="http://schemas.microsoft.com/office/powerpoint/2010/main" val="816080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Load Dataset</a:t>
            </a:r>
          </a:p>
          <a:p>
            <a:r>
              <a:rPr lang="en-US" dirty="0"/>
              <a:t>The dataset is loaded from a CSV file, and the column names are cleaned to remove extra spaces.</a:t>
            </a:r>
          </a:p>
          <a:p>
            <a:endParaRPr lang="en-US" dirty="0"/>
          </a:p>
          <a:p>
            <a:r>
              <a:rPr lang="en-US" b="1" dirty="0"/>
              <a:t>2. Cleaning / Handling Missing Values</a:t>
            </a:r>
          </a:p>
          <a:p>
            <a:r>
              <a:rPr lang="en-US" b="0" dirty="0"/>
              <a:t>	- Numeric features are imputed using the median, which is robust to outliers and preserves the distribution.</a:t>
            </a:r>
          </a:p>
          <a:p>
            <a:r>
              <a:rPr lang="en-US" b="0" dirty="0"/>
              <a:t>	- Categorical features are filled with their most frequent category (mode) to avoid losing data while keeping categories valid.</a:t>
            </a:r>
          </a:p>
          <a:p>
            <a:endParaRPr lang="en-US" b="0" dirty="0"/>
          </a:p>
          <a:p>
            <a:r>
              <a:rPr lang="en-US" b="1" dirty="0"/>
              <a:t>3. Define Features and Target</a:t>
            </a:r>
          </a:p>
          <a:p>
            <a:r>
              <a:rPr lang="en-US" dirty="0"/>
              <a:t>The target variable (</a:t>
            </a:r>
            <a:r>
              <a:rPr lang="en-US" sz="1200" kern="1200" dirty="0">
                <a:solidFill>
                  <a:schemeClr val="tx1"/>
                </a:solidFill>
                <a:latin typeface="+mn-lt"/>
                <a:ea typeface="+mn-ea"/>
                <a:cs typeface="+mn-cs"/>
              </a:rPr>
              <a:t>Response</a:t>
            </a:r>
            <a:r>
              <a:rPr lang="en-US" dirty="0"/>
              <a:t>) is separated from the feature set. Irrelevant or non-informative columns such as ID fields and administrative variables (</a:t>
            </a:r>
            <a:r>
              <a:rPr lang="en-US" sz="1200" kern="1200" dirty="0" err="1">
                <a:solidFill>
                  <a:schemeClr val="tx1"/>
                </a:solidFill>
                <a:latin typeface="+mn-lt"/>
                <a:ea typeface="+mn-ea"/>
                <a:cs typeface="+mn-cs"/>
              </a:rPr>
              <a:t>Dt_Customer</a:t>
            </a:r>
            <a:r>
              <a:rPr lang="en-US" dirty="0"/>
              <a:t>, </a:t>
            </a:r>
            <a:r>
              <a:rPr lang="en-US" sz="1200" kern="1200" dirty="0" err="1">
                <a:solidFill>
                  <a:schemeClr val="tx1"/>
                </a:solidFill>
                <a:latin typeface="+mn-lt"/>
                <a:ea typeface="+mn-ea"/>
                <a:cs typeface="+mn-cs"/>
              </a:rPr>
              <a:t>Z_CostContact</a:t>
            </a:r>
            <a:r>
              <a:rPr lang="en-US" dirty="0"/>
              <a:t>, </a:t>
            </a:r>
            <a:r>
              <a:rPr lang="en-US" sz="1200" kern="1200" dirty="0" err="1">
                <a:solidFill>
                  <a:schemeClr val="tx1"/>
                </a:solidFill>
                <a:latin typeface="+mn-lt"/>
                <a:ea typeface="+mn-ea"/>
                <a:cs typeface="+mn-cs"/>
              </a:rPr>
              <a:t>Z_Revenue</a:t>
            </a:r>
            <a:r>
              <a:rPr lang="en-US" dirty="0"/>
              <a:t>) are dropped. This prevents data leakage and ensures that the model learns only from meaningful information.</a:t>
            </a:r>
          </a:p>
          <a:p>
            <a:endParaRPr lang="en-US" b="0" dirty="0"/>
          </a:p>
          <a:p>
            <a:r>
              <a:rPr lang="en-US" b="1" dirty="0"/>
              <a:t>4. Preprocessing: Encoding &amp; Scaling</a:t>
            </a:r>
          </a:p>
          <a:p>
            <a:r>
              <a:rPr lang="en-US" b="0" dirty="0"/>
              <a:t>A preprocessing pipeline is created using </a:t>
            </a:r>
            <a:r>
              <a:rPr lang="en-US" sz="1200" b="0" kern="1200" dirty="0">
                <a:solidFill>
                  <a:schemeClr val="tx1"/>
                </a:solidFill>
                <a:latin typeface="+mn-lt"/>
                <a:ea typeface="+mn-ea"/>
                <a:cs typeface="+mn-cs"/>
              </a:rPr>
              <a:t>ColumnTransformer</a:t>
            </a:r>
            <a:r>
              <a:rPr lang="en-US" b="0" dirty="0"/>
              <a:t>.</a:t>
            </a:r>
          </a:p>
          <a:p>
            <a:r>
              <a:rPr lang="en-US" b="0" dirty="0"/>
              <a:t>	- Numeric features are standardized to have mean 0 and variance 1, improving model stability.</a:t>
            </a:r>
          </a:p>
          <a:p>
            <a:r>
              <a:rPr lang="en-US" b="0" dirty="0"/>
              <a:t>	- Categorical features are one-hot encoded, converting categories into binary indicator variables.</a:t>
            </a:r>
          </a:p>
          <a:p>
            <a:endParaRPr lang="en-US" b="0" dirty="0"/>
          </a:p>
          <a:p>
            <a:r>
              <a:rPr lang="en-US" b="1" dirty="0"/>
              <a:t>5. Train / Validation / Test Split</a:t>
            </a:r>
          </a:p>
          <a:p>
            <a:r>
              <a:rPr lang="en-US" b="0" dirty="0"/>
              <a:t>The dataset is divided into three parts:</a:t>
            </a:r>
          </a:p>
          <a:p>
            <a:r>
              <a:rPr lang="en-US" b="0" dirty="0"/>
              <a:t>	- Training set (64%) for model learning</a:t>
            </a:r>
          </a:p>
          <a:p>
            <a:r>
              <a:rPr lang="en-US" b="0" dirty="0"/>
              <a:t>	- Validation set (16%) for hyperparameter tuning</a:t>
            </a:r>
          </a:p>
          <a:p>
            <a:r>
              <a:rPr lang="en-US" b="0" dirty="0"/>
              <a:t>	- Test set (20%) for final performance evaluation</a:t>
            </a:r>
          </a:p>
          <a:p>
            <a:endParaRPr lang="en-US" b="0" dirty="0"/>
          </a:p>
          <a:p>
            <a:r>
              <a:rPr lang="en-US" b="1" dirty="0"/>
              <a:t>6. Fit Preprocessor and Transform</a:t>
            </a:r>
          </a:p>
          <a:p>
            <a:r>
              <a:rPr lang="en-US" b="0" dirty="0"/>
              <a:t>The preprocessing pipeline is fitted only on the training set, then applied to the validation and test sets. This prevents information from the validation or test data from leaking into the training process, so it can ensure an honest evaluation of model performance.</a:t>
            </a:r>
          </a:p>
          <a:p>
            <a:endParaRPr lang="en-US" b="0" dirty="0"/>
          </a:p>
          <a:p>
            <a:r>
              <a:rPr lang="en-US" b="1" dirty="0"/>
              <a:t>7. Output Shapes</a:t>
            </a:r>
          </a:p>
          <a:p>
            <a:r>
              <a:rPr lang="en-US" dirty="0"/>
              <a:t>The shapes of the processed feature matrices and label vectors are printed. This is confirmation that the preprocessing steps were successful, and give information of the training, validation, and test sets contain the expected number of samples and transformed features.</a:t>
            </a:r>
          </a:p>
          <a:p>
            <a:endParaRPr lang="en-US" b="0" dirty="0"/>
          </a:p>
          <a:p>
            <a:endParaRPr lang="en-US" b="0" dirty="0"/>
          </a:p>
          <a:p>
            <a:endParaRPr lang="en-US" b="0" dirty="0"/>
          </a:p>
          <a:p>
            <a:endParaRPr lang="en-US" b="0" dirty="0"/>
          </a:p>
          <a:p>
            <a:endParaRPr lang="en-US" dirty="0"/>
          </a:p>
          <a:p>
            <a:endParaRPr lang="en-US" dirty="0"/>
          </a:p>
        </p:txBody>
      </p:sp>
      <p:sp>
        <p:nvSpPr>
          <p:cNvPr id="4" name="Slide Number Placeholder 3"/>
          <p:cNvSpPr>
            <a:spLocks noGrp="1"/>
          </p:cNvSpPr>
          <p:nvPr>
            <p:ph type="sldNum" sz="quarter" idx="5"/>
          </p:nvPr>
        </p:nvSpPr>
        <p:spPr/>
        <p:txBody>
          <a:bodyPr/>
          <a:lstStyle/>
          <a:p>
            <a:fld id="{9C5C3472-224F-4F31-9706-FC7607163979}" type="slidenum">
              <a:rPr lang="en-US" smtClean="0"/>
              <a:t>19</a:t>
            </a:fld>
            <a:endParaRPr lang="en-US"/>
          </a:p>
        </p:txBody>
      </p:sp>
    </p:spTree>
    <p:extLst>
      <p:ext uri="{BB962C8B-B14F-4D97-AF65-F5344CB8AC3E}">
        <p14:creationId xmlns:p14="http://schemas.microsoft.com/office/powerpoint/2010/main" val="1574660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Define Hyperparameter Range</a:t>
            </a:r>
          </a:p>
          <a:p>
            <a:r>
              <a:rPr lang="en-US" b="0" dirty="0"/>
              <a:t>A range of C values is created using a logarithmic scale from 0.001 to 1000.</a:t>
            </a:r>
          </a:p>
          <a:p>
            <a:r>
              <a:rPr lang="en-US" sz="1200" b="0" kern="1200" dirty="0">
                <a:solidFill>
                  <a:schemeClr val="tx1"/>
                </a:solidFill>
                <a:latin typeface="+mn-lt"/>
                <a:ea typeface="+mn-ea"/>
                <a:cs typeface="+mn-cs"/>
              </a:rPr>
              <a:t>C</a:t>
            </a:r>
            <a:r>
              <a:rPr lang="en-US" b="0" dirty="0"/>
              <a:t> controls the inverse of regularization strength:</a:t>
            </a:r>
          </a:p>
          <a:p>
            <a:pPr lvl="1"/>
            <a:r>
              <a:rPr lang="en-US" b="0" dirty="0"/>
              <a:t>- Small C → stronger regularization (simpler model)</a:t>
            </a:r>
          </a:p>
          <a:p>
            <a:pPr lvl="1"/>
            <a:r>
              <a:rPr lang="en-US" b="0" dirty="0"/>
              <a:t>- Large C → weaker regularization (more flexible model)</a:t>
            </a:r>
          </a:p>
          <a:p>
            <a:endParaRPr lang="en-US" dirty="0"/>
          </a:p>
          <a:p>
            <a:r>
              <a:rPr lang="en-US" b="1" dirty="0"/>
              <a:t>2. Train Logistic Regression for Each C</a:t>
            </a:r>
          </a:p>
          <a:p>
            <a:r>
              <a:rPr lang="en-US" dirty="0"/>
              <a:t>A logistic regression model is trained repeatedly, one for each C value.</a:t>
            </a:r>
          </a:p>
          <a:p>
            <a:r>
              <a:rPr lang="en-US" dirty="0"/>
              <a:t>The model is fit </a:t>
            </a:r>
            <a:r>
              <a:rPr lang="en-US" b="0" dirty="0"/>
              <a:t>only on the training data.</a:t>
            </a:r>
          </a:p>
          <a:p>
            <a:r>
              <a:rPr lang="en-US" dirty="0"/>
              <a:t>Predictions on the validation set provide:</a:t>
            </a:r>
          </a:p>
          <a:p>
            <a:pPr marL="628650" lvl="1" indent="-171450">
              <a:buFontTx/>
              <a:buChar char="-"/>
            </a:pPr>
            <a:r>
              <a:rPr lang="en-US" b="0" dirty="0"/>
              <a:t>Accuracy: measures how many labels were predicted correctly</a:t>
            </a:r>
          </a:p>
          <a:p>
            <a:pPr marL="628650" lvl="1" indent="-171450">
              <a:buFontTx/>
              <a:buChar char="-"/>
            </a:pPr>
            <a:r>
              <a:rPr lang="en-US" b="0" dirty="0"/>
              <a:t>AUC (Area Under ROC): measures ranking/separation ability between classes AUC is often preferred because it is more robust to class imbalance. Both metrics are stored for comparison.</a:t>
            </a:r>
          </a:p>
          <a:p>
            <a:pPr marL="628650" lvl="1" indent="-171450">
              <a:buFontTx/>
              <a:buChar char="-"/>
            </a:pPr>
            <a:endParaRPr lang="en-US" b="0" dirty="0"/>
          </a:p>
          <a:p>
            <a:r>
              <a:rPr lang="en-US" b="1" dirty="0"/>
              <a:t>3. Find the Best Parameter</a:t>
            </a:r>
          </a:p>
          <a:p>
            <a:r>
              <a:rPr lang="en-US" dirty="0"/>
              <a:t>The best C value is selected by choosing the model with the </a:t>
            </a:r>
            <a:r>
              <a:rPr lang="en-US" b="1" dirty="0"/>
              <a:t>highest validation AUC</a:t>
            </a:r>
            <a:r>
              <a:rPr lang="en-US" dirty="0"/>
              <a:t>.</a:t>
            </a:r>
            <a:br>
              <a:rPr lang="en-US" dirty="0"/>
            </a:br>
            <a:r>
              <a:rPr lang="en-US" dirty="0"/>
              <a:t>This avoids overfitting to accuracy alone and focuses on probability quality and class separation.</a:t>
            </a:r>
          </a:p>
          <a:p>
            <a:pPr marL="457200" lvl="1" indent="0">
              <a:buFontTx/>
              <a:buNone/>
            </a:pPr>
            <a:endParaRPr lang="en-US" b="0" dirty="0"/>
          </a:p>
          <a:p>
            <a:r>
              <a:rPr lang="en-US" b="1" dirty="0"/>
              <a:t>4. Plot Performance</a:t>
            </a:r>
          </a:p>
          <a:p>
            <a:r>
              <a:rPr lang="en-US" dirty="0"/>
              <a:t>A performance curve is created for AUC and accuracy across all C values.</a:t>
            </a:r>
          </a:p>
          <a:p>
            <a:r>
              <a:rPr lang="en-US" dirty="0"/>
              <a:t>	- A </a:t>
            </a:r>
            <a:r>
              <a:rPr lang="en-US" b="0" dirty="0"/>
              <a:t>logarithmic x-axis </a:t>
            </a:r>
            <a:r>
              <a:rPr lang="en-US" dirty="0"/>
              <a:t>visually highlights how performance changes with regularization.</a:t>
            </a:r>
          </a:p>
          <a:p>
            <a:r>
              <a:rPr lang="en-US" dirty="0"/>
              <a:t>	- A vertical line marks the best C.</a:t>
            </a:r>
          </a:p>
          <a:p>
            <a:pPr marL="457200" lvl="1" indent="0">
              <a:buFontTx/>
              <a:buNone/>
            </a:pPr>
            <a:endParaRPr lang="en-US" b="0" dirty="0"/>
          </a:p>
          <a:p>
            <a:pPr marL="457200" lvl="1" indent="0">
              <a:buFontTx/>
              <a:buNone/>
            </a:pPr>
            <a:endParaRPr lang="en-US" b="0" dirty="0"/>
          </a:p>
          <a:p>
            <a:endParaRPr lang="en-US" dirty="0"/>
          </a:p>
        </p:txBody>
      </p:sp>
      <p:sp>
        <p:nvSpPr>
          <p:cNvPr id="4" name="Slide Number Placeholder 3"/>
          <p:cNvSpPr>
            <a:spLocks noGrp="1"/>
          </p:cNvSpPr>
          <p:nvPr>
            <p:ph type="sldNum" sz="quarter" idx="5"/>
          </p:nvPr>
        </p:nvSpPr>
        <p:spPr/>
        <p:txBody>
          <a:bodyPr/>
          <a:lstStyle/>
          <a:p>
            <a:fld id="{9C5C3472-224F-4F31-9706-FC7607163979}" type="slidenum">
              <a:rPr lang="en-US" smtClean="0"/>
              <a:t>20</a:t>
            </a:fld>
            <a:endParaRPr lang="en-US"/>
          </a:p>
        </p:txBody>
      </p:sp>
    </p:spTree>
    <p:extLst>
      <p:ext uri="{BB962C8B-B14F-4D97-AF65-F5344CB8AC3E}">
        <p14:creationId xmlns:p14="http://schemas.microsoft.com/office/powerpoint/2010/main" val="41977613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5C3472-224F-4F31-9706-FC7607163979}" type="slidenum">
              <a:rPr lang="en-US" smtClean="0"/>
              <a:t>21</a:t>
            </a:fld>
            <a:endParaRPr lang="en-US"/>
          </a:p>
        </p:txBody>
      </p:sp>
    </p:spTree>
    <p:extLst>
      <p:ext uri="{BB962C8B-B14F-4D97-AF65-F5344CB8AC3E}">
        <p14:creationId xmlns:p14="http://schemas.microsoft.com/office/powerpoint/2010/main" val="13960469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5C3472-224F-4F31-9706-FC7607163979}" type="slidenum">
              <a:rPr lang="en-US" smtClean="0"/>
              <a:t>22</a:t>
            </a:fld>
            <a:endParaRPr lang="en-US"/>
          </a:p>
        </p:txBody>
      </p:sp>
    </p:spTree>
    <p:extLst>
      <p:ext uri="{BB962C8B-B14F-4D97-AF65-F5344CB8AC3E}">
        <p14:creationId xmlns:p14="http://schemas.microsoft.com/office/powerpoint/2010/main" val="35385979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5C3472-224F-4F31-9706-FC7607163979}" type="slidenum">
              <a:rPr lang="en-US" smtClean="0"/>
              <a:t>25</a:t>
            </a:fld>
            <a:endParaRPr lang="en-US"/>
          </a:p>
        </p:txBody>
      </p:sp>
    </p:spTree>
    <p:extLst>
      <p:ext uri="{BB962C8B-B14F-4D97-AF65-F5344CB8AC3E}">
        <p14:creationId xmlns:p14="http://schemas.microsoft.com/office/powerpoint/2010/main" val="36393693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8EA37-5854-7235-2C39-0D77E85BE3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83B223-D32D-1284-E162-BE319FCE31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F871782-3977-10CA-8DD4-1F9B9F97E5F7}"/>
              </a:ext>
            </a:extLst>
          </p:cNvPr>
          <p:cNvSpPr>
            <a:spLocks noGrp="1"/>
          </p:cNvSpPr>
          <p:nvPr>
            <p:ph type="dt" sz="half" idx="10"/>
          </p:nvPr>
        </p:nvSpPr>
        <p:spPr/>
        <p:txBody>
          <a:bodyPr/>
          <a:lstStyle/>
          <a:p>
            <a:fld id="{4EE06C3E-BA30-4128-B864-A1E2B9E3792F}" type="datetimeFigureOut">
              <a:rPr lang="en-US" smtClean="0"/>
              <a:t>12/6/2025</a:t>
            </a:fld>
            <a:endParaRPr lang="en-US"/>
          </a:p>
        </p:txBody>
      </p:sp>
      <p:sp>
        <p:nvSpPr>
          <p:cNvPr id="5" name="Footer Placeholder 4">
            <a:extLst>
              <a:ext uri="{FF2B5EF4-FFF2-40B4-BE49-F238E27FC236}">
                <a16:creationId xmlns:a16="http://schemas.microsoft.com/office/drawing/2014/main" id="{C04DC0B9-8144-D5F4-5936-FFB838483D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AC3B01-A77E-C0C1-4553-83359362E998}"/>
              </a:ext>
            </a:extLst>
          </p:cNvPr>
          <p:cNvSpPr>
            <a:spLocks noGrp="1"/>
          </p:cNvSpPr>
          <p:nvPr>
            <p:ph type="sldNum" sz="quarter" idx="12"/>
          </p:nvPr>
        </p:nvSpPr>
        <p:spPr/>
        <p:txBody>
          <a:bodyPr/>
          <a:lstStyle/>
          <a:p>
            <a:fld id="{92AA54DD-D289-429F-8559-FA3702B864FD}" type="slidenum">
              <a:rPr lang="en-US" smtClean="0"/>
              <a:t>‹#›</a:t>
            </a:fld>
            <a:endParaRPr lang="en-US"/>
          </a:p>
        </p:txBody>
      </p:sp>
    </p:spTree>
    <p:extLst>
      <p:ext uri="{BB962C8B-B14F-4D97-AF65-F5344CB8AC3E}">
        <p14:creationId xmlns:p14="http://schemas.microsoft.com/office/powerpoint/2010/main" val="569896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31328-59F9-1898-575A-E3B0B55E6C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B65AFB-0525-B0BE-BF22-7A31DEB42A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14E48D-6557-733A-D87F-E090306C9841}"/>
              </a:ext>
            </a:extLst>
          </p:cNvPr>
          <p:cNvSpPr>
            <a:spLocks noGrp="1"/>
          </p:cNvSpPr>
          <p:nvPr>
            <p:ph type="dt" sz="half" idx="10"/>
          </p:nvPr>
        </p:nvSpPr>
        <p:spPr/>
        <p:txBody>
          <a:bodyPr/>
          <a:lstStyle/>
          <a:p>
            <a:fld id="{4EE06C3E-BA30-4128-B864-A1E2B9E3792F}" type="datetimeFigureOut">
              <a:rPr lang="en-US" smtClean="0"/>
              <a:t>12/6/2025</a:t>
            </a:fld>
            <a:endParaRPr lang="en-US"/>
          </a:p>
        </p:txBody>
      </p:sp>
      <p:sp>
        <p:nvSpPr>
          <p:cNvPr id="5" name="Footer Placeholder 4">
            <a:extLst>
              <a:ext uri="{FF2B5EF4-FFF2-40B4-BE49-F238E27FC236}">
                <a16:creationId xmlns:a16="http://schemas.microsoft.com/office/drawing/2014/main" id="{E6050BB9-2BB2-A3EA-B55E-379BBBBF85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A1948C-45AC-C8BF-0F4E-D128C5549A77}"/>
              </a:ext>
            </a:extLst>
          </p:cNvPr>
          <p:cNvSpPr>
            <a:spLocks noGrp="1"/>
          </p:cNvSpPr>
          <p:nvPr>
            <p:ph type="sldNum" sz="quarter" idx="12"/>
          </p:nvPr>
        </p:nvSpPr>
        <p:spPr/>
        <p:txBody>
          <a:bodyPr/>
          <a:lstStyle/>
          <a:p>
            <a:fld id="{92AA54DD-D289-429F-8559-FA3702B864FD}" type="slidenum">
              <a:rPr lang="en-US" smtClean="0"/>
              <a:t>‹#›</a:t>
            </a:fld>
            <a:endParaRPr lang="en-US"/>
          </a:p>
        </p:txBody>
      </p:sp>
    </p:spTree>
    <p:extLst>
      <p:ext uri="{BB962C8B-B14F-4D97-AF65-F5344CB8AC3E}">
        <p14:creationId xmlns:p14="http://schemas.microsoft.com/office/powerpoint/2010/main" val="38456291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E8B7E-7977-2978-66D6-FF188737510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6175EAE-7039-8512-370E-6755A2305A3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073986-22C7-C659-AC72-37023EC33781}"/>
              </a:ext>
            </a:extLst>
          </p:cNvPr>
          <p:cNvSpPr>
            <a:spLocks noGrp="1"/>
          </p:cNvSpPr>
          <p:nvPr>
            <p:ph type="dt" sz="half" idx="10"/>
          </p:nvPr>
        </p:nvSpPr>
        <p:spPr/>
        <p:txBody>
          <a:bodyPr/>
          <a:lstStyle/>
          <a:p>
            <a:fld id="{4EE06C3E-BA30-4128-B864-A1E2B9E3792F}" type="datetimeFigureOut">
              <a:rPr lang="en-US" smtClean="0"/>
              <a:t>12/6/2025</a:t>
            </a:fld>
            <a:endParaRPr lang="en-US"/>
          </a:p>
        </p:txBody>
      </p:sp>
      <p:sp>
        <p:nvSpPr>
          <p:cNvPr id="5" name="Footer Placeholder 4">
            <a:extLst>
              <a:ext uri="{FF2B5EF4-FFF2-40B4-BE49-F238E27FC236}">
                <a16:creationId xmlns:a16="http://schemas.microsoft.com/office/drawing/2014/main" id="{5FEBDBC8-12D8-5713-B933-B0B736A165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7FC725-2923-C5F7-AA0E-FEF4C4825034}"/>
              </a:ext>
            </a:extLst>
          </p:cNvPr>
          <p:cNvSpPr>
            <a:spLocks noGrp="1"/>
          </p:cNvSpPr>
          <p:nvPr>
            <p:ph type="sldNum" sz="quarter" idx="12"/>
          </p:nvPr>
        </p:nvSpPr>
        <p:spPr/>
        <p:txBody>
          <a:bodyPr/>
          <a:lstStyle/>
          <a:p>
            <a:fld id="{92AA54DD-D289-429F-8559-FA3702B864FD}" type="slidenum">
              <a:rPr lang="en-US" smtClean="0"/>
              <a:t>‹#›</a:t>
            </a:fld>
            <a:endParaRPr lang="en-US"/>
          </a:p>
        </p:txBody>
      </p:sp>
    </p:spTree>
    <p:extLst>
      <p:ext uri="{BB962C8B-B14F-4D97-AF65-F5344CB8AC3E}">
        <p14:creationId xmlns:p14="http://schemas.microsoft.com/office/powerpoint/2010/main" val="4151435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B3B35-0E15-9032-F20F-C6352F81FE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FF369D-1A01-2999-BC64-08C408F4A1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8B56B1-53A0-8E25-2CE5-E28F561A96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E4C2ACC-47C5-2737-551A-D7C81D018CA7}"/>
              </a:ext>
            </a:extLst>
          </p:cNvPr>
          <p:cNvSpPr>
            <a:spLocks noGrp="1"/>
          </p:cNvSpPr>
          <p:nvPr>
            <p:ph type="dt" sz="half" idx="10"/>
          </p:nvPr>
        </p:nvSpPr>
        <p:spPr/>
        <p:txBody>
          <a:bodyPr/>
          <a:lstStyle/>
          <a:p>
            <a:fld id="{4EE06C3E-BA30-4128-B864-A1E2B9E3792F}" type="datetimeFigureOut">
              <a:rPr lang="en-US" smtClean="0"/>
              <a:t>12/6/2025</a:t>
            </a:fld>
            <a:endParaRPr lang="en-US"/>
          </a:p>
        </p:txBody>
      </p:sp>
      <p:sp>
        <p:nvSpPr>
          <p:cNvPr id="6" name="Footer Placeholder 5">
            <a:extLst>
              <a:ext uri="{FF2B5EF4-FFF2-40B4-BE49-F238E27FC236}">
                <a16:creationId xmlns:a16="http://schemas.microsoft.com/office/drawing/2014/main" id="{088BBC3E-9D3D-EB69-C574-F67D15B716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712AE7-DE1E-E235-915E-17D70770FAEA}"/>
              </a:ext>
            </a:extLst>
          </p:cNvPr>
          <p:cNvSpPr>
            <a:spLocks noGrp="1"/>
          </p:cNvSpPr>
          <p:nvPr>
            <p:ph type="sldNum" sz="quarter" idx="12"/>
          </p:nvPr>
        </p:nvSpPr>
        <p:spPr/>
        <p:txBody>
          <a:bodyPr/>
          <a:lstStyle/>
          <a:p>
            <a:fld id="{92AA54DD-D289-429F-8559-FA3702B864FD}" type="slidenum">
              <a:rPr lang="en-US" smtClean="0"/>
              <a:t>‹#›</a:t>
            </a:fld>
            <a:endParaRPr lang="en-US"/>
          </a:p>
        </p:txBody>
      </p:sp>
    </p:spTree>
    <p:extLst>
      <p:ext uri="{BB962C8B-B14F-4D97-AF65-F5344CB8AC3E}">
        <p14:creationId xmlns:p14="http://schemas.microsoft.com/office/powerpoint/2010/main" val="1824508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84D4C-E7A5-99AB-F865-4DD7BAF53A1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942EE1-91A5-6BC4-26E5-C77A31CBB7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DF5A63-5EAD-6A7C-FC01-4DA4FF558EB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7D548F0-B7C3-2647-EEC6-D4897F7884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29B885-6427-A6C6-63A6-856A030A84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BFB6C08-8516-4493-B35B-1EB74802A7E6}"/>
              </a:ext>
            </a:extLst>
          </p:cNvPr>
          <p:cNvSpPr>
            <a:spLocks noGrp="1"/>
          </p:cNvSpPr>
          <p:nvPr>
            <p:ph type="dt" sz="half" idx="10"/>
          </p:nvPr>
        </p:nvSpPr>
        <p:spPr/>
        <p:txBody>
          <a:bodyPr/>
          <a:lstStyle/>
          <a:p>
            <a:fld id="{4EE06C3E-BA30-4128-B864-A1E2B9E3792F}" type="datetimeFigureOut">
              <a:rPr lang="en-US" smtClean="0"/>
              <a:t>12/6/2025</a:t>
            </a:fld>
            <a:endParaRPr lang="en-US"/>
          </a:p>
        </p:txBody>
      </p:sp>
      <p:sp>
        <p:nvSpPr>
          <p:cNvPr id="8" name="Footer Placeholder 7">
            <a:extLst>
              <a:ext uri="{FF2B5EF4-FFF2-40B4-BE49-F238E27FC236}">
                <a16:creationId xmlns:a16="http://schemas.microsoft.com/office/drawing/2014/main" id="{91328A73-CB5D-4F45-301D-4D052C1FC9F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3456726-E162-05A0-0721-6AB3BA4FAB77}"/>
              </a:ext>
            </a:extLst>
          </p:cNvPr>
          <p:cNvSpPr>
            <a:spLocks noGrp="1"/>
          </p:cNvSpPr>
          <p:nvPr>
            <p:ph type="sldNum" sz="quarter" idx="12"/>
          </p:nvPr>
        </p:nvSpPr>
        <p:spPr/>
        <p:txBody>
          <a:bodyPr/>
          <a:lstStyle/>
          <a:p>
            <a:fld id="{92AA54DD-D289-429F-8559-FA3702B864FD}" type="slidenum">
              <a:rPr lang="en-US" smtClean="0"/>
              <a:t>‹#›</a:t>
            </a:fld>
            <a:endParaRPr lang="en-US"/>
          </a:p>
        </p:txBody>
      </p:sp>
    </p:spTree>
    <p:extLst>
      <p:ext uri="{BB962C8B-B14F-4D97-AF65-F5344CB8AC3E}">
        <p14:creationId xmlns:p14="http://schemas.microsoft.com/office/powerpoint/2010/main" val="645721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6344A-69EF-B6C2-15C4-885F4B24929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FA46B4-7A15-E961-485D-ADC1B4571492}"/>
              </a:ext>
            </a:extLst>
          </p:cNvPr>
          <p:cNvSpPr>
            <a:spLocks noGrp="1"/>
          </p:cNvSpPr>
          <p:nvPr>
            <p:ph type="dt" sz="half" idx="10"/>
          </p:nvPr>
        </p:nvSpPr>
        <p:spPr/>
        <p:txBody>
          <a:bodyPr/>
          <a:lstStyle/>
          <a:p>
            <a:fld id="{4EE06C3E-BA30-4128-B864-A1E2B9E3792F}" type="datetimeFigureOut">
              <a:rPr lang="en-US" smtClean="0"/>
              <a:t>12/6/2025</a:t>
            </a:fld>
            <a:endParaRPr lang="en-US"/>
          </a:p>
        </p:txBody>
      </p:sp>
      <p:sp>
        <p:nvSpPr>
          <p:cNvPr id="4" name="Footer Placeholder 3">
            <a:extLst>
              <a:ext uri="{FF2B5EF4-FFF2-40B4-BE49-F238E27FC236}">
                <a16:creationId xmlns:a16="http://schemas.microsoft.com/office/drawing/2014/main" id="{03C11C3A-77F3-2814-B00D-D0EFE9A3BF1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033476F-8A86-E332-359C-DD01D6BE1FA5}"/>
              </a:ext>
            </a:extLst>
          </p:cNvPr>
          <p:cNvSpPr>
            <a:spLocks noGrp="1"/>
          </p:cNvSpPr>
          <p:nvPr>
            <p:ph type="sldNum" sz="quarter" idx="12"/>
          </p:nvPr>
        </p:nvSpPr>
        <p:spPr/>
        <p:txBody>
          <a:bodyPr/>
          <a:lstStyle/>
          <a:p>
            <a:fld id="{92AA54DD-D289-429F-8559-FA3702B864FD}" type="slidenum">
              <a:rPr lang="en-US" smtClean="0"/>
              <a:t>‹#›</a:t>
            </a:fld>
            <a:endParaRPr lang="en-US"/>
          </a:p>
        </p:txBody>
      </p:sp>
    </p:spTree>
    <p:extLst>
      <p:ext uri="{BB962C8B-B14F-4D97-AF65-F5344CB8AC3E}">
        <p14:creationId xmlns:p14="http://schemas.microsoft.com/office/powerpoint/2010/main" val="954083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670119-6635-997E-C559-21AD243971B4}"/>
              </a:ext>
            </a:extLst>
          </p:cNvPr>
          <p:cNvSpPr>
            <a:spLocks noGrp="1"/>
          </p:cNvSpPr>
          <p:nvPr>
            <p:ph type="dt" sz="half" idx="10"/>
          </p:nvPr>
        </p:nvSpPr>
        <p:spPr/>
        <p:txBody>
          <a:bodyPr/>
          <a:lstStyle/>
          <a:p>
            <a:fld id="{4EE06C3E-BA30-4128-B864-A1E2B9E3792F}" type="datetimeFigureOut">
              <a:rPr lang="en-US" smtClean="0"/>
              <a:t>12/6/2025</a:t>
            </a:fld>
            <a:endParaRPr lang="en-US"/>
          </a:p>
        </p:txBody>
      </p:sp>
      <p:sp>
        <p:nvSpPr>
          <p:cNvPr id="3" name="Footer Placeholder 2">
            <a:extLst>
              <a:ext uri="{FF2B5EF4-FFF2-40B4-BE49-F238E27FC236}">
                <a16:creationId xmlns:a16="http://schemas.microsoft.com/office/drawing/2014/main" id="{679D6311-B3F8-7841-1149-86CD8D44AA3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5B184A6-958E-8817-E16D-9F0FA610D826}"/>
              </a:ext>
            </a:extLst>
          </p:cNvPr>
          <p:cNvSpPr>
            <a:spLocks noGrp="1"/>
          </p:cNvSpPr>
          <p:nvPr>
            <p:ph type="sldNum" sz="quarter" idx="12"/>
          </p:nvPr>
        </p:nvSpPr>
        <p:spPr/>
        <p:txBody>
          <a:bodyPr/>
          <a:lstStyle/>
          <a:p>
            <a:fld id="{92AA54DD-D289-429F-8559-FA3702B864FD}" type="slidenum">
              <a:rPr lang="en-US" smtClean="0"/>
              <a:t>‹#›</a:t>
            </a:fld>
            <a:endParaRPr lang="en-US"/>
          </a:p>
        </p:txBody>
      </p:sp>
    </p:spTree>
    <p:extLst>
      <p:ext uri="{BB962C8B-B14F-4D97-AF65-F5344CB8AC3E}">
        <p14:creationId xmlns:p14="http://schemas.microsoft.com/office/powerpoint/2010/main" val="3257817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9D252-024C-463A-1AD3-F2A3A07851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209E30-7DC6-E16C-EFE9-84DAD6DBAB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5FD5B-3369-8AB9-AE7E-FE440EBD20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EFC504-4DD9-0C2F-762D-167EF7BE17B2}"/>
              </a:ext>
            </a:extLst>
          </p:cNvPr>
          <p:cNvSpPr>
            <a:spLocks noGrp="1"/>
          </p:cNvSpPr>
          <p:nvPr>
            <p:ph type="dt" sz="half" idx="10"/>
          </p:nvPr>
        </p:nvSpPr>
        <p:spPr/>
        <p:txBody>
          <a:bodyPr/>
          <a:lstStyle/>
          <a:p>
            <a:fld id="{4EE06C3E-BA30-4128-B864-A1E2B9E3792F}" type="datetimeFigureOut">
              <a:rPr lang="en-US" smtClean="0"/>
              <a:t>12/6/2025</a:t>
            </a:fld>
            <a:endParaRPr lang="en-US"/>
          </a:p>
        </p:txBody>
      </p:sp>
      <p:sp>
        <p:nvSpPr>
          <p:cNvPr id="6" name="Footer Placeholder 5">
            <a:extLst>
              <a:ext uri="{FF2B5EF4-FFF2-40B4-BE49-F238E27FC236}">
                <a16:creationId xmlns:a16="http://schemas.microsoft.com/office/drawing/2014/main" id="{D508E608-C2D3-9220-6E5D-B04720485A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10959A-EF95-FC57-6CAA-F9E56E52A6CA}"/>
              </a:ext>
            </a:extLst>
          </p:cNvPr>
          <p:cNvSpPr>
            <a:spLocks noGrp="1"/>
          </p:cNvSpPr>
          <p:nvPr>
            <p:ph type="sldNum" sz="quarter" idx="12"/>
          </p:nvPr>
        </p:nvSpPr>
        <p:spPr/>
        <p:txBody>
          <a:bodyPr/>
          <a:lstStyle/>
          <a:p>
            <a:fld id="{92AA54DD-D289-429F-8559-FA3702B864FD}" type="slidenum">
              <a:rPr lang="en-US" smtClean="0"/>
              <a:t>‹#›</a:t>
            </a:fld>
            <a:endParaRPr lang="en-US"/>
          </a:p>
        </p:txBody>
      </p:sp>
    </p:spTree>
    <p:extLst>
      <p:ext uri="{BB962C8B-B14F-4D97-AF65-F5344CB8AC3E}">
        <p14:creationId xmlns:p14="http://schemas.microsoft.com/office/powerpoint/2010/main" val="3409815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3BDD1-56D1-53F3-49F6-D8150E46A8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450A36F-78FF-8999-7BFD-289DBF8B47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E115990-2867-92C8-4423-FA5ADDD02F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A7CED9-1411-8CA2-A5E1-B7BFBA8CEC03}"/>
              </a:ext>
            </a:extLst>
          </p:cNvPr>
          <p:cNvSpPr>
            <a:spLocks noGrp="1"/>
          </p:cNvSpPr>
          <p:nvPr>
            <p:ph type="dt" sz="half" idx="10"/>
          </p:nvPr>
        </p:nvSpPr>
        <p:spPr/>
        <p:txBody>
          <a:bodyPr/>
          <a:lstStyle/>
          <a:p>
            <a:fld id="{4EE06C3E-BA30-4128-B864-A1E2B9E3792F}" type="datetimeFigureOut">
              <a:rPr lang="en-US" smtClean="0"/>
              <a:t>12/6/2025</a:t>
            </a:fld>
            <a:endParaRPr lang="en-US"/>
          </a:p>
        </p:txBody>
      </p:sp>
      <p:sp>
        <p:nvSpPr>
          <p:cNvPr id="6" name="Footer Placeholder 5">
            <a:extLst>
              <a:ext uri="{FF2B5EF4-FFF2-40B4-BE49-F238E27FC236}">
                <a16:creationId xmlns:a16="http://schemas.microsoft.com/office/drawing/2014/main" id="{6167AC93-975A-9EFC-256D-5B845FE3F5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BD31D8-3191-5EE1-0B5B-A76AE3DAD18E}"/>
              </a:ext>
            </a:extLst>
          </p:cNvPr>
          <p:cNvSpPr>
            <a:spLocks noGrp="1"/>
          </p:cNvSpPr>
          <p:nvPr>
            <p:ph type="sldNum" sz="quarter" idx="12"/>
          </p:nvPr>
        </p:nvSpPr>
        <p:spPr/>
        <p:txBody>
          <a:bodyPr/>
          <a:lstStyle/>
          <a:p>
            <a:fld id="{92AA54DD-D289-429F-8559-FA3702B864FD}" type="slidenum">
              <a:rPr lang="en-US" smtClean="0"/>
              <a:t>‹#›</a:t>
            </a:fld>
            <a:endParaRPr lang="en-US"/>
          </a:p>
        </p:txBody>
      </p:sp>
    </p:spTree>
    <p:extLst>
      <p:ext uri="{BB962C8B-B14F-4D97-AF65-F5344CB8AC3E}">
        <p14:creationId xmlns:p14="http://schemas.microsoft.com/office/powerpoint/2010/main" val="1555406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801-8673-C2DB-354E-FA04C453B19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06BC806-09BE-D5FE-7846-448E8E6A34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FAB660-DAC4-EC4F-560C-59D31CA4315D}"/>
              </a:ext>
            </a:extLst>
          </p:cNvPr>
          <p:cNvSpPr>
            <a:spLocks noGrp="1"/>
          </p:cNvSpPr>
          <p:nvPr>
            <p:ph type="dt" sz="half" idx="10"/>
          </p:nvPr>
        </p:nvSpPr>
        <p:spPr/>
        <p:txBody>
          <a:bodyPr/>
          <a:lstStyle/>
          <a:p>
            <a:fld id="{4EE06C3E-BA30-4128-B864-A1E2B9E3792F}" type="datetimeFigureOut">
              <a:rPr lang="en-US" smtClean="0"/>
              <a:t>12/6/2025</a:t>
            </a:fld>
            <a:endParaRPr lang="en-US"/>
          </a:p>
        </p:txBody>
      </p:sp>
      <p:sp>
        <p:nvSpPr>
          <p:cNvPr id="5" name="Footer Placeholder 4">
            <a:extLst>
              <a:ext uri="{FF2B5EF4-FFF2-40B4-BE49-F238E27FC236}">
                <a16:creationId xmlns:a16="http://schemas.microsoft.com/office/drawing/2014/main" id="{ED08EAEE-8D5D-324C-BE74-FEDC1C4A34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201FB2-FEB7-1165-32FC-C739B8A04448}"/>
              </a:ext>
            </a:extLst>
          </p:cNvPr>
          <p:cNvSpPr>
            <a:spLocks noGrp="1"/>
          </p:cNvSpPr>
          <p:nvPr>
            <p:ph type="sldNum" sz="quarter" idx="12"/>
          </p:nvPr>
        </p:nvSpPr>
        <p:spPr/>
        <p:txBody>
          <a:bodyPr/>
          <a:lstStyle/>
          <a:p>
            <a:fld id="{92AA54DD-D289-429F-8559-FA3702B864FD}" type="slidenum">
              <a:rPr lang="en-US" smtClean="0"/>
              <a:t>‹#›</a:t>
            </a:fld>
            <a:endParaRPr lang="en-US"/>
          </a:p>
        </p:txBody>
      </p:sp>
    </p:spTree>
    <p:extLst>
      <p:ext uri="{BB962C8B-B14F-4D97-AF65-F5344CB8AC3E}">
        <p14:creationId xmlns:p14="http://schemas.microsoft.com/office/powerpoint/2010/main" val="1659420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5B355D-E955-55C6-5C7F-18E3986837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8B2F2DF-AD6E-7E2A-B9B7-C0609718B2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5BEFF9-68C1-A944-293A-524406DED9D9}"/>
              </a:ext>
            </a:extLst>
          </p:cNvPr>
          <p:cNvSpPr>
            <a:spLocks noGrp="1"/>
          </p:cNvSpPr>
          <p:nvPr>
            <p:ph type="dt" sz="half" idx="10"/>
          </p:nvPr>
        </p:nvSpPr>
        <p:spPr/>
        <p:txBody>
          <a:bodyPr/>
          <a:lstStyle/>
          <a:p>
            <a:fld id="{4EE06C3E-BA30-4128-B864-A1E2B9E3792F}" type="datetimeFigureOut">
              <a:rPr lang="en-US" smtClean="0"/>
              <a:t>12/6/2025</a:t>
            </a:fld>
            <a:endParaRPr lang="en-US"/>
          </a:p>
        </p:txBody>
      </p:sp>
      <p:sp>
        <p:nvSpPr>
          <p:cNvPr id="5" name="Footer Placeholder 4">
            <a:extLst>
              <a:ext uri="{FF2B5EF4-FFF2-40B4-BE49-F238E27FC236}">
                <a16:creationId xmlns:a16="http://schemas.microsoft.com/office/drawing/2014/main" id="{893202AA-1E2E-0AA6-169A-5DEB955653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2ECCD1-AB51-4799-0BB9-F9A4FF00911A}"/>
              </a:ext>
            </a:extLst>
          </p:cNvPr>
          <p:cNvSpPr>
            <a:spLocks noGrp="1"/>
          </p:cNvSpPr>
          <p:nvPr>
            <p:ph type="sldNum" sz="quarter" idx="12"/>
          </p:nvPr>
        </p:nvSpPr>
        <p:spPr/>
        <p:txBody>
          <a:bodyPr/>
          <a:lstStyle/>
          <a:p>
            <a:fld id="{92AA54DD-D289-429F-8559-FA3702B864FD}" type="slidenum">
              <a:rPr lang="en-US" smtClean="0"/>
              <a:t>‹#›</a:t>
            </a:fld>
            <a:endParaRPr lang="en-US"/>
          </a:p>
        </p:txBody>
      </p:sp>
    </p:spTree>
    <p:extLst>
      <p:ext uri="{BB962C8B-B14F-4D97-AF65-F5344CB8AC3E}">
        <p14:creationId xmlns:p14="http://schemas.microsoft.com/office/powerpoint/2010/main" val="65010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44299F-3258-4514-AAD7-3FF7F3FFFF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C488072-0C5B-D062-84BA-D17A5CCB23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DA7F52-693D-A1D0-C214-CB3965BBE8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E06C3E-BA30-4128-B864-A1E2B9E3792F}" type="datetimeFigureOut">
              <a:rPr lang="en-US" smtClean="0"/>
              <a:t>12/6/2025</a:t>
            </a:fld>
            <a:endParaRPr lang="en-US"/>
          </a:p>
        </p:txBody>
      </p:sp>
      <p:sp>
        <p:nvSpPr>
          <p:cNvPr id="5" name="Footer Placeholder 4">
            <a:extLst>
              <a:ext uri="{FF2B5EF4-FFF2-40B4-BE49-F238E27FC236}">
                <a16:creationId xmlns:a16="http://schemas.microsoft.com/office/drawing/2014/main" id="{77A8E34E-53CA-B5CC-8D2C-8094653B3D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DAB2758-07E1-8F10-612A-D98AEA8331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2AA54DD-D289-429F-8559-FA3702B864FD}" type="slidenum">
              <a:rPr lang="en-US" smtClean="0"/>
              <a:t>‹#›</a:t>
            </a:fld>
            <a:endParaRPr lang="en-US"/>
          </a:p>
        </p:txBody>
      </p:sp>
    </p:spTree>
    <p:extLst>
      <p:ext uri="{BB962C8B-B14F-4D97-AF65-F5344CB8AC3E}">
        <p14:creationId xmlns:p14="http://schemas.microsoft.com/office/powerpoint/2010/main" val="21863345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kaggle.com/datasets/rodsaldanha/arketing-campaign"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ibm.com/think/topics/logistic-regression" TargetMode="External"/><Relationship Id="rId2" Type="http://schemas.openxmlformats.org/officeDocument/2006/relationships/hyperlink" Target="https://www.geeksforgeeks.org/machine-learning/understanding-logistic-regression/" TargetMode="External"/><Relationship Id="rId1" Type="http://schemas.openxmlformats.org/officeDocument/2006/relationships/slideLayout" Target="../slideLayouts/slideLayout2.xml"/><Relationship Id="rId4" Type="http://schemas.openxmlformats.org/officeDocument/2006/relationships/hyperlink" Target="https://machinelearningmastery.com/logistic-regression-for-machine-learn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7C00B-B846-181C-5FC6-7AE9EF46E772}"/>
              </a:ext>
            </a:extLst>
          </p:cNvPr>
          <p:cNvSpPr>
            <a:spLocks noGrp="1"/>
          </p:cNvSpPr>
          <p:nvPr>
            <p:ph type="ctrTitle"/>
          </p:nvPr>
        </p:nvSpPr>
        <p:spPr/>
        <p:txBody>
          <a:bodyPr/>
          <a:lstStyle/>
          <a:p>
            <a:r>
              <a:rPr lang="en-US" dirty="0"/>
              <a:t>MLP (Multi Layer Perception)</a:t>
            </a:r>
          </a:p>
        </p:txBody>
      </p:sp>
      <p:sp>
        <p:nvSpPr>
          <p:cNvPr id="3" name="Subtitle 2">
            <a:extLst>
              <a:ext uri="{FF2B5EF4-FFF2-40B4-BE49-F238E27FC236}">
                <a16:creationId xmlns:a16="http://schemas.microsoft.com/office/drawing/2014/main" id="{A8DC9C5A-CD76-101F-C3E8-81738B736BD8}"/>
              </a:ext>
            </a:extLst>
          </p:cNvPr>
          <p:cNvSpPr>
            <a:spLocks noGrp="1"/>
          </p:cNvSpPr>
          <p:nvPr>
            <p:ph type="subTitle" idx="1"/>
          </p:nvPr>
        </p:nvSpPr>
        <p:spPr/>
        <p:txBody>
          <a:bodyPr/>
          <a:lstStyle/>
          <a:p>
            <a:r>
              <a:rPr lang="en-US" dirty="0"/>
              <a:t>Pranaav Paladugu and Oliver </a:t>
            </a:r>
            <a:r>
              <a:rPr lang="en-US" dirty="0" err="1"/>
              <a:t>Grudinski</a:t>
            </a:r>
            <a:endParaRPr lang="en-US" dirty="0"/>
          </a:p>
        </p:txBody>
      </p:sp>
    </p:spTree>
    <p:extLst>
      <p:ext uri="{BB962C8B-B14F-4D97-AF65-F5344CB8AC3E}">
        <p14:creationId xmlns:p14="http://schemas.microsoft.com/office/powerpoint/2010/main" val="31832521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3ECE6-CABE-CC1D-EBE7-6D6E6E1796BF}"/>
              </a:ext>
            </a:extLst>
          </p:cNvPr>
          <p:cNvSpPr>
            <a:spLocks noGrp="1"/>
          </p:cNvSpPr>
          <p:nvPr>
            <p:ph type="title"/>
          </p:nvPr>
        </p:nvSpPr>
        <p:spPr/>
        <p:txBody>
          <a:bodyPr>
            <a:normAutofit/>
          </a:bodyPr>
          <a:lstStyle/>
          <a:p>
            <a:r>
              <a:rPr lang="en-US" sz="4000" dirty="0"/>
              <a:t>Overview of the Algorithm – Name and Purpose</a:t>
            </a:r>
          </a:p>
        </p:txBody>
      </p:sp>
      <p:sp>
        <p:nvSpPr>
          <p:cNvPr id="3" name="Content Placeholder 2">
            <a:extLst>
              <a:ext uri="{FF2B5EF4-FFF2-40B4-BE49-F238E27FC236}">
                <a16:creationId xmlns:a16="http://schemas.microsoft.com/office/drawing/2014/main" id="{6CC6F660-7427-125C-3AA8-052E9EBA96DA}"/>
              </a:ext>
            </a:extLst>
          </p:cNvPr>
          <p:cNvSpPr>
            <a:spLocks noGrp="1"/>
          </p:cNvSpPr>
          <p:nvPr>
            <p:ph idx="1"/>
          </p:nvPr>
        </p:nvSpPr>
        <p:spPr/>
        <p:txBody>
          <a:bodyPr/>
          <a:lstStyle/>
          <a:p>
            <a:r>
              <a:rPr lang="en-US" dirty="0"/>
              <a:t>The algorithm is called a Multi-Layer Perceptron (MLP), which is used to solve Classification problems (e.g., binary and multi-class classification) and Regression problems (predicting continuous values).</a:t>
            </a:r>
          </a:p>
        </p:txBody>
      </p:sp>
    </p:spTree>
    <p:extLst>
      <p:ext uri="{BB962C8B-B14F-4D97-AF65-F5344CB8AC3E}">
        <p14:creationId xmlns:p14="http://schemas.microsoft.com/office/powerpoint/2010/main" val="604035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31479-9AED-E149-3718-EA36BD302323}"/>
              </a:ext>
            </a:extLst>
          </p:cNvPr>
          <p:cNvSpPr>
            <a:spLocks noGrp="1"/>
          </p:cNvSpPr>
          <p:nvPr>
            <p:ph type="title"/>
          </p:nvPr>
        </p:nvSpPr>
        <p:spPr/>
        <p:txBody>
          <a:bodyPr>
            <a:normAutofit/>
          </a:bodyPr>
          <a:lstStyle/>
          <a:p>
            <a:r>
              <a:rPr lang="en-US" sz="4000" dirty="0"/>
              <a:t>Overview of the Algorithm – Background</a:t>
            </a:r>
          </a:p>
        </p:txBody>
      </p:sp>
      <p:sp>
        <p:nvSpPr>
          <p:cNvPr id="3" name="Content Placeholder 2">
            <a:extLst>
              <a:ext uri="{FF2B5EF4-FFF2-40B4-BE49-F238E27FC236}">
                <a16:creationId xmlns:a16="http://schemas.microsoft.com/office/drawing/2014/main" id="{BA03F530-C1C7-DAF3-A853-44EE8E687581}"/>
              </a:ext>
            </a:extLst>
          </p:cNvPr>
          <p:cNvSpPr>
            <a:spLocks noGrp="1"/>
          </p:cNvSpPr>
          <p:nvPr>
            <p:ph idx="1"/>
          </p:nvPr>
        </p:nvSpPr>
        <p:spPr>
          <a:xfrm>
            <a:off x="838200" y="1825625"/>
            <a:ext cx="10603230" cy="4351338"/>
          </a:xfrm>
        </p:spPr>
        <p:txBody>
          <a:bodyPr>
            <a:normAutofit/>
          </a:bodyPr>
          <a:lstStyle/>
          <a:p>
            <a:r>
              <a:rPr lang="en-US" dirty="0"/>
              <a:t>The first perceptron was introduced by Frank Rosenblatt in 1958.</a:t>
            </a:r>
          </a:p>
          <a:p>
            <a:r>
              <a:rPr lang="en-US" dirty="0"/>
              <a:t>In the 1980s, Geoffrey Hinton, David Rumelhart, and Ronald Williams developed the algorithm, which enabled MLPs to be trained effectively.</a:t>
            </a:r>
          </a:p>
          <a:p>
            <a:pPr marL="0" indent="0">
              <a:buNone/>
            </a:pPr>
            <a:r>
              <a:rPr lang="en-US" dirty="0"/>
              <a:t>The purpose of developing the MLP was to create a computational model inspired by biological neurons, allowing machines to learn complex, non-linear patterns.</a:t>
            </a:r>
          </a:p>
          <a:p>
            <a:pPr marL="0" indent="0">
              <a:buNone/>
            </a:pPr>
            <a:endParaRPr lang="en-US" dirty="0"/>
          </a:p>
        </p:txBody>
      </p:sp>
    </p:spTree>
    <p:extLst>
      <p:ext uri="{BB962C8B-B14F-4D97-AF65-F5344CB8AC3E}">
        <p14:creationId xmlns:p14="http://schemas.microsoft.com/office/powerpoint/2010/main" val="4154368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69FFC-7E1D-FF78-097C-112BE1B1AC20}"/>
              </a:ext>
            </a:extLst>
          </p:cNvPr>
          <p:cNvSpPr>
            <a:spLocks noGrp="1"/>
          </p:cNvSpPr>
          <p:nvPr>
            <p:ph type="title"/>
          </p:nvPr>
        </p:nvSpPr>
        <p:spPr/>
        <p:txBody>
          <a:bodyPr/>
          <a:lstStyle/>
          <a:p>
            <a:r>
              <a:rPr lang="en-US" dirty="0"/>
              <a:t>Overview of the Algorithm – Applications</a:t>
            </a:r>
          </a:p>
        </p:txBody>
      </p:sp>
      <p:sp>
        <p:nvSpPr>
          <p:cNvPr id="3" name="Content Placeholder 2">
            <a:extLst>
              <a:ext uri="{FF2B5EF4-FFF2-40B4-BE49-F238E27FC236}">
                <a16:creationId xmlns:a16="http://schemas.microsoft.com/office/drawing/2014/main" id="{2150CCE4-E51C-BAF9-2158-6A84BE66E09C}"/>
              </a:ext>
            </a:extLst>
          </p:cNvPr>
          <p:cNvSpPr>
            <a:spLocks noGrp="1"/>
          </p:cNvSpPr>
          <p:nvPr>
            <p:ph idx="1"/>
          </p:nvPr>
        </p:nvSpPr>
        <p:spPr/>
        <p:txBody>
          <a:bodyPr/>
          <a:lstStyle/>
          <a:p>
            <a:pPr marL="0" indent="0">
              <a:lnSpc>
                <a:spcPct val="150000"/>
              </a:lnSpc>
              <a:buNone/>
            </a:pPr>
            <a:r>
              <a:rPr lang="en-US" dirty="0"/>
              <a:t>It is commonly used for:</a:t>
            </a:r>
          </a:p>
          <a:p>
            <a:pPr>
              <a:lnSpc>
                <a:spcPct val="150000"/>
              </a:lnSpc>
            </a:pPr>
            <a:r>
              <a:rPr lang="en-US" dirty="0"/>
              <a:t>Image-Based Tasks - Handwritten digit recognition</a:t>
            </a:r>
          </a:p>
          <a:p>
            <a:pPr>
              <a:lnSpc>
                <a:spcPct val="150000"/>
              </a:lnSpc>
            </a:pPr>
            <a:r>
              <a:rPr lang="en-US" dirty="0"/>
              <a:t>Finance &amp; Business - Fraud detection</a:t>
            </a:r>
          </a:p>
          <a:p>
            <a:pPr>
              <a:lnSpc>
                <a:spcPct val="150000"/>
              </a:lnSpc>
            </a:pPr>
            <a:r>
              <a:rPr lang="en-US" dirty="0"/>
              <a:t>Medicine &amp; Healthcare - Disease prediction</a:t>
            </a:r>
          </a:p>
          <a:p>
            <a:pPr>
              <a:lnSpc>
                <a:spcPct val="150000"/>
              </a:lnSpc>
            </a:pPr>
            <a:r>
              <a:rPr lang="en-US" dirty="0"/>
              <a:t>Time-Series &amp; Forecasting - Stock movement prediction</a:t>
            </a:r>
          </a:p>
          <a:p>
            <a:endParaRPr lang="en-US" dirty="0"/>
          </a:p>
        </p:txBody>
      </p:sp>
    </p:spTree>
    <p:extLst>
      <p:ext uri="{BB962C8B-B14F-4D97-AF65-F5344CB8AC3E}">
        <p14:creationId xmlns:p14="http://schemas.microsoft.com/office/powerpoint/2010/main" val="31164820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6B9C2-A667-2745-991B-C2AD13450D20}"/>
              </a:ext>
            </a:extLst>
          </p:cNvPr>
          <p:cNvSpPr>
            <a:spLocks noGrp="1"/>
          </p:cNvSpPr>
          <p:nvPr>
            <p:ph type="title"/>
          </p:nvPr>
        </p:nvSpPr>
        <p:spPr/>
        <p:txBody>
          <a:bodyPr/>
          <a:lstStyle/>
          <a:p>
            <a:r>
              <a:rPr lang="en-US" dirty="0"/>
              <a:t>Problem Type</a:t>
            </a:r>
          </a:p>
        </p:txBody>
      </p:sp>
      <p:sp>
        <p:nvSpPr>
          <p:cNvPr id="3" name="Content Placeholder 2">
            <a:extLst>
              <a:ext uri="{FF2B5EF4-FFF2-40B4-BE49-F238E27FC236}">
                <a16:creationId xmlns:a16="http://schemas.microsoft.com/office/drawing/2014/main" id="{71044CA0-2FB0-7245-8B0E-A4BB441F9607}"/>
              </a:ext>
            </a:extLst>
          </p:cNvPr>
          <p:cNvSpPr>
            <a:spLocks noGrp="1"/>
          </p:cNvSpPr>
          <p:nvPr>
            <p:ph idx="1"/>
          </p:nvPr>
        </p:nvSpPr>
        <p:spPr/>
        <p:txBody>
          <a:bodyPr>
            <a:normAutofit/>
          </a:bodyPr>
          <a:lstStyle/>
          <a:p>
            <a:r>
              <a:rPr lang="en-US" dirty="0"/>
              <a:t>A Multi-Layer Perceptron (MLP) is a category of supervised learning, specifically in use for both classification and regression tasks.</a:t>
            </a:r>
          </a:p>
          <a:p>
            <a:r>
              <a:rPr lang="en-US" dirty="0"/>
              <a:t>In supervised learning, the model is trained on labeled data, meaning each input example has a corresponding known output.</a:t>
            </a:r>
          </a:p>
          <a:p>
            <a:r>
              <a:rPr lang="en-US" dirty="0"/>
              <a:t>The MLP uses these labeled examples to learn the underlying patterns by adjusting the weights between neurons.</a:t>
            </a:r>
          </a:p>
          <a:p>
            <a:pPr marL="0" indent="0">
              <a:buNone/>
            </a:pPr>
            <a:endParaRPr lang="en-US" dirty="0"/>
          </a:p>
        </p:txBody>
      </p:sp>
    </p:spTree>
    <p:extLst>
      <p:ext uri="{BB962C8B-B14F-4D97-AF65-F5344CB8AC3E}">
        <p14:creationId xmlns:p14="http://schemas.microsoft.com/office/powerpoint/2010/main" val="702934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6EB0C1-C888-CF8D-394E-BC1885CDFF72}"/>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dirty="0">
                <a:solidFill>
                  <a:srgbClr val="FFFFFF"/>
                </a:solidFill>
                <a:latin typeface="+mj-lt"/>
                <a:ea typeface="+mj-ea"/>
                <a:cs typeface="+mj-cs"/>
              </a:rPr>
              <a:t>How the Algorithm Works?</a:t>
            </a:r>
          </a:p>
        </p:txBody>
      </p:sp>
      <p:pic>
        <p:nvPicPr>
          <p:cNvPr id="4" name="Picture 3" descr="A screenshot of a computer&#10;&#10;AI-generated content may be incorrect.">
            <a:extLst>
              <a:ext uri="{FF2B5EF4-FFF2-40B4-BE49-F238E27FC236}">
                <a16:creationId xmlns:a16="http://schemas.microsoft.com/office/drawing/2014/main" id="{4EEAFFEA-E972-EDB2-B872-E67E6336B670}"/>
              </a:ext>
            </a:extLst>
          </p:cNvPr>
          <p:cNvPicPr>
            <a:picLocks noChangeAspect="1"/>
          </p:cNvPicPr>
          <p:nvPr/>
        </p:nvPicPr>
        <p:blipFill>
          <a:blip r:embed="rId3"/>
          <a:stretch>
            <a:fillRect/>
          </a:stretch>
        </p:blipFill>
        <p:spPr>
          <a:xfrm>
            <a:off x="6504006" y="643466"/>
            <a:ext cx="3327320" cy="5568739"/>
          </a:xfrm>
          <a:prstGeom prst="rect">
            <a:avLst/>
          </a:prstGeom>
        </p:spPr>
      </p:pic>
    </p:spTree>
    <p:extLst>
      <p:ext uri="{BB962C8B-B14F-4D97-AF65-F5344CB8AC3E}">
        <p14:creationId xmlns:p14="http://schemas.microsoft.com/office/powerpoint/2010/main" val="6589347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8FCBE-090B-0160-85D5-1C7259BD897C}"/>
              </a:ext>
            </a:extLst>
          </p:cNvPr>
          <p:cNvSpPr>
            <a:spLocks noGrp="1"/>
          </p:cNvSpPr>
          <p:nvPr>
            <p:ph type="title"/>
          </p:nvPr>
        </p:nvSpPr>
        <p:spPr/>
        <p:txBody>
          <a:bodyPr/>
          <a:lstStyle/>
          <a:p>
            <a:r>
              <a:rPr lang="en-US" dirty="0"/>
              <a:t>Input Features (X₁, X₂, …, Xd)</a:t>
            </a:r>
          </a:p>
        </p:txBody>
      </p:sp>
      <p:sp>
        <p:nvSpPr>
          <p:cNvPr id="3" name="Content Placeholder 2">
            <a:extLst>
              <a:ext uri="{FF2B5EF4-FFF2-40B4-BE49-F238E27FC236}">
                <a16:creationId xmlns:a16="http://schemas.microsoft.com/office/drawing/2014/main" id="{39D52BE1-AF59-1F5D-49AB-76188AAAD8D5}"/>
              </a:ext>
            </a:extLst>
          </p:cNvPr>
          <p:cNvSpPr>
            <a:spLocks noGrp="1"/>
          </p:cNvSpPr>
          <p:nvPr>
            <p:ph idx="1"/>
          </p:nvPr>
        </p:nvSpPr>
        <p:spPr/>
        <p:txBody>
          <a:bodyPr/>
          <a:lstStyle/>
          <a:p>
            <a:pPr marL="0" indent="0">
              <a:buNone/>
            </a:pPr>
            <a:r>
              <a:rPr lang="en-US" dirty="0"/>
              <a:t>These are the measured variables used to make predictions. The full input is a vector </a:t>
            </a:r>
            <a:r>
              <a:rPr lang="en-US" b="1" dirty="0"/>
              <a:t>x </a:t>
            </a:r>
            <a:r>
              <a:rPr lang="en-US" dirty="0"/>
              <a:t>= [X</a:t>
            </a:r>
            <a:r>
              <a:rPr lang="en-US" baseline="-25000" dirty="0"/>
              <a:t>1</a:t>
            </a:r>
            <a:r>
              <a:rPr lang="en-US" dirty="0"/>
              <a:t>,X</a:t>
            </a:r>
            <a:r>
              <a:rPr lang="en-US" baseline="-25000" dirty="0"/>
              <a:t>2</a:t>
            </a:r>
            <a:r>
              <a:rPr lang="en-US" dirty="0"/>
              <a:t>,…,X</a:t>
            </a:r>
            <a:r>
              <a:rPr lang="en-US" baseline="-25000" dirty="0"/>
              <a:t>d</a:t>
            </a:r>
            <a:r>
              <a:rPr lang="en-US" dirty="0"/>
              <a:t>]</a:t>
            </a:r>
            <a:r>
              <a:rPr lang="en-US" baseline="30000" dirty="0"/>
              <a:t>T</a:t>
            </a:r>
            <a:r>
              <a:rPr lang="en-US" dirty="0"/>
              <a:t>.</a:t>
            </a:r>
          </a:p>
          <a:p>
            <a:pPr marL="0" indent="0">
              <a:buNone/>
            </a:pPr>
            <a:endParaRPr lang="en-US" baseline="30000" dirty="0"/>
          </a:p>
          <a:p>
            <a:pPr marL="0" indent="0">
              <a:buNone/>
            </a:pPr>
            <a:r>
              <a:rPr lang="en-US" dirty="0"/>
              <a:t>Inputs are typically scaled/normalized before entering the network (standardization, min-max).</a:t>
            </a:r>
            <a:endParaRPr lang="en-US" baseline="30000" dirty="0"/>
          </a:p>
        </p:txBody>
      </p:sp>
    </p:spTree>
    <p:extLst>
      <p:ext uri="{BB962C8B-B14F-4D97-AF65-F5344CB8AC3E}">
        <p14:creationId xmlns:p14="http://schemas.microsoft.com/office/powerpoint/2010/main" val="2666262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C7205-B12C-F57B-5096-B7B6FAB1F39F}"/>
              </a:ext>
            </a:extLst>
          </p:cNvPr>
          <p:cNvSpPr>
            <a:spLocks noGrp="1"/>
          </p:cNvSpPr>
          <p:nvPr>
            <p:ph type="title"/>
          </p:nvPr>
        </p:nvSpPr>
        <p:spPr/>
        <p:txBody>
          <a:bodyPr/>
          <a:lstStyle/>
          <a:p>
            <a:r>
              <a:rPr lang="en-US" dirty="0"/>
              <a:t>Input Layer Neurons</a:t>
            </a:r>
          </a:p>
        </p:txBody>
      </p:sp>
      <p:sp>
        <p:nvSpPr>
          <p:cNvPr id="3" name="Content Placeholder 2">
            <a:extLst>
              <a:ext uri="{FF2B5EF4-FFF2-40B4-BE49-F238E27FC236}">
                <a16:creationId xmlns:a16="http://schemas.microsoft.com/office/drawing/2014/main" id="{86B4E998-9D0E-BA74-A6AD-5F55014741B7}"/>
              </a:ext>
            </a:extLst>
          </p:cNvPr>
          <p:cNvSpPr>
            <a:spLocks noGrp="1"/>
          </p:cNvSpPr>
          <p:nvPr>
            <p:ph idx="1"/>
          </p:nvPr>
        </p:nvSpPr>
        <p:spPr/>
        <p:txBody>
          <a:bodyPr/>
          <a:lstStyle/>
          <a:p>
            <a:pPr marL="0" indent="0">
              <a:buNone/>
            </a:pPr>
            <a:r>
              <a:rPr lang="en-US" dirty="0"/>
              <a:t>This is just a layer that receives the input vector and passes it to the network.</a:t>
            </a:r>
          </a:p>
          <a:p>
            <a:pPr marL="0" indent="0">
              <a:buNone/>
            </a:pPr>
            <a:r>
              <a:rPr lang="en-US" dirty="0"/>
              <a:t>- No trainable parameters here.</a:t>
            </a:r>
          </a:p>
          <a:p>
            <a:pPr marL="0" indent="0">
              <a:buNone/>
            </a:pPr>
            <a:r>
              <a:rPr lang="en-US" dirty="0"/>
              <a:t>- If using mini-batches with </a:t>
            </a:r>
            <a:r>
              <a:rPr lang="en-US" i="1" dirty="0"/>
              <a:t>m</a:t>
            </a:r>
            <a:r>
              <a:rPr lang="en-US" dirty="0"/>
              <a:t> examples, the input batch shape is </a:t>
            </a:r>
            <a:r>
              <a:rPr lang="en-US" i="1" dirty="0"/>
              <a:t>m</a:t>
            </a:r>
            <a:r>
              <a:rPr lang="en-US" dirty="0"/>
              <a:t> X d.</a:t>
            </a:r>
          </a:p>
          <a:p>
            <a:endParaRPr lang="en-US" dirty="0"/>
          </a:p>
        </p:txBody>
      </p:sp>
    </p:spTree>
    <p:extLst>
      <p:ext uri="{BB962C8B-B14F-4D97-AF65-F5344CB8AC3E}">
        <p14:creationId xmlns:p14="http://schemas.microsoft.com/office/powerpoint/2010/main" val="27990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BAE7C-1CD7-77C3-9377-51FC2AC3F6DA}"/>
              </a:ext>
            </a:extLst>
          </p:cNvPr>
          <p:cNvSpPr>
            <a:spLocks noGrp="1"/>
          </p:cNvSpPr>
          <p:nvPr>
            <p:ph type="title"/>
          </p:nvPr>
        </p:nvSpPr>
        <p:spPr/>
        <p:txBody>
          <a:bodyPr/>
          <a:lstStyle/>
          <a:p>
            <a:r>
              <a:rPr lang="en-US" dirty="0"/>
              <a:t>Hidden Layer 1 — Weighted Sum + Activation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7B5ADCC-EFEE-8D9D-A1EC-4EFCAB7F111E}"/>
                  </a:ext>
                </a:extLst>
              </p:cNvPr>
              <p:cNvSpPr>
                <a:spLocks noGrp="1"/>
              </p:cNvSpPr>
              <p:nvPr>
                <p:ph idx="1"/>
              </p:nvPr>
            </p:nvSpPr>
            <p:spPr/>
            <p:txBody>
              <a:bodyPr/>
              <a:lstStyle/>
              <a:p>
                <a:pPr marL="0" indent="0">
                  <a:buNone/>
                </a:pPr>
                <a:r>
                  <a:rPr lang="en-US" dirty="0"/>
                  <a:t>z = </a:t>
                </a:r>
                <a:r>
                  <a:rPr lang="en-US" dirty="0" err="1"/>
                  <a:t>Wx</a:t>
                </a:r>
                <a:r>
                  <a:rPr lang="en-US" dirty="0"/>
                  <a:t> +b </a:t>
                </a:r>
              </a:p>
              <a:p>
                <a:pPr lvl="0"/>
                <a:r>
                  <a:rPr lang="en-US" dirty="0"/>
                  <a:t>W shape: h</a:t>
                </a:r>
                <a:r>
                  <a:rPr lang="en-US" i="1" baseline="-25000" dirty="0"/>
                  <a:t>1 </a:t>
                </a:r>
                <a:r>
                  <a:rPr lang="en-US" dirty="0"/>
                  <a:t>X d</a:t>
                </a:r>
                <a:r>
                  <a:rPr lang="en-US" i="1" dirty="0"/>
                  <a:t> </a:t>
                </a:r>
                <a:r>
                  <a:rPr lang="en-US" dirty="0"/>
                  <a:t>here h</a:t>
                </a:r>
                <a:r>
                  <a:rPr lang="en-US" i="1" baseline="-25000" dirty="0"/>
                  <a:t>1 </a:t>
                </a:r>
                <a:r>
                  <a:rPr lang="en-US" dirty="0"/>
                  <a:t>number of neurons in hidden layer 1.</a:t>
                </a:r>
              </a:p>
              <a:p>
                <a:r>
                  <a:rPr lang="en-US" dirty="0"/>
                  <a:t>b</a:t>
                </a:r>
                <a14:m>
                  <m:oMath xmlns:m="http://schemas.openxmlformats.org/officeDocument/2006/math">
                    <m:r>
                      <a:rPr lang="ar-AE" i="1" smtClean="0"/>
                      <m:t> </m:t>
                    </m:r>
                  </m:oMath>
                </a14:m>
                <a:r>
                  <a:rPr lang="en-US" dirty="0"/>
                  <a:t>shape: h</a:t>
                </a:r>
                <a:r>
                  <a:rPr lang="en-US" i="1" baseline="-25000" dirty="0"/>
                  <a:t>1 </a:t>
                </a:r>
                <a:r>
                  <a:rPr lang="en-US" dirty="0"/>
                  <a:t>X 1.</a:t>
                </a:r>
                <a:endParaRPr lang="ar-AE" dirty="0"/>
              </a:p>
              <a:p>
                <a:r>
                  <a:rPr lang="en-US" dirty="0"/>
                  <a:t>Output z shape: h</a:t>
                </a:r>
                <a:r>
                  <a:rPr lang="en-US" i="1" baseline="-25000" dirty="0"/>
                  <a:t>1 </a:t>
                </a:r>
                <a:r>
                  <a:rPr lang="en-US" dirty="0"/>
                  <a:t>X 1.</a:t>
                </a:r>
                <a:endParaRPr lang="ar-AE" dirty="0"/>
              </a:p>
              <a:p>
                <a:endParaRPr lang="en-US" dirty="0"/>
              </a:p>
            </p:txBody>
          </p:sp>
        </mc:Choice>
        <mc:Fallback>
          <p:sp>
            <p:nvSpPr>
              <p:cNvPr id="3" name="Content Placeholder 2">
                <a:extLst>
                  <a:ext uri="{FF2B5EF4-FFF2-40B4-BE49-F238E27FC236}">
                    <a16:creationId xmlns:a16="http://schemas.microsoft.com/office/drawing/2014/main" id="{E7B5ADCC-EFEE-8D9D-A1EC-4EFCAB7F111E}"/>
                  </a:ext>
                </a:extLst>
              </p:cNvPr>
              <p:cNvSpPr>
                <a:spLocks noGrp="1" noRot="1" noChangeAspect="1" noMove="1" noResize="1" noEditPoints="1" noAdjustHandles="1" noChangeArrowheads="1" noChangeShapeType="1" noTextEdit="1"/>
              </p:cNvSpPr>
              <p:nvPr>
                <p:ph idx="1"/>
              </p:nvPr>
            </p:nvSpPr>
            <p:spPr>
              <a:blipFill>
                <a:blip r:embed="rId3"/>
                <a:stretch>
                  <a:fillRect l="-1217" t="-2381"/>
                </a:stretch>
              </a:blipFill>
            </p:spPr>
            <p:txBody>
              <a:bodyPr/>
              <a:lstStyle/>
              <a:p>
                <a:r>
                  <a:rPr lang="en-US">
                    <a:noFill/>
                  </a:rPr>
                  <a:t> </a:t>
                </a:r>
              </a:p>
            </p:txBody>
          </p:sp>
        </mc:Fallback>
      </mc:AlternateContent>
    </p:spTree>
    <p:extLst>
      <p:ext uri="{BB962C8B-B14F-4D97-AF65-F5344CB8AC3E}">
        <p14:creationId xmlns:p14="http://schemas.microsoft.com/office/powerpoint/2010/main" val="23425368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F35C8-40AC-0FB4-9EDE-86B6C6CEC05D}"/>
              </a:ext>
            </a:extLst>
          </p:cNvPr>
          <p:cNvSpPr>
            <a:spLocks noGrp="1"/>
          </p:cNvSpPr>
          <p:nvPr>
            <p:ph type="title"/>
          </p:nvPr>
        </p:nvSpPr>
        <p:spPr/>
        <p:txBody>
          <a:bodyPr/>
          <a:lstStyle/>
          <a:p>
            <a:r>
              <a:rPr lang="en-US" dirty="0"/>
              <a:t>Hidden Layer 2 (optional)</a:t>
            </a:r>
          </a:p>
        </p:txBody>
      </p:sp>
      <p:sp>
        <p:nvSpPr>
          <p:cNvPr id="3" name="Content Placeholder 2">
            <a:extLst>
              <a:ext uri="{FF2B5EF4-FFF2-40B4-BE49-F238E27FC236}">
                <a16:creationId xmlns:a16="http://schemas.microsoft.com/office/drawing/2014/main" id="{CB96A448-9DC4-AB87-489A-C9855B36AD29}"/>
              </a:ext>
            </a:extLst>
          </p:cNvPr>
          <p:cNvSpPr>
            <a:spLocks noGrp="1"/>
          </p:cNvSpPr>
          <p:nvPr>
            <p:ph idx="1"/>
          </p:nvPr>
        </p:nvSpPr>
        <p:spPr/>
        <p:txBody>
          <a:bodyPr/>
          <a:lstStyle/>
          <a:p>
            <a:pPr marL="0" indent="0">
              <a:buNone/>
            </a:pPr>
            <a:r>
              <a:rPr lang="en-US" dirty="0"/>
              <a:t>If it is used, then it repeats the linear to activation pattern:</a:t>
            </a:r>
          </a:p>
          <a:p>
            <a:r>
              <a:rPr lang="en-US" dirty="0"/>
              <a:t>z = </a:t>
            </a:r>
            <a:r>
              <a:rPr lang="en-US" dirty="0" err="1"/>
              <a:t>Wa</a:t>
            </a:r>
            <a:r>
              <a:rPr lang="en-US" dirty="0"/>
              <a:t> + b, a = </a:t>
            </a:r>
            <a:r>
              <a:rPr lang="el-GR" dirty="0"/>
              <a:t>ϕ(</a:t>
            </a:r>
            <a:r>
              <a:rPr lang="en-US" dirty="0"/>
              <a:t>z)</a:t>
            </a:r>
          </a:p>
          <a:p>
            <a:pPr marL="0" indent="0">
              <a:buNone/>
            </a:pPr>
            <a:endParaRPr lang="ar-AE" dirty="0"/>
          </a:p>
          <a:p>
            <a:pPr marL="0" indent="0">
              <a:buNone/>
            </a:pPr>
            <a:endParaRPr lang="en-US" dirty="0"/>
          </a:p>
        </p:txBody>
      </p:sp>
    </p:spTree>
    <p:extLst>
      <p:ext uri="{BB962C8B-B14F-4D97-AF65-F5344CB8AC3E}">
        <p14:creationId xmlns:p14="http://schemas.microsoft.com/office/powerpoint/2010/main" val="42074236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51294-96B9-324F-469F-20ED40F37279}"/>
              </a:ext>
            </a:extLst>
          </p:cNvPr>
          <p:cNvSpPr>
            <a:spLocks noGrp="1"/>
          </p:cNvSpPr>
          <p:nvPr>
            <p:ph type="title"/>
          </p:nvPr>
        </p:nvSpPr>
        <p:spPr/>
        <p:txBody>
          <a:bodyPr/>
          <a:lstStyle/>
          <a:p>
            <a:r>
              <a:rPr lang="en-US" dirty="0"/>
              <a:t>Output Neuron (Sigmoid for Probability)</a:t>
            </a:r>
          </a:p>
        </p:txBody>
      </p:sp>
      <p:sp>
        <p:nvSpPr>
          <p:cNvPr id="3" name="Content Placeholder 2">
            <a:extLst>
              <a:ext uri="{FF2B5EF4-FFF2-40B4-BE49-F238E27FC236}">
                <a16:creationId xmlns:a16="http://schemas.microsoft.com/office/drawing/2014/main" id="{D250C1CC-48B2-3726-E219-18A83705C2E7}"/>
              </a:ext>
            </a:extLst>
          </p:cNvPr>
          <p:cNvSpPr>
            <a:spLocks noGrp="1"/>
          </p:cNvSpPr>
          <p:nvPr>
            <p:ph idx="1"/>
          </p:nvPr>
        </p:nvSpPr>
        <p:spPr/>
        <p:txBody>
          <a:bodyPr/>
          <a:lstStyle/>
          <a:p>
            <a:pPr marL="0" indent="0">
              <a:buNone/>
            </a:pPr>
            <a:r>
              <a:rPr lang="en-US" dirty="0"/>
              <a:t>p = σ(z) = 1/(1+e</a:t>
            </a:r>
            <a:r>
              <a:rPr lang="en-US" baseline="30000" dirty="0"/>
              <a:t>-z</a:t>
            </a:r>
            <a:r>
              <a:rPr lang="en-US" dirty="0"/>
              <a:t>)</a:t>
            </a:r>
          </a:p>
          <a:p>
            <a:r>
              <a:rPr lang="en-US" dirty="0"/>
              <a:t>p = P(y=1∣x)</a:t>
            </a:r>
          </a:p>
          <a:p>
            <a:r>
              <a:rPr lang="en-US" dirty="0"/>
              <a:t>Output shape: scalar (or m×1 for a batch).</a:t>
            </a:r>
          </a:p>
          <a:p>
            <a:pPr marL="0" indent="0">
              <a:buNone/>
            </a:pPr>
            <a:endParaRPr lang="en-US" dirty="0"/>
          </a:p>
        </p:txBody>
      </p:sp>
    </p:spTree>
    <p:extLst>
      <p:ext uri="{BB962C8B-B14F-4D97-AF65-F5344CB8AC3E}">
        <p14:creationId xmlns:p14="http://schemas.microsoft.com/office/powerpoint/2010/main" val="2374860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021B7-2EA6-EB9D-BB19-7052020A686B}"/>
              </a:ext>
            </a:extLst>
          </p:cNvPr>
          <p:cNvSpPr>
            <a:spLocks noGrp="1"/>
          </p:cNvSpPr>
          <p:nvPr>
            <p:ph type="title"/>
          </p:nvPr>
        </p:nvSpPr>
        <p:spPr/>
        <p:txBody>
          <a:bodyPr/>
          <a:lstStyle/>
          <a:p>
            <a:r>
              <a:rPr lang="en-US" dirty="0"/>
              <a:t>Output Probability: P(y=1 | X)</a:t>
            </a:r>
          </a:p>
        </p:txBody>
      </p:sp>
      <p:sp>
        <p:nvSpPr>
          <p:cNvPr id="3" name="Content Placeholder 2">
            <a:extLst>
              <a:ext uri="{FF2B5EF4-FFF2-40B4-BE49-F238E27FC236}">
                <a16:creationId xmlns:a16="http://schemas.microsoft.com/office/drawing/2014/main" id="{C4EFFD84-3447-36BD-AD90-19A7A66934EC}"/>
              </a:ext>
            </a:extLst>
          </p:cNvPr>
          <p:cNvSpPr>
            <a:spLocks noGrp="1"/>
          </p:cNvSpPr>
          <p:nvPr>
            <p:ph idx="1"/>
          </p:nvPr>
        </p:nvSpPr>
        <p:spPr/>
        <p:txBody>
          <a:bodyPr/>
          <a:lstStyle/>
          <a:p>
            <a:pPr marL="0" indent="0">
              <a:buNone/>
            </a:pPr>
            <a:r>
              <a:rPr lang="en-US" dirty="0"/>
              <a:t>It is a network’s estimated probability that the label is 1 given input x. The interpretable value is range of [0,1].</a:t>
            </a:r>
          </a:p>
          <a:p>
            <a:pPr marL="0" indent="0">
              <a:buNone/>
            </a:pPr>
            <a:endParaRPr lang="en-US" dirty="0"/>
          </a:p>
        </p:txBody>
      </p:sp>
    </p:spTree>
    <p:extLst>
      <p:ext uri="{BB962C8B-B14F-4D97-AF65-F5344CB8AC3E}">
        <p14:creationId xmlns:p14="http://schemas.microsoft.com/office/powerpoint/2010/main" val="113312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1C4D4-8CF1-FE16-0195-4E1634B3731B}"/>
              </a:ext>
            </a:extLst>
          </p:cNvPr>
          <p:cNvSpPr>
            <a:spLocks noGrp="1"/>
          </p:cNvSpPr>
          <p:nvPr>
            <p:ph type="title"/>
          </p:nvPr>
        </p:nvSpPr>
        <p:spPr/>
        <p:txBody>
          <a:bodyPr/>
          <a:lstStyle/>
          <a:p>
            <a:r>
              <a:rPr lang="en-US" dirty="0"/>
              <a:t>Decision Threshold (0.5)</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97F3F00-5BD7-435C-0665-4479AA653E84}"/>
                  </a:ext>
                </a:extLst>
              </p:cNvPr>
              <p:cNvSpPr>
                <a:spLocks noGrp="1"/>
              </p:cNvSpPr>
              <p:nvPr>
                <p:ph idx="1"/>
              </p:nvPr>
            </p:nvSpPr>
            <p:spPr/>
            <p:txBody>
              <a:bodyPr/>
              <a:lstStyle/>
              <a:p>
                <a:pPr marL="0" indent="0">
                  <a:buNone/>
                </a:pPr>
                <a:r>
                  <a:rPr lang="en-US" dirty="0"/>
                  <a:t>Convert probability to class with threshold </a:t>
                </a:r>
                <a14:m>
                  <m:oMath xmlns:m="http://schemas.openxmlformats.org/officeDocument/2006/math">
                    <m:r>
                      <a:rPr lang="en-US" i="1"/>
                      <m:t>𝑡</m:t>
                    </m:r>
                  </m:oMath>
                </a14:m>
                <a:r>
                  <a:rPr lang="en-US" dirty="0"/>
                  <a:t>(default 0.5):</a:t>
                </a:r>
              </a:p>
              <a:p>
                <a:r>
                  <a:rPr lang="en-US" dirty="0"/>
                  <a:t>y = 1 if p &gt; t</a:t>
                </a:r>
              </a:p>
              <a:p>
                <a:r>
                  <a:rPr lang="en-US" dirty="0"/>
                  <a:t>y = 0 if p &lt; t</a:t>
                </a:r>
              </a:p>
              <a:p>
                <a:pPr marL="0" indent="0">
                  <a:buNone/>
                </a:pPr>
                <a:endParaRPr lang="ar-AE" dirty="0"/>
              </a:p>
              <a:p>
                <a:pPr marL="0" indent="0">
                  <a:buNone/>
                </a:pPr>
                <a:endParaRPr lang="en-US" dirty="0"/>
              </a:p>
            </p:txBody>
          </p:sp>
        </mc:Choice>
        <mc:Fallback>
          <p:sp>
            <p:nvSpPr>
              <p:cNvPr id="3" name="Content Placeholder 2">
                <a:extLst>
                  <a:ext uri="{FF2B5EF4-FFF2-40B4-BE49-F238E27FC236}">
                    <a16:creationId xmlns:a16="http://schemas.microsoft.com/office/drawing/2014/main" id="{897F3F00-5BD7-435C-0665-4479AA653E84}"/>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US">
                    <a:noFill/>
                  </a:rPr>
                  <a:t> </a:t>
                </a:r>
              </a:p>
            </p:txBody>
          </p:sp>
        </mc:Fallback>
      </mc:AlternateContent>
    </p:spTree>
    <p:extLst>
      <p:ext uri="{BB962C8B-B14F-4D97-AF65-F5344CB8AC3E}">
        <p14:creationId xmlns:p14="http://schemas.microsoft.com/office/powerpoint/2010/main" val="479681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43803-C471-CA8F-B53E-48CCC4ED3C25}"/>
              </a:ext>
            </a:extLst>
          </p:cNvPr>
          <p:cNvSpPr>
            <a:spLocks noGrp="1"/>
          </p:cNvSpPr>
          <p:nvPr>
            <p:ph type="title"/>
          </p:nvPr>
        </p:nvSpPr>
        <p:spPr/>
        <p:txBody>
          <a:bodyPr/>
          <a:lstStyle/>
          <a:p>
            <a:r>
              <a:rPr lang="cy-GB" dirty="0"/>
              <a:t>Final Predicted Class (ŷ)</a:t>
            </a:r>
            <a:endParaRPr lang="en-US" dirty="0"/>
          </a:p>
        </p:txBody>
      </p:sp>
      <p:sp>
        <p:nvSpPr>
          <p:cNvPr id="3" name="Content Placeholder 2">
            <a:extLst>
              <a:ext uri="{FF2B5EF4-FFF2-40B4-BE49-F238E27FC236}">
                <a16:creationId xmlns:a16="http://schemas.microsoft.com/office/drawing/2014/main" id="{B751BFFB-49A0-E5F0-E8CA-318FAF63AA21}"/>
              </a:ext>
            </a:extLst>
          </p:cNvPr>
          <p:cNvSpPr>
            <a:spLocks noGrp="1"/>
          </p:cNvSpPr>
          <p:nvPr>
            <p:ph idx="1"/>
          </p:nvPr>
        </p:nvSpPr>
        <p:spPr/>
        <p:txBody>
          <a:bodyPr/>
          <a:lstStyle/>
          <a:p>
            <a:pPr marL="0" indent="0">
              <a:buNone/>
            </a:pPr>
            <a:r>
              <a:rPr lang="en-US" dirty="0"/>
              <a:t>This is the decision used for metrics like accuracy, F1, confusion matrix.</a:t>
            </a:r>
          </a:p>
          <a:p>
            <a:pPr marL="0" indent="0">
              <a:buNone/>
            </a:pPr>
            <a:r>
              <a:rPr lang="en-US" dirty="0"/>
              <a:t>Loss function is (binary cross-entropy for sigmoid output)</a:t>
            </a:r>
          </a:p>
          <a:p>
            <a:pPr marL="0" indent="0">
              <a:buNone/>
            </a:pPr>
            <a:r>
              <a:rPr lang="en-US" dirty="0"/>
              <a:t>Optimization: compute gradients and update parameters using an optimizer (SGD, Adam, and </a:t>
            </a:r>
            <a:r>
              <a:rPr lang="en-US" dirty="0" err="1"/>
              <a:t>RMSProp</a:t>
            </a:r>
            <a:r>
              <a:rPr lang="en-US" dirty="0"/>
              <a:t>)</a:t>
            </a:r>
          </a:p>
          <a:p>
            <a:pPr marL="0" indent="0">
              <a:buNone/>
            </a:pPr>
            <a:endParaRPr lang="en-US" dirty="0"/>
          </a:p>
        </p:txBody>
      </p:sp>
    </p:spTree>
    <p:extLst>
      <p:ext uri="{BB962C8B-B14F-4D97-AF65-F5344CB8AC3E}">
        <p14:creationId xmlns:p14="http://schemas.microsoft.com/office/powerpoint/2010/main" val="15747427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60D09-B0B8-C0F4-C6E7-C2ABA4D30ACF}"/>
              </a:ext>
            </a:extLst>
          </p:cNvPr>
          <p:cNvSpPr>
            <a:spLocks noGrp="1"/>
          </p:cNvSpPr>
          <p:nvPr>
            <p:ph type="title"/>
          </p:nvPr>
        </p:nvSpPr>
        <p:spPr/>
        <p:txBody>
          <a:bodyPr/>
          <a:lstStyle/>
          <a:p>
            <a:r>
              <a:rPr lang="en-US" dirty="0"/>
              <a:t>Computational Complexity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B07E647-C01F-807E-A892-8316C89F6943}"/>
                  </a:ext>
                </a:extLst>
              </p:cNvPr>
              <p:cNvSpPr>
                <a:spLocks noGrp="1"/>
              </p:cNvSpPr>
              <p:nvPr>
                <p:ph idx="1"/>
              </p:nvPr>
            </p:nvSpPr>
            <p:spPr/>
            <p:txBody>
              <a:bodyPr>
                <a:normAutofit/>
              </a:bodyPr>
              <a:lstStyle/>
              <a:p>
                <a:pPr marL="0" indent="0">
                  <a:buNone/>
                </a:pPr>
                <a:r>
                  <a:rPr lang="en-US" dirty="0"/>
                  <a:t>Training Complexity is O(</a:t>
                </a:r>
                <a:r>
                  <a:rPr lang="en-US" dirty="0" err="1"/>
                  <a:t>k⋅n</a:t>
                </a:r>
                <a:r>
                  <a:rPr lang="en-US" dirty="0"/>
                  <a:t>⋅∑h</a:t>
                </a:r>
                <a:r>
                  <a:rPr lang="en-US" baseline="-25000" dirty="0"/>
                  <a:t>ℓ−1</a:t>
                </a:r>
                <a:r>
                  <a:rPr lang="en-US" dirty="0"/>
                  <a:t>​⋅h</a:t>
                </a:r>
                <a:r>
                  <a:rPr lang="en-US" baseline="-25000" dirty="0"/>
                  <a:t>ℓ</a:t>
                </a:r>
                <a:r>
                  <a:rPr lang="en-US" dirty="0"/>
                  <a:t>​):</a:t>
                </a:r>
              </a:p>
              <a:p>
                <a:pPr fontAlgn="base"/>
                <a:r>
                  <a:rPr lang="en-US" dirty="0"/>
                  <a:t>n = number of training samples</a:t>
                </a:r>
              </a:p>
              <a:p>
                <a:r>
                  <a:rPr lang="en-US" dirty="0"/>
                  <a:t>d = number of input features</a:t>
                </a:r>
              </a:p>
              <a:p>
                <a:r>
                  <a:rPr lang="en-US" dirty="0"/>
                  <a:t>L = number of hidden layers</a:t>
                </a:r>
              </a:p>
              <a:p>
                <a:r>
                  <a:rPr lang="en-US" dirty="0"/>
                  <a:t>h</a:t>
                </a:r>
                <a:r>
                  <a:rPr lang="en-US" baseline="-25000" dirty="0"/>
                  <a:t>ℓ</a:t>
                </a:r>
                <a:r>
                  <a:rPr lang="en-US" dirty="0"/>
                  <a:t>= number of neurons in layer </a:t>
                </a:r>
                <a14:m>
                  <m:oMath xmlns:m="http://schemas.openxmlformats.org/officeDocument/2006/math">
                    <m:r>
                      <a:rPr lang="en-US" i="1"/>
                      <m:t>𝓁</m:t>
                    </m:r>
                  </m:oMath>
                </a14:m>
                <a:endParaRPr lang="en-US" dirty="0"/>
              </a:p>
              <a:p>
                <a:r>
                  <a:rPr lang="en-US" dirty="0"/>
                  <a:t>k = number of training iterations/epochs</a:t>
                </a:r>
              </a:p>
              <a:p>
                <a:pPr marL="457200" lvl="1" indent="0" fontAlgn="base">
                  <a:buNone/>
                </a:pPr>
                <a:r>
                  <a:rPr lang="en-US" dirty="0"/>
                  <a:t> </a:t>
                </a:r>
              </a:p>
              <a:p>
                <a:pPr marL="0" indent="0">
                  <a:buNone/>
                </a:pPr>
                <a:r>
                  <a:rPr lang="en-US" dirty="0"/>
                  <a:t>Prediction Complexity is </a:t>
                </a:r>
                <a:r>
                  <a:rPr lang="pt-BR" dirty="0"/>
                  <a:t>O(∑h</a:t>
                </a:r>
                <a:r>
                  <a:rPr lang="pt-BR" baseline="-25000" dirty="0"/>
                  <a:t>ℓ−1</a:t>
                </a:r>
                <a:r>
                  <a:rPr lang="pt-BR" dirty="0"/>
                  <a:t>​⋅h</a:t>
                </a:r>
                <a:r>
                  <a:rPr lang="pt-BR" baseline="-25000" dirty="0"/>
                  <a:t>ℓ</a:t>
                </a:r>
                <a:r>
                  <a:rPr lang="pt-BR" dirty="0"/>
                  <a:t>​)</a:t>
                </a:r>
                <a:r>
                  <a:rPr lang="en-US" dirty="0"/>
                  <a:t> </a:t>
                </a:r>
              </a:p>
            </p:txBody>
          </p:sp>
        </mc:Choice>
        <mc:Fallback>
          <p:sp>
            <p:nvSpPr>
              <p:cNvPr id="3" name="Content Placeholder 2">
                <a:extLst>
                  <a:ext uri="{FF2B5EF4-FFF2-40B4-BE49-F238E27FC236}">
                    <a16:creationId xmlns:a16="http://schemas.microsoft.com/office/drawing/2014/main" id="{CB07E647-C01F-807E-A892-8316C89F6943}"/>
                  </a:ext>
                </a:extLst>
              </p:cNvPr>
              <p:cNvSpPr>
                <a:spLocks noGrp="1" noRot="1" noChangeAspect="1" noMove="1" noResize="1" noEditPoints="1" noAdjustHandles="1" noChangeArrowheads="1" noChangeShapeType="1" noTextEdit="1"/>
              </p:cNvSpPr>
              <p:nvPr>
                <p:ph idx="1"/>
              </p:nvPr>
            </p:nvSpPr>
            <p:spPr>
              <a:blipFill>
                <a:blip r:embed="rId2"/>
                <a:stretch>
                  <a:fillRect l="-1217" t="-2801"/>
                </a:stretch>
              </a:blipFill>
            </p:spPr>
            <p:txBody>
              <a:bodyPr/>
              <a:lstStyle/>
              <a:p>
                <a:r>
                  <a:rPr lang="en-US">
                    <a:noFill/>
                  </a:rPr>
                  <a:t> </a:t>
                </a:r>
              </a:p>
            </p:txBody>
          </p:sp>
        </mc:Fallback>
      </mc:AlternateContent>
    </p:spTree>
    <p:extLst>
      <p:ext uri="{BB962C8B-B14F-4D97-AF65-F5344CB8AC3E}">
        <p14:creationId xmlns:p14="http://schemas.microsoft.com/office/powerpoint/2010/main" val="22952840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451AC-2CF8-3932-8253-95F77469F617}"/>
              </a:ext>
            </a:extLst>
          </p:cNvPr>
          <p:cNvSpPr>
            <a:spLocks noGrp="1"/>
          </p:cNvSpPr>
          <p:nvPr>
            <p:ph type="title"/>
          </p:nvPr>
        </p:nvSpPr>
        <p:spPr>
          <a:xfrm>
            <a:off x="838200" y="2553154"/>
            <a:ext cx="10515600" cy="1325563"/>
          </a:xfrm>
        </p:spPr>
        <p:txBody>
          <a:bodyPr/>
          <a:lstStyle/>
          <a:p>
            <a:pPr algn="ctr"/>
            <a:r>
              <a:rPr lang="en-US" dirty="0"/>
              <a:t>Example Application</a:t>
            </a:r>
          </a:p>
        </p:txBody>
      </p:sp>
    </p:spTree>
    <p:extLst>
      <p:ext uri="{BB962C8B-B14F-4D97-AF65-F5344CB8AC3E}">
        <p14:creationId xmlns:p14="http://schemas.microsoft.com/office/powerpoint/2010/main" val="16253563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431A8-61BE-9813-9301-1CCACD03776E}"/>
              </a:ext>
            </a:extLst>
          </p:cNvPr>
          <p:cNvSpPr>
            <a:spLocks noGrp="1"/>
          </p:cNvSpPr>
          <p:nvPr>
            <p:ph type="title"/>
          </p:nvPr>
        </p:nvSpPr>
        <p:spPr/>
        <p:txBody>
          <a:bodyPr/>
          <a:lstStyle/>
          <a:p>
            <a:r>
              <a:rPr lang="en-US" dirty="0"/>
              <a:t>Our Mission</a:t>
            </a:r>
          </a:p>
        </p:txBody>
      </p:sp>
      <p:sp>
        <p:nvSpPr>
          <p:cNvPr id="3" name="Content Placeholder 2">
            <a:extLst>
              <a:ext uri="{FF2B5EF4-FFF2-40B4-BE49-F238E27FC236}">
                <a16:creationId xmlns:a16="http://schemas.microsoft.com/office/drawing/2014/main" id="{A44F30A5-5905-A53A-2E88-3C3B6170FEA7}"/>
              </a:ext>
            </a:extLst>
          </p:cNvPr>
          <p:cNvSpPr>
            <a:spLocks noGrp="1"/>
          </p:cNvSpPr>
          <p:nvPr>
            <p:ph idx="1"/>
          </p:nvPr>
        </p:nvSpPr>
        <p:spPr/>
        <p:txBody>
          <a:bodyPr>
            <a:normAutofit lnSpcReduction="10000"/>
          </a:bodyPr>
          <a:lstStyle/>
          <a:p>
            <a:pPr marL="0" indent="0">
              <a:buNone/>
            </a:pPr>
            <a:r>
              <a:rPr lang="en-US" dirty="0"/>
              <a:t>The main objective of our model is to predict which customers are most likely to respond to a product or service offer. This allows businesses to focus their marketing resources more efficiently, improve conversion rates, and make more informed strategic decisions.</a:t>
            </a:r>
          </a:p>
          <a:p>
            <a:pPr marL="0" indent="0">
              <a:buNone/>
            </a:pPr>
            <a:endParaRPr lang="en-US" dirty="0"/>
          </a:p>
          <a:p>
            <a:pPr marL="0" indent="0">
              <a:buNone/>
            </a:pPr>
            <a:r>
              <a:rPr lang="en-US" dirty="0"/>
              <a:t>We can identify which types of customers are more likely or less likely to respond to a marketing campaign by using this Dataset from Kaggle called </a:t>
            </a:r>
            <a:r>
              <a:rPr lang="en-US" dirty="0">
                <a:hlinkClick r:id="rId2" tooltip="https://www.kaggle.com/datasets/rodsaldanha/arketing-campaign"/>
              </a:rPr>
              <a:t>Marketing Campaign</a:t>
            </a:r>
            <a:r>
              <a:rPr lang="en-US" dirty="0"/>
              <a:t>. By examining consumer attributes such as education level, marital status, income, number of children, and other demographic or behavioral variables</a:t>
            </a:r>
          </a:p>
          <a:p>
            <a:pPr marL="0" indent="0">
              <a:buNone/>
            </a:pPr>
            <a:endParaRPr lang="en-US" dirty="0"/>
          </a:p>
        </p:txBody>
      </p:sp>
    </p:spTree>
    <p:extLst>
      <p:ext uri="{BB962C8B-B14F-4D97-AF65-F5344CB8AC3E}">
        <p14:creationId xmlns:p14="http://schemas.microsoft.com/office/powerpoint/2010/main" val="37116361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B9E75-7284-1F6F-900B-D491261712A2}"/>
              </a:ext>
            </a:extLst>
          </p:cNvPr>
          <p:cNvSpPr>
            <a:spLocks noGrp="1"/>
          </p:cNvSpPr>
          <p:nvPr>
            <p:ph type="title"/>
          </p:nvPr>
        </p:nvSpPr>
        <p:spPr/>
        <p:txBody>
          <a:bodyPr/>
          <a:lstStyle/>
          <a:p>
            <a:r>
              <a:rPr lang="en-US" dirty="0"/>
              <a:t>Dataset Description</a:t>
            </a:r>
          </a:p>
        </p:txBody>
      </p:sp>
      <p:sp>
        <p:nvSpPr>
          <p:cNvPr id="3" name="Content Placeholder 2">
            <a:extLst>
              <a:ext uri="{FF2B5EF4-FFF2-40B4-BE49-F238E27FC236}">
                <a16:creationId xmlns:a16="http://schemas.microsoft.com/office/drawing/2014/main" id="{5CD3E1BB-2D39-CECE-8B06-3240820DF3BC}"/>
              </a:ext>
            </a:extLst>
          </p:cNvPr>
          <p:cNvSpPr>
            <a:spLocks noGrp="1"/>
          </p:cNvSpPr>
          <p:nvPr>
            <p:ph idx="1"/>
          </p:nvPr>
        </p:nvSpPr>
        <p:spPr/>
        <p:txBody>
          <a:bodyPr/>
          <a:lstStyle/>
          <a:p>
            <a:r>
              <a:rPr lang="en-US" dirty="0"/>
              <a:t>Number of samples: 2,240 customers</a:t>
            </a:r>
          </a:p>
          <a:p>
            <a:r>
              <a:rPr lang="en-US" dirty="0"/>
              <a:t>Number of features: 24 input features after encoding (skip </a:t>
            </a:r>
            <a:r>
              <a:rPr lang="en-US" dirty="0" err="1"/>
              <a:t>DTcustomer</a:t>
            </a:r>
            <a:r>
              <a:rPr lang="en-US" dirty="0"/>
              <a:t>, Complain, </a:t>
            </a:r>
            <a:r>
              <a:rPr lang="en-US" dirty="0" err="1"/>
              <a:t>Z_CostContact</a:t>
            </a:r>
            <a:r>
              <a:rPr lang="en-US" dirty="0"/>
              <a:t>, </a:t>
            </a:r>
            <a:r>
              <a:rPr lang="en-US" dirty="0" err="1"/>
              <a:t>Z_Revenue</a:t>
            </a:r>
            <a:r>
              <a:rPr lang="en-US" dirty="0"/>
              <a:t>)</a:t>
            </a:r>
          </a:p>
          <a:p>
            <a:r>
              <a:rPr lang="en-US" dirty="0"/>
              <a:t>Target variable: Response — 1 if the customer accepted the most recent campaign, 0 otherwise</a:t>
            </a:r>
          </a:p>
        </p:txBody>
      </p:sp>
    </p:spTree>
    <p:extLst>
      <p:ext uri="{BB962C8B-B14F-4D97-AF65-F5344CB8AC3E}">
        <p14:creationId xmlns:p14="http://schemas.microsoft.com/office/powerpoint/2010/main" val="9224988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C3A8E-2140-2D71-5F7F-043CA676185F}"/>
              </a:ext>
            </a:extLst>
          </p:cNvPr>
          <p:cNvSpPr>
            <a:spLocks noGrp="1"/>
          </p:cNvSpPr>
          <p:nvPr>
            <p:ph type="title"/>
          </p:nvPr>
        </p:nvSpPr>
        <p:spPr/>
        <p:txBody>
          <a:bodyPr/>
          <a:lstStyle/>
          <a:p>
            <a:r>
              <a:rPr lang="en-US" dirty="0"/>
              <a:t>Implementation – Data Preprocessing</a:t>
            </a:r>
          </a:p>
        </p:txBody>
      </p:sp>
      <p:sp>
        <p:nvSpPr>
          <p:cNvPr id="3" name="Content Placeholder 2">
            <a:extLst>
              <a:ext uri="{FF2B5EF4-FFF2-40B4-BE49-F238E27FC236}">
                <a16:creationId xmlns:a16="http://schemas.microsoft.com/office/drawing/2014/main" id="{A51337E8-9761-D153-8C53-5C0EF374856F}"/>
              </a:ext>
            </a:extLst>
          </p:cNvPr>
          <p:cNvSpPr>
            <a:spLocks noGrp="1"/>
          </p:cNvSpPr>
          <p:nvPr>
            <p:ph idx="1"/>
          </p:nvPr>
        </p:nvSpPr>
        <p:spPr/>
        <p:txBody>
          <a:bodyPr/>
          <a:lstStyle/>
          <a:p>
            <a:pPr marL="514350" indent="-514350">
              <a:buAutoNum type="arabicPeriod"/>
            </a:pPr>
            <a:r>
              <a:rPr lang="en-US" dirty="0"/>
              <a:t>Load Dataset</a:t>
            </a:r>
          </a:p>
          <a:p>
            <a:pPr marL="514350" indent="-514350">
              <a:buAutoNum type="arabicPeriod"/>
            </a:pPr>
            <a:r>
              <a:rPr lang="en-US" dirty="0"/>
              <a:t>Cleaning / Handling Missing Values</a:t>
            </a:r>
          </a:p>
          <a:p>
            <a:pPr marL="514350" indent="-514350">
              <a:buAutoNum type="arabicPeriod"/>
            </a:pPr>
            <a:r>
              <a:rPr lang="en-US" dirty="0"/>
              <a:t>Define Features and Target</a:t>
            </a:r>
          </a:p>
          <a:p>
            <a:pPr marL="514350" indent="-514350">
              <a:buAutoNum type="arabicPeriod"/>
            </a:pPr>
            <a:r>
              <a:rPr lang="en-US" dirty="0"/>
              <a:t>Preprocessing: Encoding &amp; Scaling</a:t>
            </a:r>
          </a:p>
          <a:p>
            <a:pPr marL="514350" indent="-514350">
              <a:buAutoNum type="arabicPeriod"/>
            </a:pPr>
            <a:r>
              <a:rPr lang="en-US" dirty="0"/>
              <a:t>Train / Validation / Test Split</a:t>
            </a:r>
          </a:p>
          <a:p>
            <a:pPr marL="514350" indent="-514350">
              <a:buAutoNum type="arabicPeriod"/>
            </a:pPr>
            <a:r>
              <a:rPr lang="en-US" dirty="0"/>
              <a:t>Fit Preprocessor and Transform</a:t>
            </a:r>
          </a:p>
          <a:p>
            <a:pPr marL="514350" indent="-514350">
              <a:buAutoNum type="arabicPeriod"/>
            </a:pPr>
            <a:r>
              <a:rPr lang="en-US" dirty="0"/>
              <a:t>Output shapes</a:t>
            </a:r>
          </a:p>
        </p:txBody>
      </p:sp>
    </p:spTree>
    <p:extLst>
      <p:ext uri="{BB962C8B-B14F-4D97-AF65-F5344CB8AC3E}">
        <p14:creationId xmlns:p14="http://schemas.microsoft.com/office/powerpoint/2010/main" val="11848987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BCDD62-D61D-A57E-9DD7-0B7663B932F3}"/>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br>
              <a:rPr lang="en-US" sz="2500" kern="1200">
                <a:solidFill>
                  <a:srgbClr val="FFFFFF"/>
                </a:solidFill>
                <a:latin typeface="+mj-lt"/>
                <a:ea typeface="+mj-ea"/>
                <a:cs typeface="+mj-cs"/>
              </a:rPr>
            </a:br>
            <a:r>
              <a:rPr lang="en-US" sz="2500" kern="1200">
                <a:solidFill>
                  <a:srgbClr val="FFFFFF"/>
                </a:solidFill>
                <a:latin typeface="+mj-lt"/>
                <a:ea typeface="+mj-ea"/>
                <a:cs typeface="+mj-cs"/>
              </a:rPr>
              <a:t>Implementation – Hyperparameter Search for Logistic Regression</a:t>
            </a:r>
            <a:br>
              <a:rPr lang="en-US" sz="2500" kern="1200">
                <a:solidFill>
                  <a:srgbClr val="FFFFFF"/>
                </a:solidFill>
                <a:latin typeface="+mj-lt"/>
                <a:ea typeface="+mj-ea"/>
                <a:cs typeface="+mj-cs"/>
              </a:rPr>
            </a:br>
            <a:endParaRPr lang="en-US" sz="2500" kern="1200">
              <a:solidFill>
                <a:srgbClr val="FFFFFF"/>
              </a:solidFill>
              <a:latin typeface="+mj-lt"/>
              <a:ea typeface="+mj-ea"/>
              <a:cs typeface="+mj-cs"/>
            </a:endParaRPr>
          </a:p>
        </p:txBody>
      </p:sp>
      <p:pic>
        <p:nvPicPr>
          <p:cNvPr id="7" name="Content Placeholder 6">
            <a:extLst>
              <a:ext uri="{FF2B5EF4-FFF2-40B4-BE49-F238E27FC236}">
                <a16:creationId xmlns:a16="http://schemas.microsoft.com/office/drawing/2014/main" id="{BD75EA19-D0EC-8056-EE91-1DDBF03BB72C}"/>
              </a:ext>
            </a:extLst>
          </p:cNvPr>
          <p:cNvPicPr>
            <a:picLocks noGrp="1" noChangeAspect="1"/>
          </p:cNvPicPr>
          <p:nvPr>
            <p:ph idx="1"/>
          </p:nvPr>
        </p:nvPicPr>
        <p:blipFill>
          <a:blip r:embed="rId3"/>
          <a:stretch>
            <a:fillRect/>
          </a:stretch>
        </p:blipFill>
        <p:spPr>
          <a:xfrm>
            <a:off x="4777316" y="1342771"/>
            <a:ext cx="6780700" cy="4170128"/>
          </a:xfrm>
          <a:prstGeom prst="rect">
            <a:avLst/>
          </a:prstGeom>
        </p:spPr>
      </p:pic>
    </p:spTree>
    <p:extLst>
      <p:ext uri="{BB962C8B-B14F-4D97-AF65-F5344CB8AC3E}">
        <p14:creationId xmlns:p14="http://schemas.microsoft.com/office/powerpoint/2010/main" val="12299039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3412F1-D713-3CEC-03E7-C912B47F6E2E}"/>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Evaluation – Confusion Metrics</a:t>
            </a:r>
          </a:p>
        </p:txBody>
      </p:sp>
      <p:pic>
        <p:nvPicPr>
          <p:cNvPr id="7" name="Content Placeholder 6" descr="A graph with numbers and a blue square&#10;&#10;AI-generated content may be incorrect.">
            <a:extLst>
              <a:ext uri="{FF2B5EF4-FFF2-40B4-BE49-F238E27FC236}">
                <a16:creationId xmlns:a16="http://schemas.microsoft.com/office/drawing/2014/main" id="{398662E1-8118-68EF-B195-0ACDEC55F0C1}"/>
              </a:ext>
            </a:extLst>
          </p:cNvPr>
          <p:cNvPicPr>
            <a:picLocks noGrp="1" noChangeAspect="1"/>
          </p:cNvPicPr>
          <p:nvPr>
            <p:ph idx="1"/>
          </p:nvPr>
        </p:nvPicPr>
        <p:blipFill>
          <a:blip r:embed="rId3"/>
          <a:stretch>
            <a:fillRect/>
          </a:stretch>
        </p:blipFill>
        <p:spPr>
          <a:xfrm>
            <a:off x="5099489" y="643466"/>
            <a:ext cx="6136353" cy="5568739"/>
          </a:xfrm>
          <a:prstGeom prst="rect">
            <a:avLst/>
          </a:prstGeom>
        </p:spPr>
      </p:pic>
    </p:spTree>
    <p:extLst>
      <p:ext uri="{BB962C8B-B14F-4D97-AF65-F5344CB8AC3E}">
        <p14:creationId xmlns:p14="http://schemas.microsoft.com/office/powerpoint/2010/main" val="20704358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4AA125-B467-EFAB-ED95-C6C18D7A7C9B}"/>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Evaluation – ROC curve</a:t>
            </a:r>
          </a:p>
        </p:txBody>
      </p:sp>
      <p:pic>
        <p:nvPicPr>
          <p:cNvPr id="7" name="Content Placeholder 6" descr="A graph of a function&#10;&#10;AI-generated content may be incorrect.">
            <a:extLst>
              <a:ext uri="{FF2B5EF4-FFF2-40B4-BE49-F238E27FC236}">
                <a16:creationId xmlns:a16="http://schemas.microsoft.com/office/drawing/2014/main" id="{54850EC9-421A-3330-E2CD-3BFF43EFAF76}"/>
              </a:ext>
            </a:extLst>
          </p:cNvPr>
          <p:cNvPicPr>
            <a:picLocks noGrp="1" noChangeAspect="1"/>
          </p:cNvPicPr>
          <p:nvPr>
            <p:ph idx="1"/>
          </p:nvPr>
        </p:nvPicPr>
        <p:blipFill>
          <a:blip r:embed="rId3"/>
          <a:stretch>
            <a:fillRect/>
          </a:stretch>
        </p:blipFill>
        <p:spPr>
          <a:xfrm>
            <a:off x="5550359" y="643466"/>
            <a:ext cx="5234614" cy="5568739"/>
          </a:xfrm>
          <a:prstGeom prst="rect">
            <a:avLst/>
          </a:prstGeom>
        </p:spPr>
      </p:pic>
    </p:spTree>
    <p:extLst>
      <p:ext uri="{BB962C8B-B14F-4D97-AF65-F5344CB8AC3E}">
        <p14:creationId xmlns:p14="http://schemas.microsoft.com/office/powerpoint/2010/main" val="28210754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2"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7D30CD-0942-264A-6D5A-02A93E423072}"/>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Evaluation – Interpret the coefficients Part 1</a:t>
            </a:r>
          </a:p>
        </p:txBody>
      </p:sp>
      <p:pic>
        <p:nvPicPr>
          <p:cNvPr id="6" name="Content Placeholder 5">
            <a:extLst>
              <a:ext uri="{FF2B5EF4-FFF2-40B4-BE49-F238E27FC236}">
                <a16:creationId xmlns:a16="http://schemas.microsoft.com/office/drawing/2014/main" id="{D2E7F8CC-4802-989F-9049-B66F2ED3EDDA}"/>
              </a:ext>
            </a:extLst>
          </p:cNvPr>
          <p:cNvPicPr>
            <a:picLocks noGrp="1" noChangeAspect="1"/>
          </p:cNvPicPr>
          <p:nvPr>
            <p:ph idx="1"/>
          </p:nvPr>
        </p:nvPicPr>
        <p:blipFill>
          <a:blip r:embed="rId2"/>
          <a:stretch>
            <a:fillRect/>
          </a:stretch>
        </p:blipFill>
        <p:spPr>
          <a:xfrm>
            <a:off x="4777316" y="1825895"/>
            <a:ext cx="6780700" cy="3203881"/>
          </a:xfrm>
          <a:prstGeom prst="rect">
            <a:avLst/>
          </a:prstGeom>
        </p:spPr>
      </p:pic>
    </p:spTree>
    <p:extLst>
      <p:ext uri="{BB962C8B-B14F-4D97-AF65-F5344CB8AC3E}">
        <p14:creationId xmlns:p14="http://schemas.microsoft.com/office/powerpoint/2010/main" val="36578735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88AC1F-999D-226C-C828-21C137E7A466}"/>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Evaluation – Interpret the coefficient Part 2</a:t>
            </a:r>
          </a:p>
        </p:txBody>
      </p:sp>
      <p:pic>
        <p:nvPicPr>
          <p:cNvPr id="7" name="Content Placeholder 6">
            <a:extLst>
              <a:ext uri="{FF2B5EF4-FFF2-40B4-BE49-F238E27FC236}">
                <a16:creationId xmlns:a16="http://schemas.microsoft.com/office/drawing/2014/main" id="{03235A4E-0FD9-DB4C-F90A-D3465FAB41C7}"/>
              </a:ext>
            </a:extLst>
          </p:cNvPr>
          <p:cNvPicPr>
            <a:picLocks noGrp="1" noChangeAspect="1"/>
          </p:cNvPicPr>
          <p:nvPr>
            <p:ph idx="1"/>
          </p:nvPr>
        </p:nvPicPr>
        <p:blipFill>
          <a:blip r:embed="rId2"/>
          <a:stretch>
            <a:fillRect/>
          </a:stretch>
        </p:blipFill>
        <p:spPr>
          <a:xfrm>
            <a:off x="4777316" y="1834372"/>
            <a:ext cx="6780700" cy="3186927"/>
          </a:xfrm>
          <a:prstGeom prst="rect">
            <a:avLst/>
          </a:prstGeom>
        </p:spPr>
      </p:pic>
    </p:spTree>
    <p:extLst>
      <p:ext uri="{BB962C8B-B14F-4D97-AF65-F5344CB8AC3E}">
        <p14:creationId xmlns:p14="http://schemas.microsoft.com/office/powerpoint/2010/main" val="417863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748608-0660-0DCE-FCF6-E840186A8301}"/>
              </a:ext>
            </a:extLst>
          </p:cNvPr>
          <p:cNvSpPr>
            <a:spLocks noGrp="1"/>
          </p:cNvSpPr>
          <p:nvPr>
            <p:ph type="title"/>
          </p:nvPr>
        </p:nvSpPr>
        <p:spPr>
          <a:xfrm>
            <a:off x="466722" y="586855"/>
            <a:ext cx="3201366" cy="3387497"/>
          </a:xfrm>
        </p:spPr>
        <p:txBody>
          <a:bodyPr anchor="b">
            <a:normAutofit/>
          </a:bodyPr>
          <a:lstStyle/>
          <a:p>
            <a:pPr algn="r"/>
            <a:r>
              <a:rPr lang="en-US" sz="3700" dirty="0">
                <a:solidFill>
                  <a:srgbClr val="FFFFFF"/>
                </a:solidFill>
              </a:rPr>
              <a:t>Advantages and Disadvantages</a:t>
            </a:r>
          </a:p>
        </p:txBody>
      </p:sp>
      <p:graphicFrame>
        <p:nvGraphicFramePr>
          <p:cNvPr id="22" name="Content Placeholder 2">
            <a:extLst>
              <a:ext uri="{FF2B5EF4-FFF2-40B4-BE49-F238E27FC236}">
                <a16:creationId xmlns:a16="http://schemas.microsoft.com/office/drawing/2014/main" id="{720AB51F-7C58-9B04-4A7B-F1729F99234E}"/>
              </a:ext>
            </a:extLst>
          </p:cNvPr>
          <p:cNvGraphicFramePr>
            <a:graphicFrameLocks noGrp="1"/>
          </p:cNvGraphicFramePr>
          <p:nvPr>
            <p:ph idx="1"/>
          </p:nvPr>
        </p:nvGraphicFramePr>
        <p:xfrm>
          <a:off x="4810259" y="649480"/>
          <a:ext cx="6555347" cy="55460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501842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7D61D-9E8D-62E5-7CE2-2CF1810982CC}"/>
              </a:ext>
            </a:extLst>
          </p:cNvPr>
          <p:cNvSpPr>
            <a:spLocks noGrp="1"/>
          </p:cNvSpPr>
          <p:nvPr>
            <p:ph type="title"/>
          </p:nvPr>
        </p:nvSpPr>
        <p:spPr/>
        <p:txBody>
          <a:bodyPr/>
          <a:lstStyle/>
          <a:p>
            <a:r>
              <a:rPr lang="en-US" dirty="0"/>
              <a:t>Comparison and Alternatives</a:t>
            </a:r>
          </a:p>
        </p:txBody>
      </p:sp>
      <p:sp>
        <p:nvSpPr>
          <p:cNvPr id="3" name="Content Placeholder 2">
            <a:extLst>
              <a:ext uri="{FF2B5EF4-FFF2-40B4-BE49-F238E27FC236}">
                <a16:creationId xmlns:a16="http://schemas.microsoft.com/office/drawing/2014/main" id="{161E021D-91B5-29BE-84AE-D82DE45D11DD}"/>
              </a:ext>
            </a:extLst>
          </p:cNvPr>
          <p:cNvSpPr>
            <a:spLocks noGrp="1"/>
          </p:cNvSpPr>
          <p:nvPr>
            <p:ph idx="1"/>
          </p:nvPr>
        </p:nvSpPr>
        <p:spPr/>
        <p:txBody>
          <a:bodyPr/>
          <a:lstStyle/>
          <a:p>
            <a:pPr marL="0" indent="0">
              <a:buNone/>
            </a:pPr>
            <a:endParaRPr lang="en-US" dirty="0"/>
          </a:p>
        </p:txBody>
      </p:sp>
    </p:spTree>
    <p:extLst>
      <p:ext uri="{BB962C8B-B14F-4D97-AF65-F5344CB8AC3E}">
        <p14:creationId xmlns:p14="http://schemas.microsoft.com/office/powerpoint/2010/main" val="183304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D6C93-9642-EF75-9F2D-17189EAD7E1E}"/>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0253CFF5-0304-49D3-7DDA-726888003447}"/>
              </a:ext>
            </a:extLst>
          </p:cNvPr>
          <p:cNvSpPr>
            <a:spLocks noGrp="1"/>
          </p:cNvSpPr>
          <p:nvPr>
            <p:ph idx="1"/>
          </p:nvPr>
        </p:nvSpPr>
        <p:spPr/>
        <p:txBody>
          <a:bodyPr/>
          <a:lstStyle/>
          <a:p>
            <a:r>
              <a:rPr lang="en-US" dirty="0" err="1"/>
              <a:t>GeeksforGeeks</a:t>
            </a:r>
            <a:r>
              <a:rPr lang="en-US" dirty="0"/>
              <a:t>. (2017, May 9). </a:t>
            </a:r>
            <a:r>
              <a:rPr lang="en-US" i="1" dirty="0"/>
              <a:t>Logistic Regression in Machine Learning</a:t>
            </a:r>
            <a:r>
              <a:rPr lang="en-US" dirty="0"/>
              <a:t>. </a:t>
            </a:r>
            <a:r>
              <a:rPr lang="en-US" dirty="0" err="1"/>
              <a:t>GeeksforGeeks</a:t>
            </a:r>
            <a:r>
              <a:rPr lang="en-US" dirty="0"/>
              <a:t>. </a:t>
            </a:r>
            <a:r>
              <a:rPr lang="en-US" dirty="0">
                <a:hlinkClick r:id="rId2"/>
              </a:rPr>
              <a:t>https://www.geeksforgeeks.org/machine-learning/understanding-logistic-regression/</a:t>
            </a:r>
            <a:endParaRPr lang="en-US" dirty="0"/>
          </a:p>
          <a:p>
            <a:r>
              <a:rPr lang="en-US" dirty="0"/>
              <a:t>‌ Lee, F. (2025, May 14). </a:t>
            </a:r>
            <a:r>
              <a:rPr lang="en-US" i="1" dirty="0"/>
              <a:t>Logistic Regression</a:t>
            </a:r>
            <a:r>
              <a:rPr lang="en-US" dirty="0"/>
              <a:t>. Ibm.com. </a:t>
            </a:r>
            <a:r>
              <a:rPr lang="en-US" dirty="0">
                <a:hlinkClick r:id="rId3"/>
              </a:rPr>
              <a:t>https://www.ibm.com/think/topics/logistic-regression</a:t>
            </a:r>
            <a:endParaRPr lang="en-US" dirty="0"/>
          </a:p>
          <a:p>
            <a:r>
              <a:rPr lang="en-US" dirty="0"/>
              <a:t>Brownlee, J. (2016, September 22). </a:t>
            </a:r>
            <a:r>
              <a:rPr lang="en-US" i="1" dirty="0"/>
              <a:t>Logistic Regression for Machine Learning</a:t>
            </a:r>
            <a:r>
              <a:rPr lang="en-US" dirty="0"/>
              <a:t>. Machine Learning Mastery. </a:t>
            </a:r>
            <a:r>
              <a:rPr lang="en-US" dirty="0">
                <a:hlinkClick r:id="rId4"/>
              </a:rPr>
              <a:t>https://machinelearningmastery.com/logistic-regression-for-machine-learning/</a:t>
            </a:r>
            <a:endParaRPr lang="en-US" dirty="0"/>
          </a:p>
          <a:p>
            <a:endParaRPr lang="en-US" dirty="0"/>
          </a:p>
          <a:p>
            <a:pPr marL="0" indent="0">
              <a:buNone/>
            </a:pPr>
            <a:endParaRPr lang="en-US" dirty="0"/>
          </a:p>
        </p:txBody>
      </p:sp>
    </p:spTree>
    <p:extLst>
      <p:ext uri="{BB962C8B-B14F-4D97-AF65-F5344CB8AC3E}">
        <p14:creationId xmlns:p14="http://schemas.microsoft.com/office/powerpoint/2010/main" val="24952754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1440</TotalTime>
  <Words>1924</Words>
  <Application>Microsoft Office PowerPoint</Application>
  <PresentationFormat>Widescreen</PresentationFormat>
  <Paragraphs>192</Paragraphs>
  <Slides>27</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Aptos</vt:lpstr>
      <vt:lpstr>Aptos Display</vt:lpstr>
      <vt:lpstr>Arial</vt:lpstr>
      <vt:lpstr>Cambria Math</vt:lpstr>
      <vt:lpstr>Office Theme</vt:lpstr>
      <vt:lpstr>MLP (Multi Layer Perception)</vt:lpstr>
      <vt:lpstr>Overview of the Algorithm – Name and Purpose</vt:lpstr>
      <vt:lpstr>Overview of the Algorithm – Background</vt:lpstr>
      <vt:lpstr>Overview of the Algorithm – Applications</vt:lpstr>
      <vt:lpstr>Problem Type</vt:lpstr>
      <vt:lpstr>How the Algorithm Works?</vt:lpstr>
      <vt:lpstr>Input Features (X₁, X₂, …, Xd)</vt:lpstr>
      <vt:lpstr>Input Layer Neurons</vt:lpstr>
      <vt:lpstr>Hidden Layer 1 — Weighted Sum + Activation</vt:lpstr>
      <vt:lpstr>Hidden Layer 2 (optional)</vt:lpstr>
      <vt:lpstr>Output Neuron (Sigmoid for Probability)</vt:lpstr>
      <vt:lpstr>Output Probability: P(y=1 | X)</vt:lpstr>
      <vt:lpstr>Decision Threshold (0.5)</vt:lpstr>
      <vt:lpstr>Final Predicted Class (ŷ)</vt:lpstr>
      <vt:lpstr>Computational Complexity</vt:lpstr>
      <vt:lpstr>Example Application</vt:lpstr>
      <vt:lpstr>Our Mission</vt:lpstr>
      <vt:lpstr>Dataset Description</vt:lpstr>
      <vt:lpstr>Implementation – Data Preprocessing</vt:lpstr>
      <vt:lpstr> Implementation – Hyperparameter Search for Logistic Regression </vt:lpstr>
      <vt:lpstr>Evaluation – Confusion Metrics</vt:lpstr>
      <vt:lpstr>Evaluation – ROC curve</vt:lpstr>
      <vt:lpstr>Evaluation – Interpret the coefficients Part 1</vt:lpstr>
      <vt:lpstr>Evaluation – Interpret the coefficient Part 2</vt:lpstr>
      <vt:lpstr>Advantages and Disadvantages</vt:lpstr>
      <vt:lpstr>Comparison and Alternatives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Paladugu, Pranaav</dc:creator>
  <cp:lastModifiedBy>Paladugu, Pranaav</cp:lastModifiedBy>
  <cp:revision>3</cp:revision>
  <dcterms:created xsi:type="dcterms:W3CDTF">2025-12-01T20:37:00Z</dcterms:created>
  <dcterms:modified xsi:type="dcterms:W3CDTF">2025-12-07T05:56:53Z</dcterms:modified>
</cp:coreProperties>
</file>