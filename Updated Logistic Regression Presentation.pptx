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58" r:id="rId4"/>
    <p:sldId id="268" r:id="rId5"/>
    <p:sldId id="267" r:id="rId6"/>
    <p:sldId id="259" r:id="rId7"/>
    <p:sldId id="260" r:id="rId8"/>
    <p:sldId id="261" r:id="rId9"/>
    <p:sldId id="273" r:id="rId10"/>
    <p:sldId id="264" r:id="rId11"/>
    <p:sldId id="265" r:id="rId12"/>
    <p:sldId id="269" r:id="rId13"/>
    <p:sldId id="266" r:id="rId14"/>
    <p:sldId id="270" r:id="rId15"/>
    <p:sldId id="271" r:id="rId16"/>
    <p:sldId id="272" r:id="rId17"/>
    <p:sldId id="262" r:id="rId18"/>
    <p:sldId id="26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6886" autoAdjust="0"/>
  </p:normalViewPr>
  <p:slideViewPr>
    <p:cSldViewPr snapToGrid="0">
      <p:cViewPr>
        <p:scale>
          <a:sx n="56" d="100"/>
          <a:sy n="56" d="100"/>
        </p:scale>
        <p:origin x="1068" y="64"/>
      </p:cViewPr>
      <p:guideLst/>
    </p:cSldViewPr>
  </p:slideViewPr>
  <p:notesTextViewPr>
    <p:cViewPr>
      <p:scale>
        <a:sx n="1" d="1"/>
        <a:sy n="1" d="1"/>
      </p:scale>
      <p:origin x="0" y="-258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5A4283-306C-4276-9C0D-A10B1C530BC0}" type="datetimeFigureOut">
              <a:rPr lang="en-US" smtClean="0"/>
              <a:t>12/3/2025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5C3472-224F-4F31-9706-FC7607163979}" type="slidenum">
              <a:rPr lang="en-US" smtClean="0"/>
              <a:t>‹#›</a:t>
            </a:fld>
            <a:endParaRPr lang="en-US"/>
          </a:p>
        </p:txBody>
      </p:sp>
    </p:spTree>
    <p:extLst>
      <p:ext uri="{BB962C8B-B14F-4D97-AF65-F5344CB8AC3E}">
        <p14:creationId xmlns:p14="http://schemas.microsoft.com/office/powerpoint/2010/main" val="2767366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Logistic regression was formally developed and popularized by Joseph Berkson in the 1940s. Although the logistic function itself was discovered earlier by Adolphe </a:t>
            </a:r>
            <a:r>
              <a:rPr lang="en-US" dirty="0" err="1"/>
              <a:t>Quetelet</a:t>
            </a:r>
            <a:r>
              <a:rPr lang="en-US" dirty="0"/>
              <a:t> and Pierre-François Verhulst in the 19th century for modeling population growth, Berkson introduced the </a:t>
            </a:r>
            <a:r>
              <a:rPr lang="en-US" i="1" dirty="0"/>
              <a:t>logit</a:t>
            </a:r>
            <a:r>
              <a:rPr lang="en-US" dirty="0"/>
              <a:t> model and established logistic regression as a statistical method.</a:t>
            </a:r>
          </a:p>
          <a:p>
            <a:pPr marL="0" indent="0">
              <a:buNone/>
            </a:pPr>
            <a:r>
              <a:rPr lang="en-US" dirty="0"/>
              <a:t>The motivation for developing logistic regression came from the need to analyze binary and categorical outcomes, such as yes/no or success/failure decisions. In addition, logistic regression provides clear interpretability through measures like the odds ratio, making it useful for understanding how different features influence the likelihood of an outcome.</a:t>
            </a:r>
          </a:p>
          <a:p>
            <a:endParaRPr lang="en-US" dirty="0"/>
          </a:p>
        </p:txBody>
      </p:sp>
      <p:sp>
        <p:nvSpPr>
          <p:cNvPr id="4" name="Slide Number Placeholder 3"/>
          <p:cNvSpPr>
            <a:spLocks noGrp="1"/>
          </p:cNvSpPr>
          <p:nvPr>
            <p:ph type="sldNum" sz="quarter" idx="5"/>
          </p:nvPr>
        </p:nvSpPr>
        <p:spPr/>
        <p:txBody>
          <a:bodyPr/>
          <a:lstStyle/>
          <a:p>
            <a:fld id="{9C5C3472-224F-4F31-9706-FC7607163979}" type="slidenum">
              <a:rPr lang="en-US" smtClean="0"/>
              <a:t>3</a:t>
            </a:fld>
            <a:endParaRPr lang="en-US"/>
          </a:p>
        </p:txBody>
      </p:sp>
    </p:spTree>
    <p:extLst>
      <p:ext uri="{BB962C8B-B14F-4D97-AF65-F5344CB8AC3E}">
        <p14:creationId xmlns:p14="http://schemas.microsoft.com/office/powerpoint/2010/main" val="3765137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b="1" dirty="0"/>
                  <a:t>1. Input Features (X₁, X₂, …, Xd)</a:t>
                </a:r>
              </a:p>
              <a:p>
                <a:r>
                  <a:rPr lang="en-US" dirty="0"/>
                  <a:t>These are the variables or attributes used to make predictions. Each feature represents some measurable characteristic of the data.</a:t>
                </a:r>
              </a:p>
              <a:p>
                <a:endParaRPr lang="en-US" dirty="0"/>
              </a:p>
              <a:p>
                <a:r>
                  <a:rPr lang="en-US" b="1" dirty="0"/>
                  <a:t>2. Weighted Sum: z = </a:t>
                </a:r>
                <a:r>
                  <a:rPr lang="en-US" b="1" dirty="0" err="1"/>
                  <a:t>w₁X</a:t>
                </a:r>
                <a:r>
                  <a:rPr lang="en-US" b="1" dirty="0"/>
                  <a:t>₁ + </a:t>
                </a:r>
                <a:r>
                  <a:rPr lang="en-US" b="1" dirty="0" err="1"/>
                  <a:t>w₂X</a:t>
                </a:r>
                <a:r>
                  <a:rPr lang="en-US" b="1" dirty="0"/>
                  <a:t>₂ + … + wd*Xd + b</a:t>
                </a:r>
              </a:p>
              <a:p>
                <a:r>
                  <a:rPr lang="en-US" b="0" dirty="0"/>
                  <a:t>Logistic regression first computes a linear combination of the input features.</a:t>
                </a:r>
              </a:p>
              <a:p>
                <a:r>
                  <a:rPr lang="en-US" b="0" dirty="0"/>
                  <a:t>	-  Each feature </a:t>
                </a:r>
                <a14:m>
                  <m:oMath xmlns:m="http://schemas.openxmlformats.org/officeDocument/2006/math">
                    <m:sSub>
                      <m:sSubPr>
                        <m:ctrlPr>
                          <a:rPr lang="ar-AE" sz="1200" b="0" kern="1200">
                            <a:solidFill>
                              <a:schemeClr val="tx1"/>
                            </a:solidFill>
                            <a:latin typeface="+mn-lt"/>
                            <a:ea typeface="+mn-ea"/>
                            <a:cs typeface="+mn-cs"/>
                          </a:rPr>
                        </m:ctrlPr>
                      </m:sSubPr>
                      <m:e>
                        <m:r>
                          <a:rPr lang="ar-AE" sz="1200" b="0" i="1" kern="1200" smtClean="0">
                            <a:solidFill>
                              <a:schemeClr val="tx1"/>
                            </a:solidFill>
                            <a:latin typeface="Cambria Math" panose="02040503050406030204" pitchFamily="18" charset="0"/>
                            <a:ea typeface="+mn-ea"/>
                            <a:cs typeface="+mn-cs"/>
                          </a:rPr>
                          <m:t>𝑋</m:t>
                        </m:r>
                      </m:e>
                      <m:sub>
                        <m:r>
                          <a:rPr lang="ar-AE" sz="1200" b="0" i="1" kern="1200" smtClean="0">
                            <a:solidFill>
                              <a:schemeClr val="tx1"/>
                            </a:solidFill>
                            <a:latin typeface="Cambria Math" panose="02040503050406030204" pitchFamily="18" charset="0"/>
                            <a:ea typeface="+mn-ea"/>
                            <a:cs typeface="+mn-cs"/>
                          </a:rPr>
                          <m:t>𝑖</m:t>
                        </m:r>
                      </m:sub>
                    </m:sSub>
                  </m:oMath>
                </a14:m>
                <a:r>
                  <a:rPr lang="en-US" b="0" dirty="0"/>
                  <a:t>is multiplied by a learnable weight </a:t>
                </a:r>
                <a14:m>
                  <m:oMath xmlns:m="http://schemas.openxmlformats.org/officeDocument/2006/math">
                    <m:sSub>
                      <m:sSubPr>
                        <m:ctrlPr>
                          <a:rPr lang="ar-AE" sz="1200" b="0" kern="1200">
                            <a:solidFill>
                              <a:schemeClr val="tx1"/>
                            </a:solidFill>
                            <a:latin typeface="+mn-lt"/>
                            <a:ea typeface="+mn-ea"/>
                            <a:cs typeface="+mn-cs"/>
                          </a:rPr>
                        </m:ctrlPr>
                      </m:sSubPr>
                      <m:e>
                        <m:r>
                          <a:rPr lang="ar-AE" sz="1200" b="0" i="1" kern="1200" smtClean="0">
                            <a:solidFill>
                              <a:schemeClr val="tx1"/>
                            </a:solidFill>
                            <a:latin typeface="Cambria Math" panose="02040503050406030204" pitchFamily="18" charset="0"/>
                            <a:ea typeface="+mn-ea"/>
                            <a:cs typeface="+mn-cs"/>
                          </a:rPr>
                          <m:t>𝑤</m:t>
                        </m:r>
                      </m:e>
                      <m:sub>
                        <m:r>
                          <a:rPr lang="ar-AE" sz="1200" b="0" i="1" kern="1200" smtClean="0">
                            <a:solidFill>
                              <a:schemeClr val="tx1"/>
                            </a:solidFill>
                            <a:latin typeface="Cambria Math" panose="02040503050406030204" pitchFamily="18" charset="0"/>
                            <a:ea typeface="+mn-ea"/>
                            <a:cs typeface="+mn-cs"/>
                          </a:rPr>
                          <m:t>𝑖</m:t>
                        </m:r>
                      </m:sub>
                    </m:sSub>
                  </m:oMath>
                </a14:m>
                <a:r>
                  <a:rPr lang="ar-AE" b="0" dirty="0"/>
                  <a:t>.</a:t>
                </a:r>
              </a:p>
              <a:p>
                <a:r>
                  <a:rPr lang="en-US" b="0" dirty="0"/>
                  <a:t>	-</a:t>
                </a:r>
                <a:r>
                  <a:rPr lang="en-US" b="0" baseline="0" dirty="0"/>
                  <a:t>  </a:t>
                </a:r>
                <a:r>
                  <a:rPr lang="en-US" b="0" dirty="0"/>
                  <a:t>A bias term </a:t>
                </a:r>
                <a14:m>
                  <m:oMath xmlns:m="http://schemas.openxmlformats.org/officeDocument/2006/math">
                    <m:r>
                      <a:rPr lang="en-US" sz="1200" b="0" i="1" kern="1200" smtClean="0">
                        <a:solidFill>
                          <a:schemeClr val="tx1"/>
                        </a:solidFill>
                        <a:latin typeface="Cambria Math" panose="02040503050406030204" pitchFamily="18" charset="0"/>
                        <a:ea typeface="+mn-ea"/>
                        <a:cs typeface="+mn-cs"/>
                      </a:rPr>
                      <m:t>𝑏</m:t>
                    </m:r>
                  </m:oMath>
                </a14:m>
                <a:r>
                  <a:rPr lang="en-US" b="0" dirty="0"/>
                  <a:t>is added to shift the decision boundary.</a:t>
                </a:r>
              </a:p>
              <a:p>
                <a:endParaRPr lang="en-US" dirty="0"/>
              </a:p>
              <a:p>
                <a:r>
                  <a:rPr lang="en-US" b="1" dirty="0"/>
                  <a:t>3. Sigmoid Activation: σ(z) = 1 / (1 + exp(-z))</a:t>
                </a:r>
              </a:p>
              <a:p>
                <a:r>
                  <a:rPr lang="en-US" b="0" dirty="0"/>
                  <a:t>Because classification requires a probability between 0 and 1, logistic regression passes the linear output </a:t>
                </a:r>
                <a14:m>
                  <m:oMath xmlns:m="http://schemas.openxmlformats.org/officeDocument/2006/math">
                    <m:r>
                      <a:rPr lang="en-US" sz="1200" b="0" i="1" kern="1200">
                        <a:solidFill>
                          <a:schemeClr val="tx1"/>
                        </a:solidFill>
                        <a:latin typeface="+mn-lt"/>
                        <a:ea typeface="+mn-ea"/>
                        <a:cs typeface="+mn-cs"/>
                      </a:rPr>
                      <m:t>𝑧</m:t>
                    </m:r>
                  </m:oMath>
                </a14:m>
                <a:r>
                  <a:rPr lang="en-US" b="0" dirty="0"/>
                  <a:t>through the sigmoid (logistic) function.</a:t>
                </a:r>
              </a:p>
              <a:p>
                <a:r>
                  <a:rPr lang="en-US" b="0" dirty="0"/>
                  <a:t>	- The sigmoid function “squashes” any real-valued number into a range from 0 to 1.</a:t>
                </a:r>
              </a:p>
              <a:p>
                <a:r>
                  <a:rPr lang="en-US" b="0" dirty="0"/>
                  <a:t>	- A larger value of </a:t>
                </a:r>
                <a14:m>
                  <m:oMath xmlns:m="http://schemas.openxmlformats.org/officeDocument/2006/math">
                    <m:r>
                      <a:rPr lang="en-US" sz="1200" b="0" i="1" kern="1200">
                        <a:solidFill>
                          <a:schemeClr val="tx1"/>
                        </a:solidFill>
                        <a:latin typeface="+mn-lt"/>
                        <a:ea typeface="+mn-ea"/>
                        <a:cs typeface="+mn-cs"/>
                      </a:rPr>
                      <m:t>𝑧</m:t>
                    </m:r>
                  </m:oMath>
                </a14:m>
                <a:r>
                  <a:rPr lang="en-US" b="0" dirty="0"/>
                  <a:t>results in a probability close to 1, while a very negative </a:t>
                </a:r>
                <a14:m>
                  <m:oMath xmlns:m="http://schemas.openxmlformats.org/officeDocument/2006/math">
                    <m:r>
                      <a:rPr lang="en-US" sz="1200" b="0" i="1" kern="1200">
                        <a:solidFill>
                          <a:schemeClr val="tx1"/>
                        </a:solidFill>
                        <a:latin typeface="+mn-lt"/>
                        <a:ea typeface="+mn-ea"/>
                        <a:cs typeface="+mn-cs"/>
                      </a:rPr>
                      <m:t>𝑧</m:t>
                    </m:r>
                  </m:oMath>
                </a14:m>
                <a:r>
                  <a:rPr lang="en-US" b="0" dirty="0"/>
                  <a:t> produces a probability close to 0.</a:t>
                </a:r>
              </a:p>
              <a:p>
                <a:endParaRPr lang="en-US" b="0" dirty="0"/>
              </a:p>
              <a:p>
                <a:r>
                  <a:rPr lang="en-US" b="1" dirty="0"/>
                  <a:t>4. Output Probability: P(y = 1 | X) = σ(z)</a:t>
                </a:r>
              </a:p>
              <a:p>
                <a:r>
                  <a:rPr lang="en-US" dirty="0"/>
                  <a:t>The result of the sigmoid function is interpreted as the predicted </a:t>
                </a:r>
                <a:r>
                  <a:rPr lang="en-US" b="0" dirty="0"/>
                  <a:t>probability </a:t>
                </a:r>
                <a:r>
                  <a:rPr lang="en-US" dirty="0"/>
                  <a:t>that the target class </a:t>
                </a:r>
                <a14:m>
                  <m:oMath xmlns:m="http://schemas.openxmlformats.org/officeDocument/2006/math">
                    <m:r>
                      <a:rPr lang="en-US" sz="1200" i="1" kern="1200">
                        <a:solidFill>
                          <a:schemeClr val="tx1"/>
                        </a:solidFill>
                        <a:latin typeface="+mn-lt"/>
                        <a:ea typeface="+mn-ea"/>
                        <a:cs typeface="+mn-cs"/>
                      </a:rPr>
                      <m:t>𝑦</m:t>
                    </m:r>
                  </m:oMath>
                </a14:m>
                <a:r>
                  <a:rPr lang="en-US" dirty="0"/>
                  <a:t>is equal to 1 given the input features </a:t>
                </a:r>
                <a14:m>
                  <m:oMath xmlns:m="http://schemas.openxmlformats.org/officeDocument/2006/math">
                    <m:r>
                      <a:rPr lang="en-US" sz="1200" i="1" kern="1200">
                        <a:solidFill>
                          <a:schemeClr val="tx1"/>
                        </a:solidFill>
                        <a:latin typeface="+mn-lt"/>
                        <a:ea typeface="+mn-ea"/>
                        <a:cs typeface="+mn-cs"/>
                      </a:rPr>
                      <m:t>𝑋</m:t>
                    </m:r>
                  </m:oMath>
                </a14:m>
                <a:r>
                  <a:rPr lang="en-US" dirty="0"/>
                  <a:t>.</a:t>
                </a:r>
              </a:p>
              <a:p>
                <a:r>
                  <a:rPr lang="en-US" dirty="0"/>
                  <a:t>For example, the model might output:</a:t>
                </a:r>
              </a:p>
              <a:p>
                <a:r>
                  <a:rPr lang="en-US" dirty="0"/>
                  <a:t>	- 0.87 → 87% chance of “positive” or class 1</a:t>
                </a:r>
              </a:p>
              <a:p>
                <a:r>
                  <a:rPr lang="en-US" dirty="0"/>
                  <a:t>	- 0.12 → 12% chance of class 1</a:t>
                </a:r>
              </a:p>
              <a:p>
                <a:endParaRPr lang="en-US" b="0" dirty="0"/>
              </a:p>
              <a:p>
                <a:r>
                  <a:rPr lang="en-US" b="1" dirty="0"/>
                  <a:t>5. Decision Threshold (default = 0.5)</a:t>
                </a:r>
              </a:p>
              <a:p>
                <a:r>
                  <a:rPr lang="en-US" b="0" dirty="0"/>
                  <a:t>To convert the probability into a class label, logistic regression uses a threshold.</a:t>
                </a:r>
              </a:p>
              <a:p>
                <a:r>
                  <a:rPr lang="en-US" b="0" dirty="0"/>
                  <a:t>	- If the probability is greater than or equal to 0.5, the prediction is class 1.</a:t>
                </a:r>
              </a:p>
              <a:p>
                <a:r>
                  <a:rPr lang="en-US" b="0" dirty="0"/>
                  <a:t>	- If it is less than 0.5, the prediction is class 0.</a:t>
                </a:r>
              </a:p>
              <a:p>
                <a:endParaRPr lang="en-US" b="0" dirty="0"/>
              </a:p>
              <a:p>
                <a:r>
                  <a:rPr lang="en-US" b="1" dirty="0"/>
                  <a:t>6. Predicted Class: ŷ = 0 or 1</a:t>
                </a:r>
              </a:p>
              <a:p>
                <a:r>
                  <a:rPr lang="en-US" b="0" dirty="0"/>
                  <a:t>Finally, the model outputs the predicted class label:</a:t>
                </a:r>
              </a:p>
              <a:p>
                <a:r>
                  <a:rPr lang="en-US" b="0" dirty="0"/>
                  <a:t>	- ŷ = 1 if the probability meets or exceeds the threshold</a:t>
                </a:r>
              </a:p>
              <a:p>
                <a:r>
                  <a:rPr lang="en-US" b="0" dirty="0"/>
                  <a:t>	- ŷ = 0 otherwise</a:t>
                </a:r>
              </a:p>
              <a:p>
                <a:endParaRPr lang="en-US" b="0" dirty="0"/>
              </a:p>
              <a:p>
                <a:endParaRPr lang="en-US" b="0" dirty="0"/>
              </a:p>
              <a:p>
                <a:endParaRPr lang="en-US" dirty="0"/>
              </a:p>
              <a:p>
                <a:endParaRPr lang="en-US" dirty="0"/>
              </a:p>
            </p:txBody>
          </p:sp>
        </mc:Choice>
        <mc:Fallback>
          <p:sp>
            <p:nvSpPr>
              <p:cNvPr id="3" name="Notes Placeholder 2"/>
              <p:cNvSpPr>
                <a:spLocks noGrp="1"/>
              </p:cNvSpPr>
              <p:nvPr>
                <p:ph type="body" idx="1"/>
              </p:nvPr>
            </p:nvSpPr>
            <p:spPr/>
            <p:txBody>
              <a:bodyPr/>
              <a:lstStyle/>
              <a:p>
                <a:r>
                  <a:rPr lang="en-US" b="1" dirty="0"/>
                  <a:t>1. Input Features (X₁, X₂, …, Xd)</a:t>
                </a:r>
              </a:p>
              <a:p>
                <a:r>
                  <a:rPr lang="en-US" dirty="0"/>
                  <a:t>These are the variables or attributes used to make predictions. Each feature represents some measurable characteristic of the data.</a:t>
                </a:r>
              </a:p>
              <a:p>
                <a:endParaRPr lang="en-US" dirty="0"/>
              </a:p>
              <a:p>
                <a:r>
                  <a:rPr lang="en-US" b="1" dirty="0"/>
                  <a:t>2. Weighted Sum: z = </a:t>
                </a:r>
                <a:r>
                  <a:rPr lang="en-US" b="1" dirty="0" err="1"/>
                  <a:t>w₁X</a:t>
                </a:r>
                <a:r>
                  <a:rPr lang="en-US" b="1" dirty="0"/>
                  <a:t>₁ + </a:t>
                </a:r>
                <a:r>
                  <a:rPr lang="en-US" b="1" dirty="0" err="1"/>
                  <a:t>w₂X</a:t>
                </a:r>
                <a:r>
                  <a:rPr lang="en-US" b="1" dirty="0"/>
                  <a:t>₂ + … + wd*Xd + b</a:t>
                </a:r>
              </a:p>
              <a:p>
                <a:r>
                  <a:rPr lang="en-US" b="0" dirty="0"/>
                  <a:t>Logistic regression first computes a linear combination of the input features.</a:t>
                </a:r>
              </a:p>
              <a:p>
                <a:r>
                  <a:rPr lang="en-US" b="0" dirty="0"/>
                  <a:t>	-  Each feature </a:t>
                </a:r>
                <a:r>
                  <a:rPr lang="ar-AE" sz="1200" b="0" i="0" kern="1200">
                    <a:solidFill>
                      <a:schemeClr val="tx1"/>
                    </a:solidFill>
                    <a:latin typeface="Cambria Math" panose="02040503050406030204" pitchFamily="18" charset="0"/>
                    <a:ea typeface="+mn-ea"/>
                    <a:cs typeface="+mn-cs"/>
                  </a:rPr>
                  <a:t>𝑋</a:t>
                </a:r>
                <a:r>
                  <a:rPr lang="ar-AE" sz="1200" b="0" i="0" kern="1200">
                    <a:solidFill>
                      <a:schemeClr val="tx1"/>
                    </a:solidFill>
                    <a:latin typeface="+mn-lt"/>
                    <a:ea typeface="+mn-ea"/>
                    <a:cs typeface="+mn-cs"/>
                  </a:rPr>
                  <a:t>_</a:t>
                </a:r>
                <a:r>
                  <a:rPr lang="ar-AE" sz="1200" b="0" i="0" kern="1200">
                    <a:solidFill>
                      <a:schemeClr val="tx1"/>
                    </a:solidFill>
                    <a:latin typeface="Cambria Math" panose="02040503050406030204" pitchFamily="18" charset="0"/>
                    <a:ea typeface="+mn-ea"/>
                    <a:cs typeface="+mn-cs"/>
                  </a:rPr>
                  <a:t>𝑖</a:t>
                </a:r>
                <a:r>
                  <a:rPr lang="en-US" b="0" dirty="0"/>
                  <a:t>is multiplied by a learnable weight </a:t>
                </a:r>
                <a:r>
                  <a:rPr lang="ar-AE" sz="1200" b="0" i="0" kern="1200">
                    <a:solidFill>
                      <a:schemeClr val="tx1"/>
                    </a:solidFill>
                    <a:latin typeface="Cambria Math" panose="02040503050406030204" pitchFamily="18" charset="0"/>
                    <a:ea typeface="+mn-ea"/>
                    <a:cs typeface="+mn-cs"/>
                  </a:rPr>
                  <a:t>𝑤</a:t>
                </a:r>
                <a:r>
                  <a:rPr lang="ar-AE" sz="1200" b="0" i="0" kern="1200">
                    <a:solidFill>
                      <a:schemeClr val="tx1"/>
                    </a:solidFill>
                    <a:latin typeface="+mn-lt"/>
                    <a:ea typeface="+mn-ea"/>
                    <a:cs typeface="+mn-cs"/>
                  </a:rPr>
                  <a:t>_</a:t>
                </a:r>
                <a:r>
                  <a:rPr lang="ar-AE" sz="1200" b="0" i="0" kern="1200">
                    <a:solidFill>
                      <a:schemeClr val="tx1"/>
                    </a:solidFill>
                    <a:latin typeface="Cambria Math" panose="02040503050406030204" pitchFamily="18" charset="0"/>
                    <a:ea typeface="+mn-ea"/>
                    <a:cs typeface="+mn-cs"/>
                  </a:rPr>
                  <a:t>𝑖</a:t>
                </a:r>
                <a:r>
                  <a:rPr lang="ar-AE" b="0" dirty="0"/>
                  <a:t>.</a:t>
                </a:r>
              </a:p>
              <a:p>
                <a:r>
                  <a:rPr lang="en-US" b="0" dirty="0"/>
                  <a:t>	-</a:t>
                </a:r>
                <a:r>
                  <a:rPr lang="en-US" b="0" baseline="0" dirty="0"/>
                  <a:t>  </a:t>
                </a:r>
                <a:r>
                  <a:rPr lang="en-US" b="0" dirty="0"/>
                  <a:t>A bias term </a:t>
                </a:r>
                <a:r>
                  <a:rPr lang="en-US" sz="1200" b="0" i="0" kern="1200">
                    <a:solidFill>
                      <a:schemeClr val="tx1"/>
                    </a:solidFill>
                    <a:latin typeface="Cambria Math" panose="02040503050406030204" pitchFamily="18" charset="0"/>
                    <a:ea typeface="+mn-ea"/>
                    <a:cs typeface="+mn-cs"/>
                  </a:rPr>
                  <a:t>𝑏</a:t>
                </a:r>
                <a:r>
                  <a:rPr lang="en-US" b="0" dirty="0"/>
                  <a:t>is added to shift the decision boundary.</a:t>
                </a:r>
              </a:p>
              <a:p>
                <a:endParaRPr lang="en-US" dirty="0"/>
              </a:p>
              <a:p>
                <a:r>
                  <a:rPr lang="en-US" b="1" dirty="0"/>
                  <a:t>3. Sigmoid Activation: σ(z) = 1 / (1 + exp(-z))</a:t>
                </a:r>
              </a:p>
              <a:p>
                <a:r>
                  <a:rPr lang="en-US" b="0" dirty="0"/>
                  <a:t>Because classification requires a probability between 0 and 1, logistic regression passes the linear output </a:t>
                </a:r>
                <a:r>
                  <a:rPr lang="en-US" sz="1200" b="0" i="0" kern="1200">
                    <a:solidFill>
                      <a:schemeClr val="tx1"/>
                    </a:solidFill>
                    <a:latin typeface="+mn-lt"/>
                    <a:ea typeface="+mn-ea"/>
                    <a:cs typeface="+mn-cs"/>
                  </a:rPr>
                  <a:t>𝑧</a:t>
                </a:r>
                <a:r>
                  <a:rPr lang="en-US" b="0" dirty="0"/>
                  <a:t>through the sigmoid (logistic) function.</a:t>
                </a:r>
              </a:p>
              <a:p>
                <a:r>
                  <a:rPr lang="en-US" b="0" dirty="0"/>
                  <a:t>	- The sigmoid function “squashes” any real-valued number into a range from 0 to 1.</a:t>
                </a:r>
              </a:p>
              <a:p>
                <a:r>
                  <a:rPr lang="en-US" b="0" dirty="0"/>
                  <a:t>	- A larger value of </a:t>
                </a:r>
                <a:r>
                  <a:rPr lang="en-US" sz="1200" b="0" i="0" kern="1200">
                    <a:solidFill>
                      <a:schemeClr val="tx1"/>
                    </a:solidFill>
                    <a:latin typeface="+mn-lt"/>
                    <a:ea typeface="+mn-ea"/>
                    <a:cs typeface="+mn-cs"/>
                  </a:rPr>
                  <a:t>𝑧</a:t>
                </a:r>
                <a:r>
                  <a:rPr lang="en-US" b="0" dirty="0"/>
                  <a:t>results in a probability close to 1, while a very negative </a:t>
                </a:r>
                <a:r>
                  <a:rPr lang="en-US" sz="1200" b="0" i="0" kern="1200">
                    <a:solidFill>
                      <a:schemeClr val="tx1"/>
                    </a:solidFill>
                    <a:latin typeface="+mn-lt"/>
                    <a:ea typeface="+mn-ea"/>
                    <a:cs typeface="+mn-cs"/>
                  </a:rPr>
                  <a:t>𝑧</a:t>
                </a:r>
                <a:r>
                  <a:rPr lang="en-US" b="0" dirty="0"/>
                  <a:t> produces a probability close to 0.</a:t>
                </a:r>
              </a:p>
              <a:p>
                <a:endParaRPr lang="en-US" b="0" dirty="0"/>
              </a:p>
              <a:p>
                <a:r>
                  <a:rPr lang="en-US" b="1" dirty="0"/>
                  <a:t>4. Output Probability: P(y = 1 | X) = σ(z)</a:t>
                </a:r>
              </a:p>
              <a:p>
                <a:r>
                  <a:rPr lang="en-US" dirty="0"/>
                  <a:t>The result of the sigmoid function is interpreted as the predicted </a:t>
                </a:r>
                <a:r>
                  <a:rPr lang="en-US" b="0" dirty="0"/>
                  <a:t>probability </a:t>
                </a:r>
                <a:r>
                  <a:rPr lang="en-US" dirty="0"/>
                  <a:t>that the target class </a:t>
                </a:r>
                <a:r>
                  <a:rPr lang="en-US" sz="1200" i="0" kern="1200">
                    <a:solidFill>
                      <a:schemeClr val="tx1"/>
                    </a:solidFill>
                    <a:latin typeface="+mn-lt"/>
                    <a:ea typeface="+mn-ea"/>
                    <a:cs typeface="+mn-cs"/>
                  </a:rPr>
                  <a:t>𝑦</a:t>
                </a:r>
                <a:r>
                  <a:rPr lang="en-US" dirty="0"/>
                  <a:t>is equal to 1 given the input features </a:t>
                </a:r>
                <a:r>
                  <a:rPr lang="en-US" sz="1200" i="0" kern="1200">
                    <a:solidFill>
                      <a:schemeClr val="tx1"/>
                    </a:solidFill>
                    <a:latin typeface="+mn-lt"/>
                    <a:ea typeface="+mn-ea"/>
                    <a:cs typeface="+mn-cs"/>
                  </a:rPr>
                  <a:t>𝑋</a:t>
                </a:r>
                <a:r>
                  <a:rPr lang="en-US" dirty="0"/>
                  <a:t>.</a:t>
                </a:r>
              </a:p>
              <a:p>
                <a:r>
                  <a:rPr lang="en-US" dirty="0"/>
                  <a:t>For example, the model might output:</a:t>
                </a:r>
              </a:p>
              <a:p>
                <a:r>
                  <a:rPr lang="en-US" dirty="0"/>
                  <a:t>	- 0.87 → 87% chance of “positive” or class 1</a:t>
                </a:r>
              </a:p>
              <a:p>
                <a:r>
                  <a:rPr lang="en-US" dirty="0"/>
                  <a:t>	- 0.12 → 12% chance of class 1</a:t>
                </a:r>
              </a:p>
              <a:p>
                <a:endParaRPr lang="en-US" b="0" dirty="0"/>
              </a:p>
              <a:p>
                <a:r>
                  <a:rPr lang="en-US" b="1" dirty="0"/>
                  <a:t>5. Decision Threshold (default = 0.5)</a:t>
                </a:r>
              </a:p>
              <a:p>
                <a:r>
                  <a:rPr lang="en-US" b="0" dirty="0"/>
                  <a:t>To convert the probability into a class label, logistic regression uses a threshold.</a:t>
                </a:r>
              </a:p>
              <a:p>
                <a:r>
                  <a:rPr lang="en-US" b="0" dirty="0"/>
                  <a:t>	- If the probability is greater than or equal to 0.5, the prediction is class 1.</a:t>
                </a:r>
              </a:p>
              <a:p>
                <a:r>
                  <a:rPr lang="en-US" b="0" dirty="0"/>
                  <a:t>	- If it is less than 0.5, the prediction is class 0.</a:t>
                </a:r>
              </a:p>
              <a:p>
                <a:endParaRPr lang="en-US" b="0" dirty="0"/>
              </a:p>
              <a:p>
                <a:r>
                  <a:rPr lang="en-US" b="1" dirty="0"/>
                  <a:t>6. Predicted Class: ŷ = 0 or 1</a:t>
                </a:r>
              </a:p>
              <a:p>
                <a:r>
                  <a:rPr lang="en-US" b="0" dirty="0"/>
                  <a:t>Finally, the model outputs the predicted class label:</a:t>
                </a:r>
              </a:p>
              <a:p>
                <a:r>
                  <a:rPr lang="en-US" b="0" dirty="0"/>
                  <a:t>	- ŷ = 1 if the probability meets or exceeds the threshold</a:t>
                </a:r>
              </a:p>
              <a:p>
                <a:r>
                  <a:rPr lang="en-US" b="0" dirty="0"/>
                  <a:t>	- ŷ = 0 otherwise</a:t>
                </a:r>
              </a:p>
              <a:p>
                <a:endParaRPr lang="en-US" b="0" dirty="0"/>
              </a:p>
              <a:p>
                <a:endParaRPr lang="en-US" b="0" dirty="0"/>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9C5C3472-224F-4F31-9706-FC7607163979}" type="slidenum">
              <a:rPr lang="en-US" smtClean="0"/>
              <a:t>6</a:t>
            </a:fld>
            <a:endParaRPr lang="en-US"/>
          </a:p>
        </p:txBody>
      </p:sp>
    </p:spTree>
    <p:extLst>
      <p:ext uri="{BB962C8B-B14F-4D97-AF65-F5344CB8AC3E}">
        <p14:creationId xmlns:p14="http://schemas.microsoft.com/office/powerpoint/2010/main" val="9494535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Application will based on Marketing </a:t>
            </a:r>
          </a:p>
        </p:txBody>
      </p:sp>
      <p:sp>
        <p:nvSpPr>
          <p:cNvPr id="4" name="Slide Number Placeholder 3"/>
          <p:cNvSpPr>
            <a:spLocks noGrp="1"/>
          </p:cNvSpPr>
          <p:nvPr>
            <p:ph type="sldNum" sz="quarter" idx="5"/>
          </p:nvPr>
        </p:nvSpPr>
        <p:spPr/>
        <p:txBody>
          <a:bodyPr/>
          <a:lstStyle/>
          <a:p>
            <a:fld id="{9C5C3472-224F-4F31-9706-FC7607163979}" type="slidenum">
              <a:rPr lang="en-US" smtClean="0"/>
              <a:t>8</a:t>
            </a:fld>
            <a:endParaRPr lang="en-US"/>
          </a:p>
        </p:txBody>
      </p:sp>
    </p:spTree>
    <p:extLst>
      <p:ext uri="{BB962C8B-B14F-4D97-AF65-F5344CB8AC3E}">
        <p14:creationId xmlns:p14="http://schemas.microsoft.com/office/powerpoint/2010/main" val="10542173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5C3472-224F-4F31-9706-FC7607163979}" type="slidenum">
              <a:rPr lang="en-US" smtClean="0"/>
              <a:t>10</a:t>
            </a:fld>
            <a:endParaRPr lang="en-US"/>
          </a:p>
        </p:txBody>
      </p:sp>
    </p:spTree>
    <p:extLst>
      <p:ext uri="{BB962C8B-B14F-4D97-AF65-F5344CB8AC3E}">
        <p14:creationId xmlns:p14="http://schemas.microsoft.com/office/powerpoint/2010/main" val="816080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Load Dataset</a:t>
            </a:r>
          </a:p>
          <a:p>
            <a:r>
              <a:rPr lang="en-US" dirty="0"/>
              <a:t>The dataset is loaded from a CSV file, and the column names are cleaned to remove extra spaces.</a:t>
            </a:r>
          </a:p>
          <a:p>
            <a:endParaRPr lang="en-US" dirty="0"/>
          </a:p>
          <a:p>
            <a:r>
              <a:rPr lang="en-US" b="1" dirty="0"/>
              <a:t>2. Cleaning / Handling Missing Values</a:t>
            </a:r>
          </a:p>
          <a:p>
            <a:r>
              <a:rPr lang="en-US" b="0" dirty="0"/>
              <a:t>	- Numeric features are imputed using the median, which is robust to outliers and preserves the distribution.</a:t>
            </a:r>
          </a:p>
          <a:p>
            <a:r>
              <a:rPr lang="en-US" b="0" dirty="0"/>
              <a:t>	- Categorical features are filled with their most frequent category (mode) to avoid losing data while keeping categories valid.</a:t>
            </a:r>
          </a:p>
          <a:p>
            <a:endParaRPr lang="en-US" b="0" dirty="0"/>
          </a:p>
          <a:p>
            <a:r>
              <a:rPr lang="en-US" b="1" dirty="0"/>
              <a:t>3. Define Features and Target</a:t>
            </a:r>
          </a:p>
          <a:p>
            <a:r>
              <a:rPr lang="en-US" dirty="0"/>
              <a:t>The target variable (</a:t>
            </a:r>
            <a:r>
              <a:rPr lang="en-US" sz="1200" kern="1200" dirty="0">
                <a:solidFill>
                  <a:schemeClr val="tx1"/>
                </a:solidFill>
                <a:latin typeface="+mn-lt"/>
                <a:ea typeface="+mn-ea"/>
                <a:cs typeface="+mn-cs"/>
              </a:rPr>
              <a:t>Response</a:t>
            </a:r>
            <a:r>
              <a:rPr lang="en-US" dirty="0"/>
              <a:t>) is separated from the feature set. Irrelevant or non-informative columns such as ID fields and administrative variables (</a:t>
            </a:r>
            <a:r>
              <a:rPr lang="en-US" sz="1200" kern="1200" dirty="0" err="1">
                <a:solidFill>
                  <a:schemeClr val="tx1"/>
                </a:solidFill>
                <a:latin typeface="+mn-lt"/>
                <a:ea typeface="+mn-ea"/>
                <a:cs typeface="+mn-cs"/>
              </a:rPr>
              <a:t>Dt_Customer</a:t>
            </a:r>
            <a:r>
              <a:rPr lang="en-US" dirty="0"/>
              <a:t>, </a:t>
            </a:r>
            <a:r>
              <a:rPr lang="en-US" sz="1200" kern="1200" dirty="0" err="1">
                <a:solidFill>
                  <a:schemeClr val="tx1"/>
                </a:solidFill>
                <a:latin typeface="+mn-lt"/>
                <a:ea typeface="+mn-ea"/>
                <a:cs typeface="+mn-cs"/>
              </a:rPr>
              <a:t>Z_CostContact</a:t>
            </a:r>
            <a:r>
              <a:rPr lang="en-US" dirty="0"/>
              <a:t>, </a:t>
            </a:r>
            <a:r>
              <a:rPr lang="en-US" sz="1200" kern="1200" dirty="0" err="1">
                <a:solidFill>
                  <a:schemeClr val="tx1"/>
                </a:solidFill>
                <a:latin typeface="+mn-lt"/>
                <a:ea typeface="+mn-ea"/>
                <a:cs typeface="+mn-cs"/>
              </a:rPr>
              <a:t>Z_Revenue</a:t>
            </a:r>
            <a:r>
              <a:rPr lang="en-US" dirty="0"/>
              <a:t>) are dropped. This prevents data leakage and ensures that the model learns only from meaningful information.</a:t>
            </a:r>
          </a:p>
          <a:p>
            <a:endParaRPr lang="en-US" b="0" dirty="0"/>
          </a:p>
          <a:p>
            <a:r>
              <a:rPr lang="en-US" b="1" dirty="0"/>
              <a:t>4. Preprocessing: Encoding &amp; Scaling</a:t>
            </a:r>
          </a:p>
          <a:p>
            <a:r>
              <a:rPr lang="en-US" b="0" dirty="0"/>
              <a:t>A preprocessing pipeline is created using </a:t>
            </a:r>
            <a:r>
              <a:rPr lang="en-US" sz="1200" b="0" kern="1200" dirty="0">
                <a:solidFill>
                  <a:schemeClr val="tx1"/>
                </a:solidFill>
                <a:latin typeface="+mn-lt"/>
                <a:ea typeface="+mn-ea"/>
                <a:cs typeface="+mn-cs"/>
              </a:rPr>
              <a:t>ColumnTransformer</a:t>
            </a:r>
            <a:r>
              <a:rPr lang="en-US" b="0" dirty="0"/>
              <a:t>.</a:t>
            </a:r>
          </a:p>
          <a:p>
            <a:r>
              <a:rPr lang="en-US" b="0" dirty="0"/>
              <a:t>	- Numeric features are standardized to have mean 0 and variance 1, improving model stability.</a:t>
            </a:r>
          </a:p>
          <a:p>
            <a:r>
              <a:rPr lang="en-US" b="0" dirty="0"/>
              <a:t>	- Categorical features are one-hot encoded, converting categories into binary indicator variables.</a:t>
            </a:r>
          </a:p>
          <a:p>
            <a:endParaRPr lang="en-US" b="0" dirty="0"/>
          </a:p>
          <a:p>
            <a:r>
              <a:rPr lang="en-US" b="1" dirty="0"/>
              <a:t>5. Train / Validation / Test Split</a:t>
            </a:r>
          </a:p>
          <a:p>
            <a:r>
              <a:rPr lang="en-US" b="0" dirty="0"/>
              <a:t>The dataset is divided into three parts:</a:t>
            </a:r>
          </a:p>
          <a:p>
            <a:r>
              <a:rPr lang="en-US" b="0" dirty="0"/>
              <a:t>	- Training set (64%) for model learning</a:t>
            </a:r>
          </a:p>
          <a:p>
            <a:r>
              <a:rPr lang="en-US" b="0" dirty="0"/>
              <a:t>	- Validation set (16%) for hyperparameter tuning</a:t>
            </a:r>
          </a:p>
          <a:p>
            <a:r>
              <a:rPr lang="en-US" b="0" dirty="0"/>
              <a:t>	- Test set (20%) for final performance evaluation</a:t>
            </a:r>
          </a:p>
          <a:p>
            <a:endParaRPr lang="en-US" b="0" dirty="0"/>
          </a:p>
          <a:p>
            <a:r>
              <a:rPr lang="en-US" b="1" dirty="0"/>
              <a:t>6. Fit Preprocessor and Transform</a:t>
            </a:r>
          </a:p>
          <a:p>
            <a:r>
              <a:rPr lang="en-US" b="0" dirty="0"/>
              <a:t>The preprocessing pipeline is fitted only on the training set, then applied to the validation and test sets. This prevents information from the validation or test data from leaking into the training process, so it can ensure an honest evaluation of model performance.</a:t>
            </a:r>
          </a:p>
          <a:p>
            <a:endParaRPr lang="en-US" b="0" dirty="0"/>
          </a:p>
          <a:p>
            <a:r>
              <a:rPr lang="en-US" b="1" dirty="0"/>
              <a:t>7. Output Shapes</a:t>
            </a:r>
          </a:p>
          <a:p>
            <a:r>
              <a:rPr lang="en-US" dirty="0"/>
              <a:t>The shapes of the processed feature matrices and label vectors are printed. This is confirmation that the preprocessing steps were successful, and give information of the training, validation, and test sets contain the expected number of samples and transformed features.</a:t>
            </a:r>
          </a:p>
          <a:p>
            <a:endParaRPr lang="en-US" b="0" dirty="0"/>
          </a:p>
          <a:p>
            <a:endParaRPr lang="en-US" b="0" dirty="0"/>
          </a:p>
          <a:p>
            <a:endParaRPr lang="en-US" b="0" dirty="0"/>
          </a:p>
          <a:p>
            <a:endParaRPr lang="en-US" b="0" dirty="0"/>
          </a:p>
          <a:p>
            <a:endParaRPr lang="en-US" dirty="0"/>
          </a:p>
          <a:p>
            <a:endParaRPr lang="en-US" dirty="0"/>
          </a:p>
        </p:txBody>
      </p:sp>
      <p:sp>
        <p:nvSpPr>
          <p:cNvPr id="4" name="Slide Number Placeholder 3"/>
          <p:cNvSpPr>
            <a:spLocks noGrp="1"/>
          </p:cNvSpPr>
          <p:nvPr>
            <p:ph type="sldNum" sz="quarter" idx="5"/>
          </p:nvPr>
        </p:nvSpPr>
        <p:spPr/>
        <p:txBody>
          <a:bodyPr/>
          <a:lstStyle/>
          <a:p>
            <a:fld id="{9C5C3472-224F-4F31-9706-FC7607163979}" type="slidenum">
              <a:rPr lang="en-US" smtClean="0"/>
              <a:t>11</a:t>
            </a:fld>
            <a:endParaRPr lang="en-US"/>
          </a:p>
        </p:txBody>
      </p:sp>
    </p:spTree>
    <p:extLst>
      <p:ext uri="{BB962C8B-B14F-4D97-AF65-F5344CB8AC3E}">
        <p14:creationId xmlns:p14="http://schemas.microsoft.com/office/powerpoint/2010/main" val="1574660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Define Hyperparameter Range</a:t>
            </a:r>
          </a:p>
          <a:p>
            <a:r>
              <a:rPr lang="en-US" b="0" dirty="0"/>
              <a:t>A range of C values is created using a logarithmic scale from 0.001 to 1000.</a:t>
            </a:r>
          </a:p>
          <a:p>
            <a:r>
              <a:rPr lang="en-US" sz="1200" b="0" kern="1200" dirty="0">
                <a:solidFill>
                  <a:schemeClr val="tx1"/>
                </a:solidFill>
                <a:latin typeface="+mn-lt"/>
                <a:ea typeface="+mn-ea"/>
                <a:cs typeface="+mn-cs"/>
              </a:rPr>
              <a:t>C</a:t>
            </a:r>
            <a:r>
              <a:rPr lang="en-US" b="0" dirty="0"/>
              <a:t> controls the inverse of regularization strength:</a:t>
            </a:r>
          </a:p>
          <a:p>
            <a:pPr lvl="1"/>
            <a:r>
              <a:rPr lang="en-US" b="0" dirty="0"/>
              <a:t>- Small C → stronger regularization (simpler model)</a:t>
            </a:r>
          </a:p>
          <a:p>
            <a:pPr lvl="1"/>
            <a:r>
              <a:rPr lang="en-US" b="0" dirty="0"/>
              <a:t>- Large C → weaker regularization (more flexible model)</a:t>
            </a:r>
          </a:p>
          <a:p>
            <a:endParaRPr lang="en-US" dirty="0"/>
          </a:p>
          <a:p>
            <a:r>
              <a:rPr lang="en-US" b="1" dirty="0"/>
              <a:t>2. Train Logistic Regression for Each C</a:t>
            </a:r>
          </a:p>
          <a:p>
            <a:r>
              <a:rPr lang="en-US" dirty="0"/>
              <a:t>A logistic regression model is trained repeatedly, one for each C value.</a:t>
            </a:r>
          </a:p>
          <a:p>
            <a:r>
              <a:rPr lang="en-US" dirty="0"/>
              <a:t>The model is fit </a:t>
            </a:r>
            <a:r>
              <a:rPr lang="en-US" b="0" dirty="0"/>
              <a:t>only on the training data.</a:t>
            </a:r>
          </a:p>
          <a:p>
            <a:r>
              <a:rPr lang="en-US" dirty="0"/>
              <a:t>Predictions on the validation set provide:</a:t>
            </a:r>
          </a:p>
          <a:p>
            <a:pPr marL="628650" lvl="1" indent="-171450">
              <a:buFontTx/>
              <a:buChar char="-"/>
            </a:pPr>
            <a:r>
              <a:rPr lang="en-US" b="0" dirty="0"/>
              <a:t>Accuracy: measures how many labels were predicted correctly</a:t>
            </a:r>
          </a:p>
          <a:p>
            <a:pPr marL="628650" lvl="1" indent="-171450">
              <a:buFontTx/>
              <a:buChar char="-"/>
            </a:pPr>
            <a:r>
              <a:rPr lang="en-US" b="0" dirty="0"/>
              <a:t>AUC (Area Under ROC): measures ranking/separation ability between classes AUC is often preferred because it is more robust to class imbalance. Both metrics are stored for comparison.</a:t>
            </a:r>
          </a:p>
          <a:p>
            <a:pPr marL="628650" lvl="1" indent="-171450">
              <a:buFontTx/>
              <a:buChar char="-"/>
            </a:pPr>
            <a:endParaRPr lang="en-US" b="0" dirty="0"/>
          </a:p>
          <a:p>
            <a:r>
              <a:rPr lang="en-US" b="1" dirty="0"/>
              <a:t>3. Find the Best Parameter</a:t>
            </a:r>
          </a:p>
          <a:p>
            <a:r>
              <a:rPr lang="en-US" dirty="0"/>
              <a:t>The best C value is selected by choosing the model with the </a:t>
            </a:r>
            <a:r>
              <a:rPr lang="en-US" b="1" dirty="0"/>
              <a:t>highest validation AUC</a:t>
            </a:r>
            <a:r>
              <a:rPr lang="en-US" dirty="0"/>
              <a:t>.</a:t>
            </a:r>
            <a:br>
              <a:rPr lang="en-US" dirty="0"/>
            </a:br>
            <a:r>
              <a:rPr lang="en-US" dirty="0"/>
              <a:t>This avoids overfitting to accuracy alone and focuses on probability quality and class separation.</a:t>
            </a:r>
          </a:p>
          <a:p>
            <a:pPr marL="457200" lvl="1" indent="0">
              <a:buFontTx/>
              <a:buNone/>
            </a:pPr>
            <a:endParaRPr lang="en-US" b="0" dirty="0"/>
          </a:p>
          <a:p>
            <a:r>
              <a:rPr lang="en-US" b="1" dirty="0"/>
              <a:t>4. Plot Performance</a:t>
            </a:r>
          </a:p>
          <a:p>
            <a:r>
              <a:rPr lang="en-US" dirty="0"/>
              <a:t>A performance curve is created for AUC and accuracy across all C values.</a:t>
            </a:r>
          </a:p>
          <a:p>
            <a:r>
              <a:rPr lang="en-US" dirty="0"/>
              <a:t>	- A </a:t>
            </a:r>
            <a:r>
              <a:rPr lang="en-US" b="0" dirty="0"/>
              <a:t>logarithmic x-axis </a:t>
            </a:r>
            <a:r>
              <a:rPr lang="en-US" dirty="0"/>
              <a:t>visually highlights how performance changes with regularization.</a:t>
            </a:r>
          </a:p>
          <a:p>
            <a:r>
              <a:rPr lang="en-US" dirty="0"/>
              <a:t>	- A vertical line marks the best C.</a:t>
            </a:r>
          </a:p>
          <a:p>
            <a:pPr marL="457200" lvl="1" indent="0">
              <a:buFontTx/>
              <a:buNone/>
            </a:pPr>
            <a:endParaRPr lang="en-US" b="0" dirty="0"/>
          </a:p>
          <a:p>
            <a:pPr marL="457200" lvl="1" indent="0">
              <a:buFontTx/>
              <a:buNone/>
            </a:pPr>
            <a:endParaRPr lang="en-US" b="0" dirty="0"/>
          </a:p>
          <a:p>
            <a:endParaRPr lang="en-US" dirty="0"/>
          </a:p>
        </p:txBody>
      </p:sp>
      <p:sp>
        <p:nvSpPr>
          <p:cNvPr id="4" name="Slide Number Placeholder 3"/>
          <p:cNvSpPr>
            <a:spLocks noGrp="1"/>
          </p:cNvSpPr>
          <p:nvPr>
            <p:ph type="sldNum" sz="quarter" idx="5"/>
          </p:nvPr>
        </p:nvSpPr>
        <p:spPr/>
        <p:txBody>
          <a:bodyPr/>
          <a:lstStyle/>
          <a:p>
            <a:fld id="{9C5C3472-224F-4F31-9706-FC7607163979}" type="slidenum">
              <a:rPr lang="en-US" smtClean="0"/>
              <a:t>12</a:t>
            </a:fld>
            <a:endParaRPr lang="en-US"/>
          </a:p>
        </p:txBody>
      </p:sp>
    </p:spTree>
    <p:extLst>
      <p:ext uri="{BB962C8B-B14F-4D97-AF65-F5344CB8AC3E}">
        <p14:creationId xmlns:p14="http://schemas.microsoft.com/office/powerpoint/2010/main" val="41977613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5C3472-224F-4F31-9706-FC7607163979}" type="slidenum">
              <a:rPr lang="en-US" smtClean="0"/>
              <a:t>13</a:t>
            </a:fld>
            <a:endParaRPr lang="en-US"/>
          </a:p>
        </p:txBody>
      </p:sp>
    </p:spTree>
    <p:extLst>
      <p:ext uri="{BB962C8B-B14F-4D97-AF65-F5344CB8AC3E}">
        <p14:creationId xmlns:p14="http://schemas.microsoft.com/office/powerpoint/2010/main" val="13960469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5C3472-224F-4F31-9706-FC7607163979}" type="slidenum">
              <a:rPr lang="en-US" smtClean="0"/>
              <a:t>14</a:t>
            </a:fld>
            <a:endParaRPr lang="en-US"/>
          </a:p>
        </p:txBody>
      </p:sp>
    </p:spTree>
    <p:extLst>
      <p:ext uri="{BB962C8B-B14F-4D97-AF65-F5344CB8AC3E}">
        <p14:creationId xmlns:p14="http://schemas.microsoft.com/office/powerpoint/2010/main" val="35385979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5C3472-224F-4F31-9706-FC7607163979}" type="slidenum">
              <a:rPr lang="en-US" smtClean="0"/>
              <a:t>17</a:t>
            </a:fld>
            <a:endParaRPr lang="en-US"/>
          </a:p>
        </p:txBody>
      </p:sp>
    </p:spTree>
    <p:extLst>
      <p:ext uri="{BB962C8B-B14F-4D97-AF65-F5344CB8AC3E}">
        <p14:creationId xmlns:p14="http://schemas.microsoft.com/office/powerpoint/2010/main" val="36393693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8EA37-5854-7235-2C39-0D77E85BE3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583B223-D32D-1284-E162-BE319FCE315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F871782-3977-10CA-8DD4-1F9B9F97E5F7}"/>
              </a:ext>
            </a:extLst>
          </p:cNvPr>
          <p:cNvSpPr>
            <a:spLocks noGrp="1"/>
          </p:cNvSpPr>
          <p:nvPr>
            <p:ph type="dt" sz="half" idx="10"/>
          </p:nvPr>
        </p:nvSpPr>
        <p:spPr/>
        <p:txBody>
          <a:bodyPr/>
          <a:lstStyle/>
          <a:p>
            <a:fld id="{4EE06C3E-BA30-4128-B864-A1E2B9E3792F}" type="datetimeFigureOut">
              <a:rPr lang="en-US" smtClean="0"/>
              <a:t>12/3/2025</a:t>
            </a:fld>
            <a:endParaRPr lang="en-US"/>
          </a:p>
        </p:txBody>
      </p:sp>
      <p:sp>
        <p:nvSpPr>
          <p:cNvPr id="5" name="Footer Placeholder 4">
            <a:extLst>
              <a:ext uri="{FF2B5EF4-FFF2-40B4-BE49-F238E27FC236}">
                <a16:creationId xmlns:a16="http://schemas.microsoft.com/office/drawing/2014/main" id="{C04DC0B9-8144-D5F4-5936-FFB838483D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AC3B01-A77E-C0C1-4553-83359362E998}"/>
              </a:ext>
            </a:extLst>
          </p:cNvPr>
          <p:cNvSpPr>
            <a:spLocks noGrp="1"/>
          </p:cNvSpPr>
          <p:nvPr>
            <p:ph type="sldNum" sz="quarter" idx="12"/>
          </p:nvPr>
        </p:nvSpPr>
        <p:spPr/>
        <p:txBody>
          <a:bodyPr/>
          <a:lstStyle/>
          <a:p>
            <a:fld id="{92AA54DD-D289-429F-8559-FA3702B864FD}" type="slidenum">
              <a:rPr lang="en-US" smtClean="0"/>
              <a:t>‹#›</a:t>
            </a:fld>
            <a:endParaRPr lang="en-US"/>
          </a:p>
        </p:txBody>
      </p:sp>
    </p:spTree>
    <p:extLst>
      <p:ext uri="{BB962C8B-B14F-4D97-AF65-F5344CB8AC3E}">
        <p14:creationId xmlns:p14="http://schemas.microsoft.com/office/powerpoint/2010/main" val="5698965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31328-59F9-1898-575A-E3B0B55E6C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B65AFB-0525-B0BE-BF22-7A31DEB42A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14E48D-6557-733A-D87F-E090306C9841}"/>
              </a:ext>
            </a:extLst>
          </p:cNvPr>
          <p:cNvSpPr>
            <a:spLocks noGrp="1"/>
          </p:cNvSpPr>
          <p:nvPr>
            <p:ph type="dt" sz="half" idx="10"/>
          </p:nvPr>
        </p:nvSpPr>
        <p:spPr/>
        <p:txBody>
          <a:bodyPr/>
          <a:lstStyle/>
          <a:p>
            <a:fld id="{4EE06C3E-BA30-4128-B864-A1E2B9E3792F}" type="datetimeFigureOut">
              <a:rPr lang="en-US" smtClean="0"/>
              <a:t>12/3/2025</a:t>
            </a:fld>
            <a:endParaRPr lang="en-US"/>
          </a:p>
        </p:txBody>
      </p:sp>
      <p:sp>
        <p:nvSpPr>
          <p:cNvPr id="5" name="Footer Placeholder 4">
            <a:extLst>
              <a:ext uri="{FF2B5EF4-FFF2-40B4-BE49-F238E27FC236}">
                <a16:creationId xmlns:a16="http://schemas.microsoft.com/office/drawing/2014/main" id="{E6050BB9-2BB2-A3EA-B55E-379BBBBF85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A1948C-45AC-C8BF-0F4E-D128C5549A77}"/>
              </a:ext>
            </a:extLst>
          </p:cNvPr>
          <p:cNvSpPr>
            <a:spLocks noGrp="1"/>
          </p:cNvSpPr>
          <p:nvPr>
            <p:ph type="sldNum" sz="quarter" idx="12"/>
          </p:nvPr>
        </p:nvSpPr>
        <p:spPr/>
        <p:txBody>
          <a:bodyPr/>
          <a:lstStyle/>
          <a:p>
            <a:fld id="{92AA54DD-D289-429F-8559-FA3702B864FD}" type="slidenum">
              <a:rPr lang="en-US" smtClean="0"/>
              <a:t>‹#›</a:t>
            </a:fld>
            <a:endParaRPr lang="en-US"/>
          </a:p>
        </p:txBody>
      </p:sp>
    </p:spTree>
    <p:extLst>
      <p:ext uri="{BB962C8B-B14F-4D97-AF65-F5344CB8AC3E}">
        <p14:creationId xmlns:p14="http://schemas.microsoft.com/office/powerpoint/2010/main" val="38456291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E8B7E-7977-2978-66D6-FF188737510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6175EAE-7039-8512-370E-6755A2305A3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7073986-22C7-C659-AC72-37023EC33781}"/>
              </a:ext>
            </a:extLst>
          </p:cNvPr>
          <p:cNvSpPr>
            <a:spLocks noGrp="1"/>
          </p:cNvSpPr>
          <p:nvPr>
            <p:ph type="dt" sz="half" idx="10"/>
          </p:nvPr>
        </p:nvSpPr>
        <p:spPr/>
        <p:txBody>
          <a:bodyPr/>
          <a:lstStyle/>
          <a:p>
            <a:fld id="{4EE06C3E-BA30-4128-B864-A1E2B9E3792F}" type="datetimeFigureOut">
              <a:rPr lang="en-US" smtClean="0"/>
              <a:t>12/3/2025</a:t>
            </a:fld>
            <a:endParaRPr lang="en-US"/>
          </a:p>
        </p:txBody>
      </p:sp>
      <p:sp>
        <p:nvSpPr>
          <p:cNvPr id="5" name="Footer Placeholder 4">
            <a:extLst>
              <a:ext uri="{FF2B5EF4-FFF2-40B4-BE49-F238E27FC236}">
                <a16:creationId xmlns:a16="http://schemas.microsoft.com/office/drawing/2014/main" id="{5FEBDBC8-12D8-5713-B933-B0B736A165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7FC725-2923-C5F7-AA0E-FEF4C4825034}"/>
              </a:ext>
            </a:extLst>
          </p:cNvPr>
          <p:cNvSpPr>
            <a:spLocks noGrp="1"/>
          </p:cNvSpPr>
          <p:nvPr>
            <p:ph type="sldNum" sz="quarter" idx="12"/>
          </p:nvPr>
        </p:nvSpPr>
        <p:spPr/>
        <p:txBody>
          <a:bodyPr/>
          <a:lstStyle/>
          <a:p>
            <a:fld id="{92AA54DD-D289-429F-8559-FA3702B864FD}" type="slidenum">
              <a:rPr lang="en-US" smtClean="0"/>
              <a:t>‹#›</a:t>
            </a:fld>
            <a:endParaRPr lang="en-US"/>
          </a:p>
        </p:txBody>
      </p:sp>
    </p:spTree>
    <p:extLst>
      <p:ext uri="{BB962C8B-B14F-4D97-AF65-F5344CB8AC3E}">
        <p14:creationId xmlns:p14="http://schemas.microsoft.com/office/powerpoint/2010/main" val="41514353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B3B35-0E15-9032-F20F-C6352F81FE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AFF369D-1A01-2999-BC64-08C408F4A1C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E8B56B1-53A0-8E25-2CE5-E28F561A96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E4C2ACC-47C5-2737-551A-D7C81D018CA7}"/>
              </a:ext>
            </a:extLst>
          </p:cNvPr>
          <p:cNvSpPr>
            <a:spLocks noGrp="1"/>
          </p:cNvSpPr>
          <p:nvPr>
            <p:ph type="dt" sz="half" idx="10"/>
          </p:nvPr>
        </p:nvSpPr>
        <p:spPr/>
        <p:txBody>
          <a:bodyPr/>
          <a:lstStyle/>
          <a:p>
            <a:fld id="{4EE06C3E-BA30-4128-B864-A1E2B9E3792F}" type="datetimeFigureOut">
              <a:rPr lang="en-US" smtClean="0"/>
              <a:t>12/3/2025</a:t>
            </a:fld>
            <a:endParaRPr lang="en-US"/>
          </a:p>
        </p:txBody>
      </p:sp>
      <p:sp>
        <p:nvSpPr>
          <p:cNvPr id="6" name="Footer Placeholder 5">
            <a:extLst>
              <a:ext uri="{FF2B5EF4-FFF2-40B4-BE49-F238E27FC236}">
                <a16:creationId xmlns:a16="http://schemas.microsoft.com/office/drawing/2014/main" id="{088BBC3E-9D3D-EB69-C574-F67D15B7160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712AE7-DE1E-E235-915E-17D70770FAEA}"/>
              </a:ext>
            </a:extLst>
          </p:cNvPr>
          <p:cNvSpPr>
            <a:spLocks noGrp="1"/>
          </p:cNvSpPr>
          <p:nvPr>
            <p:ph type="sldNum" sz="quarter" idx="12"/>
          </p:nvPr>
        </p:nvSpPr>
        <p:spPr/>
        <p:txBody>
          <a:bodyPr/>
          <a:lstStyle/>
          <a:p>
            <a:fld id="{92AA54DD-D289-429F-8559-FA3702B864FD}" type="slidenum">
              <a:rPr lang="en-US" smtClean="0"/>
              <a:t>‹#›</a:t>
            </a:fld>
            <a:endParaRPr lang="en-US"/>
          </a:p>
        </p:txBody>
      </p:sp>
    </p:spTree>
    <p:extLst>
      <p:ext uri="{BB962C8B-B14F-4D97-AF65-F5344CB8AC3E}">
        <p14:creationId xmlns:p14="http://schemas.microsoft.com/office/powerpoint/2010/main" val="18245083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84D4C-E7A5-99AB-F865-4DD7BAF53A1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C942EE1-91A5-6BC4-26E5-C77A31CBB7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CDF5A63-5EAD-6A7C-FC01-4DA4FF558EB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7D548F0-B7C3-2647-EEC6-D4897F7884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F29B885-6427-A6C6-63A6-856A030A84F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BFB6C08-8516-4493-B35B-1EB74802A7E6}"/>
              </a:ext>
            </a:extLst>
          </p:cNvPr>
          <p:cNvSpPr>
            <a:spLocks noGrp="1"/>
          </p:cNvSpPr>
          <p:nvPr>
            <p:ph type="dt" sz="half" idx="10"/>
          </p:nvPr>
        </p:nvSpPr>
        <p:spPr/>
        <p:txBody>
          <a:bodyPr/>
          <a:lstStyle/>
          <a:p>
            <a:fld id="{4EE06C3E-BA30-4128-B864-A1E2B9E3792F}" type="datetimeFigureOut">
              <a:rPr lang="en-US" smtClean="0"/>
              <a:t>12/3/2025</a:t>
            </a:fld>
            <a:endParaRPr lang="en-US"/>
          </a:p>
        </p:txBody>
      </p:sp>
      <p:sp>
        <p:nvSpPr>
          <p:cNvPr id="8" name="Footer Placeholder 7">
            <a:extLst>
              <a:ext uri="{FF2B5EF4-FFF2-40B4-BE49-F238E27FC236}">
                <a16:creationId xmlns:a16="http://schemas.microsoft.com/office/drawing/2014/main" id="{91328A73-CB5D-4F45-301D-4D052C1FC9F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3456726-E162-05A0-0721-6AB3BA4FAB77}"/>
              </a:ext>
            </a:extLst>
          </p:cNvPr>
          <p:cNvSpPr>
            <a:spLocks noGrp="1"/>
          </p:cNvSpPr>
          <p:nvPr>
            <p:ph type="sldNum" sz="quarter" idx="12"/>
          </p:nvPr>
        </p:nvSpPr>
        <p:spPr/>
        <p:txBody>
          <a:bodyPr/>
          <a:lstStyle/>
          <a:p>
            <a:fld id="{92AA54DD-D289-429F-8559-FA3702B864FD}" type="slidenum">
              <a:rPr lang="en-US" smtClean="0"/>
              <a:t>‹#›</a:t>
            </a:fld>
            <a:endParaRPr lang="en-US"/>
          </a:p>
        </p:txBody>
      </p:sp>
    </p:spTree>
    <p:extLst>
      <p:ext uri="{BB962C8B-B14F-4D97-AF65-F5344CB8AC3E}">
        <p14:creationId xmlns:p14="http://schemas.microsoft.com/office/powerpoint/2010/main" val="6457212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6344A-69EF-B6C2-15C4-885F4B24929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CFA46B4-7A15-E961-485D-ADC1B4571492}"/>
              </a:ext>
            </a:extLst>
          </p:cNvPr>
          <p:cNvSpPr>
            <a:spLocks noGrp="1"/>
          </p:cNvSpPr>
          <p:nvPr>
            <p:ph type="dt" sz="half" idx="10"/>
          </p:nvPr>
        </p:nvSpPr>
        <p:spPr/>
        <p:txBody>
          <a:bodyPr/>
          <a:lstStyle/>
          <a:p>
            <a:fld id="{4EE06C3E-BA30-4128-B864-A1E2B9E3792F}" type="datetimeFigureOut">
              <a:rPr lang="en-US" smtClean="0"/>
              <a:t>12/3/2025</a:t>
            </a:fld>
            <a:endParaRPr lang="en-US"/>
          </a:p>
        </p:txBody>
      </p:sp>
      <p:sp>
        <p:nvSpPr>
          <p:cNvPr id="4" name="Footer Placeholder 3">
            <a:extLst>
              <a:ext uri="{FF2B5EF4-FFF2-40B4-BE49-F238E27FC236}">
                <a16:creationId xmlns:a16="http://schemas.microsoft.com/office/drawing/2014/main" id="{03C11C3A-77F3-2814-B00D-D0EFE9A3BF1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033476F-8A86-E332-359C-DD01D6BE1FA5}"/>
              </a:ext>
            </a:extLst>
          </p:cNvPr>
          <p:cNvSpPr>
            <a:spLocks noGrp="1"/>
          </p:cNvSpPr>
          <p:nvPr>
            <p:ph type="sldNum" sz="quarter" idx="12"/>
          </p:nvPr>
        </p:nvSpPr>
        <p:spPr/>
        <p:txBody>
          <a:bodyPr/>
          <a:lstStyle/>
          <a:p>
            <a:fld id="{92AA54DD-D289-429F-8559-FA3702B864FD}" type="slidenum">
              <a:rPr lang="en-US" smtClean="0"/>
              <a:t>‹#›</a:t>
            </a:fld>
            <a:endParaRPr lang="en-US"/>
          </a:p>
        </p:txBody>
      </p:sp>
    </p:spTree>
    <p:extLst>
      <p:ext uri="{BB962C8B-B14F-4D97-AF65-F5344CB8AC3E}">
        <p14:creationId xmlns:p14="http://schemas.microsoft.com/office/powerpoint/2010/main" val="9540830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670119-6635-997E-C559-21AD243971B4}"/>
              </a:ext>
            </a:extLst>
          </p:cNvPr>
          <p:cNvSpPr>
            <a:spLocks noGrp="1"/>
          </p:cNvSpPr>
          <p:nvPr>
            <p:ph type="dt" sz="half" idx="10"/>
          </p:nvPr>
        </p:nvSpPr>
        <p:spPr/>
        <p:txBody>
          <a:bodyPr/>
          <a:lstStyle/>
          <a:p>
            <a:fld id="{4EE06C3E-BA30-4128-B864-A1E2B9E3792F}" type="datetimeFigureOut">
              <a:rPr lang="en-US" smtClean="0"/>
              <a:t>12/3/2025</a:t>
            </a:fld>
            <a:endParaRPr lang="en-US"/>
          </a:p>
        </p:txBody>
      </p:sp>
      <p:sp>
        <p:nvSpPr>
          <p:cNvPr id="3" name="Footer Placeholder 2">
            <a:extLst>
              <a:ext uri="{FF2B5EF4-FFF2-40B4-BE49-F238E27FC236}">
                <a16:creationId xmlns:a16="http://schemas.microsoft.com/office/drawing/2014/main" id="{679D6311-B3F8-7841-1149-86CD8D44AA3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5B184A6-958E-8817-E16D-9F0FA610D826}"/>
              </a:ext>
            </a:extLst>
          </p:cNvPr>
          <p:cNvSpPr>
            <a:spLocks noGrp="1"/>
          </p:cNvSpPr>
          <p:nvPr>
            <p:ph type="sldNum" sz="quarter" idx="12"/>
          </p:nvPr>
        </p:nvSpPr>
        <p:spPr/>
        <p:txBody>
          <a:bodyPr/>
          <a:lstStyle/>
          <a:p>
            <a:fld id="{92AA54DD-D289-429F-8559-FA3702B864FD}" type="slidenum">
              <a:rPr lang="en-US" smtClean="0"/>
              <a:t>‹#›</a:t>
            </a:fld>
            <a:endParaRPr lang="en-US"/>
          </a:p>
        </p:txBody>
      </p:sp>
    </p:spTree>
    <p:extLst>
      <p:ext uri="{BB962C8B-B14F-4D97-AF65-F5344CB8AC3E}">
        <p14:creationId xmlns:p14="http://schemas.microsoft.com/office/powerpoint/2010/main" val="32578177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9D252-024C-463A-1AD3-F2A3A07851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1209E30-7DC6-E16C-EFE9-84DAD6DBAB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F5FD5B-3369-8AB9-AE7E-FE440EBD20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EFC504-4DD9-0C2F-762D-167EF7BE17B2}"/>
              </a:ext>
            </a:extLst>
          </p:cNvPr>
          <p:cNvSpPr>
            <a:spLocks noGrp="1"/>
          </p:cNvSpPr>
          <p:nvPr>
            <p:ph type="dt" sz="half" idx="10"/>
          </p:nvPr>
        </p:nvSpPr>
        <p:spPr/>
        <p:txBody>
          <a:bodyPr/>
          <a:lstStyle/>
          <a:p>
            <a:fld id="{4EE06C3E-BA30-4128-B864-A1E2B9E3792F}" type="datetimeFigureOut">
              <a:rPr lang="en-US" smtClean="0"/>
              <a:t>12/3/2025</a:t>
            </a:fld>
            <a:endParaRPr lang="en-US"/>
          </a:p>
        </p:txBody>
      </p:sp>
      <p:sp>
        <p:nvSpPr>
          <p:cNvPr id="6" name="Footer Placeholder 5">
            <a:extLst>
              <a:ext uri="{FF2B5EF4-FFF2-40B4-BE49-F238E27FC236}">
                <a16:creationId xmlns:a16="http://schemas.microsoft.com/office/drawing/2014/main" id="{D508E608-C2D3-9220-6E5D-B04720485A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10959A-EF95-FC57-6CAA-F9E56E52A6CA}"/>
              </a:ext>
            </a:extLst>
          </p:cNvPr>
          <p:cNvSpPr>
            <a:spLocks noGrp="1"/>
          </p:cNvSpPr>
          <p:nvPr>
            <p:ph type="sldNum" sz="quarter" idx="12"/>
          </p:nvPr>
        </p:nvSpPr>
        <p:spPr/>
        <p:txBody>
          <a:bodyPr/>
          <a:lstStyle/>
          <a:p>
            <a:fld id="{92AA54DD-D289-429F-8559-FA3702B864FD}" type="slidenum">
              <a:rPr lang="en-US" smtClean="0"/>
              <a:t>‹#›</a:t>
            </a:fld>
            <a:endParaRPr lang="en-US"/>
          </a:p>
        </p:txBody>
      </p:sp>
    </p:spTree>
    <p:extLst>
      <p:ext uri="{BB962C8B-B14F-4D97-AF65-F5344CB8AC3E}">
        <p14:creationId xmlns:p14="http://schemas.microsoft.com/office/powerpoint/2010/main" val="34098150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3BDD1-56D1-53F3-49F6-D8150E46A8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450A36F-78FF-8999-7BFD-289DBF8B47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E115990-2867-92C8-4423-FA5ADDD02F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A7CED9-1411-8CA2-A5E1-B7BFBA8CEC03}"/>
              </a:ext>
            </a:extLst>
          </p:cNvPr>
          <p:cNvSpPr>
            <a:spLocks noGrp="1"/>
          </p:cNvSpPr>
          <p:nvPr>
            <p:ph type="dt" sz="half" idx="10"/>
          </p:nvPr>
        </p:nvSpPr>
        <p:spPr/>
        <p:txBody>
          <a:bodyPr/>
          <a:lstStyle/>
          <a:p>
            <a:fld id="{4EE06C3E-BA30-4128-B864-A1E2B9E3792F}" type="datetimeFigureOut">
              <a:rPr lang="en-US" smtClean="0"/>
              <a:t>12/3/2025</a:t>
            </a:fld>
            <a:endParaRPr lang="en-US"/>
          </a:p>
        </p:txBody>
      </p:sp>
      <p:sp>
        <p:nvSpPr>
          <p:cNvPr id="6" name="Footer Placeholder 5">
            <a:extLst>
              <a:ext uri="{FF2B5EF4-FFF2-40B4-BE49-F238E27FC236}">
                <a16:creationId xmlns:a16="http://schemas.microsoft.com/office/drawing/2014/main" id="{6167AC93-975A-9EFC-256D-5B845FE3F5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BD31D8-3191-5EE1-0B5B-A76AE3DAD18E}"/>
              </a:ext>
            </a:extLst>
          </p:cNvPr>
          <p:cNvSpPr>
            <a:spLocks noGrp="1"/>
          </p:cNvSpPr>
          <p:nvPr>
            <p:ph type="sldNum" sz="quarter" idx="12"/>
          </p:nvPr>
        </p:nvSpPr>
        <p:spPr/>
        <p:txBody>
          <a:bodyPr/>
          <a:lstStyle/>
          <a:p>
            <a:fld id="{92AA54DD-D289-429F-8559-FA3702B864FD}" type="slidenum">
              <a:rPr lang="en-US" smtClean="0"/>
              <a:t>‹#›</a:t>
            </a:fld>
            <a:endParaRPr lang="en-US"/>
          </a:p>
        </p:txBody>
      </p:sp>
    </p:spTree>
    <p:extLst>
      <p:ext uri="{BB962C8B-B14F-4D97-AF65-F5344CB8AC3E}">
        <p14:creationId xmlns:p14="http://schemas.microsoft.com/office/powerpoint/2010/main" val="1555406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BE801-8673-C2DB-354E-FA04C453B19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06BC806-09BE-D5FE-7846-448E8E6A345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FAB660-DAC4-EC4F-560C-59D31CA4315D}"/>
              </a:ext>
            </a:extLst>
          </p:cNvPr>
          <p:cNvSpPr>
            <a:spLocks noGrp="1"/>
          </p:cNvSpPr>
          <p:nvPr>
            <p:ph type="dt" sz="half" idx="10"/>
          </p:nvPr>
        </p:nvSpPr>
        <p:spPr/>
        <p:txBody>
          <a:bodyPr/>
          <a:lstStyle/>
          <a:p>
            <a:fld id="{4EE06C3E-BA30-4128-B864-A1E2B9E3792F}" type="datetimeFigureOut">
              <a:rPr lang="en-US" smtClean="0"/>
              <a:t>12/3/2025</a:t>
            </a:fld>
            <a:endParaRPr lang="en-US"/>
          </a:p>
        </p:txBody>
      </p:sp>
      <p:sp>
        <p:nvSpPr>
          <p:cNvPr id="5" name="Footer Placeholder 4">
            <a:extLst>
              <a:ext uri="{FF2B5EF4-FFF2-40B4-BE49-F238E27FC236}">
                <a16:creationId xmlns:a16="http://schemas.microsoft.com/office/drawing/2014/main" id="{ED08EAEE-8D5D-324C-BE74-FEDC1C4A34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201FB2-FEB7-1165-32FC-C739B8A04448}"/>
              </a:ext>
            </a:extLst>
          </p:cNvPr>
          <p:cNvSpPr>
            <a:spLocks noGrp="1"/>
          </p:cNvSpPr>
          <p:nvPr>
            <p:ph type="sldNum" sz="quarter" idx="12"/>
          </p:nvPr>
        </p:nvSpPr>
        <p:spPr/>
        <p:txBody>
          <a:bodyPr/>
          <a:lstStyle/>
          <a:p>
            <a:fld id="{92AA54DD-D289-429F-8559-FA3702B864FD}" type="slidenum">
              <a:rPr lang="en-US" smtClean="0"/>
              <a:t>‹#›</a:t>
            </a:fld>
            <a:endParaRPr lang="en-US"/>
          </a:p>
        </p:txBody>
      </p:sp>
    </p:spTree>
    <p:extLst>
      <p:ext uri="{BB962C8B-B14F-4D97-AF65-F5344CB8AC3E}">
        <p14:creationId xmlns:p14="http://schemas.microsoft.com/office/powerpoint/2010/main" val="16594200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5B355D-E955-55C6-5C7F-18E3986837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8B2F2DF-AD6E-7E2A-B9B7-C0609718B2F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5BEFF9-68C1-A944-293A-524406DED9D9}"/>
              </a:ext>
            </a:extLst>
          </p:cNvPr>
          <p:cNvSpPr>
            <a:spLocks noGrp="1"/>
          </p:cNvSpPr>
          <p:nvPr>
            <p:ph type="dt" sz="half" idx="10"/>
          </p:nvPr>
        </p:nvSpPr>
        <p:spPr/>
        <p:txBody>
          <a:bodyPr/>
          <a:lstStyle/>
          <a:p>
            <a:fld id="{4EE06C3E-BA30-4128-B864-A1E2B9E3792F}" type="datetimeFigureOut">
              <a:rPr lang="en-US" smtClean="0"/>
              <a:t>12/3/2025</a:t>
            </a:fld>
            <a:endParaRPr lang="en-US"/>
          </a:p>
        </p:txBody>
      </p:sp>
      <p:sp>
        <p:nvSpPr>
          <p:cNvPr id="5" name="Footer Placeholder 4">
            <a:extLst>
              <a:ext uri="{FF2B5EF4-FFF2-40B4-BE49-F238E27FC236}">
                <a16:creationId xmlns:a16="http://schemas.microsoft.com/office/drawing/2014/main" id="{893202AA-1E2E-0AA6-169A-5DEB955653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2ECCD1-AB51-4799-0BB9-F9A4FF00911A}"/>
              </a:ext>
            </a:extLst>
          </p:cNvPr>
          <p:cNvSpPr>
            <a:spLocks noGrp="1"/>
          </p:cNvSpPr>
          <p:nvPr>
            <p:ph type="sldNum" sz="quarter" idx="12"/>
          </p:nvPr>
        </p:nvSpPr>
        <p:spPr/>
        <p:txBody>
          <a:bodyPr/>
          <a:lstStyle/>
          <a:p>
            <a:fld id="{92AA54DD-D289-429F-8559-FA3702B864FD}" type="slidenum">
              <a:rPr lang="en-US" smtClean="0"/>
              <a:t>‹#›</a:t>
            </a:fld>
            <a:endParaRPr lang="en-US"/>
          </a:p>
        </p:txBody>
      </p:sp>
    </p:spTree>
    <p:extLst>
      <p:ext uri="{BB962C8B-B14F-4D97-AF65-F5344CB8AC3E}">
        <p14:creationId xmlns:p14="http://schemas.microsoft.com/office/powerpoint/2010/main" val="650109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44299F-3258-4514-AAD7-3FF7F3FFFF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C488072-0C5B-D062-84BA-D17A5CCB23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DA7F52-693D-A1D0-C214-CB3965BBE8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EE06C3E-BA30-4128-B864-A1E2B9E3792F}" type="datetimeFigureOut">
              <a:rPr lang="en-US" smtClean="0"/>
              <a:t>12/3/2025</a:t>
            </a:fld>
            <a:endParaRPr lang="en-US"/>
          </a:p>
        </p:txBody>
      </p:sp>
      <p:sp>
        <p:nvSpPr>
          <p:cNvPr id="5" name="Footer Placeholder 4">
            <a:extLst>
              <a:ext uri="{FF2B5EF4-FFF2-40B4-BE49-F238E27FC236}">
                <a16:creationId xmlns:a16="http://schemas.microsoft.com/office/drawing/2014/main" id="{77A8E34E-53CA-B5CC-8D2C-8094653B3D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DAB2758-07E1-8F10-612A-D98AEA8331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2AA54DD-D289-429F-8559-FA3702B864FD}" type="slidenum">
              <a:rPr lang="en-US" smtClean="0"/>
              <a:t>‹#›</a:t>
            </a:fld>
            <a:endParaRPr lang="en-US"/>
          </a:p>
        </p:txBody>
      </p:sp>
    </p:spTree>
    <p:extLst>
      <p:ext uri="{BB962C8B-B14F-4D97-AF65-F5344CB8AC3E}">
        <p14:creationId xmlns:p14="http://schemas.microsoft.com/office/powerpoint/2010/main" val="21863345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kaggle.com/datasets/rodsaldanha/arketing-campaign"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ibm.com/think/topics/logistic-regression" TargetMode="External"/><Relationship Id="rId2" Type="http://schemas.openxmlformats.org/officeDocument/2006/relationships/hyperlink" Target="https://www.geeksforgeeks.org/machine-learning/understanding-logistic-regression/" TargetMode="External"/><Relationship Id="rId1" Type="http://schemas.openxmlformats.org/officeDocument/2006/relationships/slideLayout" Target="../slideLayouts/slideLayout2.xml"/><Relationship Id="rId4" Type="http://schemas.openxmlformats.org/officeDocument/2006/relationships/hyperlink" Target="https://machinelearningmastery.com/logistic-regression-for-machine-learn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7C00B-B846-181C-5FC6-7AE9EF46E772}"/>
              </a:ext>
            </a:extLst>
          </p:cNvPr>
          <p:cNvSpPr>
            <a:spLocks noGrp="1"/>
          </p:cNvSpPr>
          <p:nvPr>
            <p:ph type="ctrTitle"/>
          </p:nvPr>
        </p:nvSpPr>
        <p:spPr/>
        <p:txBody>
          <a:bodyPr/>
          <a:lstStyle/>
          <a:p>
            <a:r>
              <a:rPr lang="en-US" dirty="0"/>
              <a:t>Logistic Regression</a:t>
            </a:r>
          </a:p>
        </p:txBody>
      </p:sp>
      <p:sp>
        <p:nvSpPr>
          <p:cNvPr id="3" name="Subtitle 2">
            <a:extLst>
              <a:ext uri="{FF2B5EF4-FFF2-40B4-BE49-F238E27FC236}">
                <a16:creationId xmlns:a16="http://schemas.microsoft.com/office/drawing/2014/main" id="{A8DC9C5A-CD76-101F-C3E8-81738B736BD8}"/>
              </a:ext>
            </a:extLst>
          </p:cNvPr>
          <p:cNvSpPr>
            <a:spLocks noGrp="1"/>
          </p:cNvSpPr>
          <p:nvPr>
            <p:ph type="subTitle" idx="1"/>
          </p:nvPr>
        </p:nvSpPr>
        <p:spPr/>
        <p:txBody>
          <a:bodyPr/>
          <a:lstStyle/>
          <a:p>
            <a:r>
              <a:rPr lang="en-US" dirty="0"/>
              <a:t>Pranaav Paladugu and Oliver </a:t>
            </a:r>
            <a:r>
              <a:rPr lang="en-US" dirty="0" err="1"/>
              <a:t>Grudinski</a:t>
            </a:r>
            <a:endParaRPr lang="en-US" dirty="0"/>
          </a:p>
        </p:txBody>
      </p:sp>
    </p:spTree>
    <p:extLst>
      <p:ext uri="{BB962C8B-B14F-4D97-AF65-F5344CB8AC3E}">
        <p14:creationId xmlns:p14="http://schemas.microsoft.com/office/powerpoint/2010/main" val="31832521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3ECE6-CABE-CC1D-EBE7-6D6E6E1796BF}"/>
              </a:ext>
            </a:extLst>
          </p:cNvPr>
          <p:cNvSpPr>
            <a:spLocks noGrp="1"/>
          </p:cNvSpPr>
          <p:nvPr>
            <p:ph type="title"/>
          </p:nvPr>
        </p:nvSpPr>
        <p:spPr/>
        <p:txBody>
          <a:bodyPr>
            <a:normAutofit/>
          </a:bodyPr>
          <a:lstStyle/>
          <a:p>
            <a:r>
              <a:rPr lang="en-US" sz="4000" dirty="0"/>
              <a:t>Overview of the Algorithm – Name and Purpose</a:t>
            </a:r>
          </a:p>
        </p:txBody>
      </p:sp>
      <p:sp>
        <p:nvSpPr>
          <p:cNvPr id="3" name="Content Placeholder 2">
            <a:extLst>
              <a:ext uri="{FF2B5EF4-FFF2-40B4-BE49-F238E27FC236}">
                <a16:creationId xmlns:a16="http://schemas.microsoft.com/office/drawing/2014/main" id="{6CC6F660-7427-125C-3AA8-052E9EBA96DA}"/>
              </a:ext>
            </a:extLst>
          </p:cNvPr>
          <p:cNvSpPr>
            <a:spLocks noGrp="1"/>
          </p:cNvSpPr>
          <p:nvPr>
            <p:ph idx="1"/>
          </p:nvPr>
        </p:nvSpPr>
        <p:spPr/>
        <p:txBody>
          <a:bodyPr/>
          <a:lstStyle/>
          <a:p>
            <a:pPr marL="0" indent="0">
              <a:lnSpc>
                <a:spcPct val="150000"/>
              </a:lnSpc>
              <a:buNone/>
            </a:pPr>
            <a:r>
              <a:rPr lang="en-US" dirty="0"/>
              <a:t>The algorithm is called Logistic Regression. Logistic regression is designed to solve classification problems, especially when the goal is to predict a binary outcome such as “yes/no,” “buy/not buy,” or “disease/no disease”.</a:t>
            </a:r>
          </a:p>
        </p:txBody>
      </p:sp>
    </p:spTree>
    <p:extLst>
      <p:ext uri="{BB962C8B-B14F-4D97-AF65-F5344CB8AC3E}">
        <p14:creationId xmlns:p14="http://schemas.microsoft.com/office/powerpoint/2010/main" val="6040353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31479-9AED-E149-3718-EA36BD302323}"/>
              </a:ext>
            </a:extLst>
          </p:cNvPr>
          <p:cNvSpPr>
            <a:spLocks noGrp="1"/>
          </p:cNvSpPr>
          <p:nvPr>
            <p:ph type="title"/>
          </p:nvPr>
        </p:nvSpPr>
        <p:spPr/>
        <p:txBody>
          <a:bodyPr>
            <a:normAutofit/>
          </a:bodyPr>
          <a:lstStyle/>
          <a:p>
            <a:r>
              <a:rPr lang="en-US" sz="4000" dirty="0"/>
              <a:t>Overview of the Algorithm – Background</a:t>
            </a:r>
          </a:p>
        </p:txBody>
      </p:sp>
      <p:sp>
        <p:nvSpPr>
          <p:cNvPr id="3" name="Content Placeholder 2">
            <a:extLst>
              <a:ext uri="{FF2B5EF4-FFF2-40B4-BE49-F238E27FC236}">
                <a16:creationId xmlns:a16="http://schemas.microsoft.com/office/drawing/2014/main" id="{BA03F530-C1C7-DAF3-A853-44EE8E687581}"/>
              </a:ext>
            </a:extLst>
          </p:cNvPr>
          <p:cNvSpPr>
            <a:spLocks noGrp="1"/>
          </p:cNvSpPr>
          <p:nvPr>
            <p:ph idx="1"/>
          </p:nvPr>
        </p:nvSpPr>
        <p:spPr>
          <a:xfrm>
            <a:off x="838200" y="1825625"/>
            <a:ext cx="10603230" cy="4351338"/>
          </a:xfrm>
        </p:spPr>
        <p:txBody>
          <a:bodyPr>
            <a:normAutofit lnSpcReduction="10000"/>
          </a:bodyPr>
          <a:lstStyle/>
          <a:p>
            <a:r>
              <a:rPr lang="en-US" dirty="0"/>
              <a:t>Logistic regression was formally developed and popularized by Joseph Berkson in the 1940s. Berkson introduced the </a:t>
            </a:r>
            <a:r>
              <a:rPr lang="en-US" i="1" dirty="0"/>
              <a:t>logit</a:t>
            </a:r>
            <a:r>
              <a:rPr lang="en-US" dirty="0"/>
              <a:t> model and established logistic regression as a statistical method.</a:t>
            </a:r>
          </a:p>
          <a:p>
            <a:r>
              <a:rPr lang="en-US" dirty="0"/>
              <a:t>Although the logistic function itself was discovered earlier by Adolphe </a:t>
            </a:r>
            <a:r>
              <a:rPr lang="en-US" dirty="0" err="1"/>
              <a:t>Quetelet</a:t>
            </a:r>
            <a:r>
              <a:rPr lang="en-US" dirty="0"/>
              <a:t> and Pierre-François Verhulst in the 19th century for modeling population growth.</a:t>
            </a:r>
          </a:p>
          <a:p>
            <a:pPr marL="0" indent="0">
              <a:buNone/>
            </a:pPr>
            <a:r>
              <a:rPr lang="en-US" dirty="0"/>
              <a:t>The motivation for developing logistic regression is needed to analyze binary and categorical outcomes, such as “success/failure” decisions. Also, it provides clear interpretability through measures like the odds ratio, understand a how different features influence the likelihood of an outcome.</a:t>
            </a:r>
          </a:p>
          <a:p>
            <a:pPr marL="0" indent="0">
              <a:buNone/>
            </a:pPr>
            <a:endParaRPr lang="en-US" dirty="0"/>
          </a:p>
        </p:txBody>
      </p:sp>
    </p:spTree>
    <p:extLst>
      <p:ext uri="{BB962C8B-B14F-4D97-AF65-F5344CB8AC3E}">
        <p14:creationId xmlns:p14="http://schemas.microsoft.com/office/powerpoint/2010/main" val="41543680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69FFC-7E1D-FF78-097C-112BE1B1AC20}"/>
              </a:ext>
            </a:extLst>
          </p:cNvPr>
          <p:cNvSpPr>
            <a:spLocks noGrp="1"/>
          </p:cNvSpPr>
          <p:nvPr>
            <p:ph type="title"/>
          </p:nvPr>
        </p:nvSpPr>
        <p:spPr/>
        <p:txBody>
          <a:bodyPr/>
          <a:lstStyle/>
          <a:p>
            <a:r>
              <a:rPr lang="en-US" dirty="0"/>
              <a:t>Overview of the Algorithm – Applications</a:t>
            </a:r>
          </a:p>
        </p:txBody>
      </p:sp>
      <p:sp>
        <p:nvSpPr>
          <p:cNvPr id="3" name="Content Placeholder 2">
            <a:extLst>
              <a:ext uri="{FF2B5EF4-FFF2-40B4-BE49-F238E27FC236}">
                <a16:creationId xmlns:a16="http://schemas.microsoft.com/office/drawing/2014/main" id="{2150CCE4-E51C-BAF9-2158-6A84BE66E09C}"/>
              </a:ext>
            </a:extLst>
          </p:cNvPr>
          <p:cNvSpPr>
            <a:spLocks noGrp="1"/>
          </p:cNvSpPr>
          <p:nvPr>
            <p:ph idx="1"/>
          </p:nvPr>
        </p:nvSpPr>
        <p:spPr/>
        <p:txBody>
          <a:bodyPr/>
          <a:lstStyle/>
          <a:p>
            <a:pPr marL="0" indent="0">
              <a:buNone/>
            </a:pPr>
            <a:r>
              <a:rPr lang="en-US" dirty="0"/>
              <a:t>It is commonly used for:</a:t>
            </a:r>
          </a:p>
          <a:p>
            <a:pPr marL="0" indent="0">
              <a:buNone/>
            </a:pPr>
            <a:endParaRPr lang="en-US" dirty="0"/>
          </a:p>
          <a:p>
            <a:r>
              <a:rPr lang="en-US" dirty="0"/>
              <a:t>“Medicine &amp; Health – has disease or not”</a:t>
            </a:r>
          </a:p>
          <a:p>
            <a:pPr marL="0" indent="0">
              <a:buNone/>
            </a:pPr>
            <a:endParaRPr lang="en-US" dirty="0"/>
          </a:p>
          <a:p>
            <a:r>
              <a:rPr lang="en-US" dirty="0"/>
              <a:t>“Finance &amp; Banking – fraudulent or legitimate”</a:t>
            </a:r>
          </a:p>
          <a:p>
            <a:pPr marL="0" indent="0">
              <a:buNone/>
            </a:pPr>
            <a:endParaRPr lang="en-US" dirty="0"/>
          </a:p>
          <a:p>
            <a:r>
              <a:rPr lang="en-US" dirty="0"/>
              <a:t>“Sports Analytics – Win or Lose” </a:t>
            </a:r>
          </a:p>
        </p:txBody>
      </p:sp>
    </p:spTree>
    <p:extLst>
      <p:ext uri="{BB962C8B-B14F-4D97-AF65-F5344CB8AC3E}">
        <p14:creationId xmlns:p14="http://schemas.microsoft.com/office/powerpoint/2010/main" val="31164820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6B9C2-A667-2745-991B-C2AD13450D20}"/>
              </a:ext>
            </a:extLst>
          </p:cNvPr>
          <p:cNvSpPr>
            <a:spLocks noGrp="1"/>
          </p:cNvSpPr>
          <p:nvPr>
            <p:ph type="title"/>
          </p:nvPr>
        </p:nvSpPr>
        <p:spPr/>
        <p:txBody>
          <a:bodyPr/>
          <a:lstStyle/>
          <a:p>
            <a:r>
              <a:rPr lang="en-US" dirty="0"/>
              <a:t>Problem Type</a:t>
            </a:r>
          </a:p>
        </p:txBody>
      </p:sp>
      <p:sp>
        <p:nvSpPr>
          <p:cNvPr id="3" name="Content Placeholder 2">
            <a:extLst>
              <a:ext uri="{FF2B5EF4-FFF2-40B4-BE49-F238E27FC236}">
                <a16:creationId xmlns:a16="http://schemas.microsoft.com/office/drawing/2014/main" id="{71044CA0-2FB0-7245-8B0E-A4BB441F9607}"/>
              </a:ext>
            </a:extLst>
          </p:cNvPr>
          <p:cNvSpPr>
            <a:spLocks noGrp="1"/>
          </p:cNvSpPr>
          <p:nvPr>
            <p:ph idx="1"/>
          </p:nvPr>
        </p:nvSpPr>
        <p:spPr/>
        <p:txBody>
          <a:bodyPr/>
          <a:lstStyle/>
          <a:p>
            <a:pPr marL="0" indent="0">
              <a:buNone/>
            </a:pPr>
            <a:r>
              <a:rPr lang="en-US" dirty="0"/>
              <a:t>A logistic regression falls under the category of supervised learning, especially for classification tasks. </a:t>
            </a:r>
          </a:p>
          <a:p>
            <a:pPr marL="0" indent="0">
              <a:buNone/>
            </a:pPr>
            <a:r>
              <a:rPr lang="en-US" dirty="0"/>
              <a:t>In supervised learning, the model is trained using labeled data, meaning each input is paired with a known output. </a:t>
            </a:r>
          </a:p>
          <a:p>
            <a:pPr marL="0" indent="0">
              <a:buNone/>
            </a:pPr>
            <a:r>
              <a:rPr lang="en-US" dirty="0"/>
              <a:t>Logistic regression uses these labeled examples to learn the relationship between the features and the probability of belonging to a particular class.</a:t>
            </a:r>
          </a:p>
        </p:txBody>
      </p:sp>
    </p:spTree>
    <p:extLst>
      <p:ext uri="{BB962C8B-B14F-4D97-AF65-F5344CB8AC3E}">
        <p14:creationId xmlns:p14="http://schemas.microsoft.com/office/powerpoint/2010/main" val="7029347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6EB0C1-C888-CF8D-394E-BC1885CDFF72}"/>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dirty="0">
                <a:solidFill>
                  <a:srgbClr val="FFFFFF"/>
                </a:solidFill>
                <a:latin typeface="+mj-lt"/>
                <a:ea typeface="+mj-ea"/>
                <a:cs typeface="+mj-cs"/>
              </a:rPr>
              <a:t>How the Algorithm Works?</a:t>
            </a:r>
          </a:p>
        </p:txBody>
      </p:sp>
      <p:pic>
        <p:nvPicPr>
          <p:cNvPr id="5" name="Picture 4" descr="A screenshot of a white sheet with black text&#10;&#10;AI-generated content may be incorrect.">
            <a:extLst>
              <a:ext uri="{FF2B5EF4-FFF2-40B4-BE49-F238E27FC236}">
                <a16:creationId xmlns:a16="http://schemas.microsoft.com/office/drawing/2014/main" id="{03C48472-E3D9-B309-4935-C1C77BE85F4D}"/>
              </a:ext>
            </a:extLst>
          </p:cNvPr>
          <p:cNvPicPr>
            <a:picLocks noChangeAspect="1"/>
          </p:cNvPicPr>
          <p:nvPr/>
        </p:nvPicPr>
        <p:blipFill>
          <a:blip r:embed="rId3"/>
          <a:stretch>
            <a:fillRect/>
          </a:stretch>
        </p:blipFill>
        <p:spPr>
          <a:xfrm>
            <a:off x="5543398" y="663786"/>
            <a:ext cx="5248535" cy="5568739"/>
          </a:xfrm>
          <a:prstGeom prst="rect">
            <a:avLst/>
          </a:prstGeom>
        </p:spPr>
      </p:pic>
    </p:spTree>
    <p:extLst>
      <p:ext uri="{BB962C8B-B14F-4D97-AF65-F5344CB8AC3E}">
        <p14:creationId xmlns:p14="http://schemas.microsoft.com/office/powerpoint/2010/main" val="6589347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60D09-B0B8-C0F4-C6E7-C2ABA4D30ACF}"/>
              </a:ext>
            </a:extLst>
          </p:cNvPr>
          <p:cNvSpPr>
            <a:spLocks noGrp="1"/>
          </p:cNvSpPr>
          <p:nvPr>
            <p:ph type="title"/>
          </p:nvPr>
        </p:nvSpPr>
        <p:spPr/>
        <p:txBody>
          <a:bodyPr/>
          <a:lstStyle/>
          <a:p>
            <a:r>
              <a:rPr lang="en-US" dirty="0"/>
              <a:t>Computational Complexity</a:t>
            </a:r>
          </a:p>
        </p:txBody>
      </p:sp>
      <p:sp>
        <p:nvSpPr>
          <p:cNvPr id="3" name="Content Placeholder 2">
            <a:extLst>
              <a:ext uri="{FF2B5EF4-FFF2-40B4-BE49-F238E27FC236}">
                <a16:creationId xmlns:a16="http://schemas.microsoft.com/office/drawing/2014/main" id="{CB07E647-C01F-807E-A892-8316C89F6943}"/>
              </a:ext>
            </a:extLst>
          </p:cNvPr>
          <p:cNvSpPr>
            <a:spLocks noGrp="1"/>
          </p:cNvSpPr>
          <p:nvPr>
            <p:ph idx="1"/>
          </p:nvPr>
        </p:nvSpPr>
        <p:spPr/>
        <p:txBody>
          <a:bodyPr/>
          <a:lstStyle/>
          <a:p>
            <a:pPr marL="0" indent="0" fontAlgn="base">
              <a:buNone/>
            </a:pPr>
            <a:r>
              <a:rPr lang="en-US" dirty="0"/>
              <a:t>Training Complexity is O(</a:t>
            </a:r>
            <a:r>
              <a:rPr lang="en-US" dirty="0" err="1"/>
              <a:t>n⋅d⋅k</a:t>
            </a:r>
            <a:r>
              <a:rPr lang="en-US" dirty="0"/>
              <a:t>):</a:t>
            </a:r>
          </a:p>
          <a:p>
            <a:pPr lvl="1" fontAlgn="base"/>
            <a:r>
              <a:rPr lang="en-US" b="1" dirty="0"/>
              <a:t>n</a:t>
            </a:r>
            <a:r>
              <a:rPr lang="en-US" dirty="0"/>
              <a:t> = number of training samples </a:t>
            </a:r>
          </a:p>
          <a:p>
            <a:pPr lvl="1" fontAlgn="base"/>
            <a:r>
              <a:rPr lang="en-US" b="1" dirty="0"/>
              <a:t>d</a:t>
            </a:r>
            <a:r>
              <a:rPr lang="en-US" dirty="0"/>
              <a:t> = number of features </a:t>
            </a:r>
          </a:p>
          <a:p>
            <a:pPr lvl="1" fontAlgn="base"/>
            <a:r>
              <a:rPr lang="en-US" b="1" dirty="0"/>
              <a:t>k</a:t>
            </a:r>
            <a:r>
              <a:rPr lang="en-US" dirty="0"/>
              <a:t> = number of gradient descent iterations</a:t>
            </a:r>
          </a:p>
          <a:p>
            <a:pPr marL="457200" lvl="1" indent="0" fontAlgn="base">
              <a:buNone/>
            </a:pPr>
            <a:r>
              <a:rPr lang="en-US" dirty="0"/>
              <a:t> </a:t>
            </a:r>
          </a:p>
          <a:p>
            <a:pPr marL="0" indent="0" fontAlgn="base">
              <a:buNone/>
            </a:pPr>
            <a:r>
              <a:rPr lang="en-US" dirty="0"/>
              <a:t>Prediction Complexity is O(d) </a:t>
            </a:r>
          </a:p>
          <a:p>
            <a:endParaRPr lang="en-US" dirty="0"/>
          </a:p>
        </p:txBody>
      </p:sp>
    </p:spTree>
    <p:extLst>
      <p:ext uri="{BB962C8B-B14F-4D97-AF65-F5344CB8AC3E}">
        <p14:creationId xmlns:p14="http://schemas.microsoft.com/office/powerpoint/2010/main" val="22952840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451AC-2CF8-3932-8253-95F77469F617}"/>
              </a:ext>
            </a:extLst>
          </p:cNvPr>
          <p:cNvSpPr>
            <a:spLocks noGrp="1"/>
          </p:cNvSpPr>
          <p:nvPr>
            <p:ph type="title"/>
          </p:nvPr>
        </p:nvSpPr>
        <p:spPr>
          <a:xfrm>
            <a:off x="838200" y="2553154"/>
            <a:ext cx="10515600" cy="1325563"/>
          </a:xfrm>
        </p:spPr>
        <p:txBody>
          <a:bodyPr/>
          <a:lstStyle/>
          <a:p>
            <a:pPr algn="ctr"/>
            <a:r>
              <a:rPr lang="en-US" dirty="0"/>
              <a:t>Example Application</a:t>
            </a:r>
          </a:p>
        </p:txBody>
      </p:sp>
    </p:spTree>
    <p:extLst>
      <p:ext uri="{BB962C8B-B14F-4D97-AF65-F5344CB8AC3E}">
        <p14:creationId xmlns:p14="http://schemas.microsoft.com/office/powerpoint/2010/main" val="16253563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431A8-61BE-9813-9301-1CCACD03776E}"/>
              </a:ext>
            </a:extLst>
          </p:cNvPr>
          <p:cNvSpPr>
            <a:spLocks noGrp="1"/>
          </p:cNvSpPr>
          <p:nvPr>
            <p:ph type="title"/>
          </p:nvPr>
        </p:nvSpPr>
        <p:spPr/>
        <p:txBody>
          <a:bodyPr/>
          <a:lstStyle/>
          <a:p>
            <a:r>
              <a:rPr lang="en-US" dirty="0"/>
              <a:t>Our Mission</a:t>
            </a:r>
          </a:p>
        </p:txBody>
      </p:sp>
      <p:sp>
        <p:nvSpPr>
          <p:cNvPr id="3" name="Content Placeholder 2">
            <a:extLst>
              <a:ext uri="{FF2B5EF4-FFF2-40B4-BE49-F238E27FC236}">
                <a16:creationId xmlns:a16="http://schemas.microsoft.com/office/drawing/2014/main" id="{A44F30A5-5905-A53A-2E88-3C3B6170FEA7}"/>
              </a:ext>
            </a:extLst>
          </p:cNvPr>
          <p:cNvSpPr>
            <a:spLocks noGrp="1"/>
          </p:cNvSpPr>
          <p:nvPr>
            <p:ph idx="1"/>
          </p:nvPr>
        </p:nvSpPr>
        <p:spPr/>
        <p:txBody>
          <a:bodyPr>
            <a:normAutofit lnSpcReduction="10000"/>
          </a:bodyPr>
          <a:lstStyle/>
          <a:p>
            <a:pPr marL="0" indent="0">
              <a:buNone/>
            </a:pPr>
            <a:r>
              <a:rPr lang="en-US" dirty="0"/>
              <a:t>The main objective of our model is to predict which customers are most likely to respond to a product or service offer. This allows businesses to focus their marketing resources more efficiently, improve conversion rates, and make more informed strategic decisions.</a:t>
            </a:r>
          </a:p>
          <a:p>
            <a:pPr marL="0" indent="0">
              <a:buNone/>
            </a:pPr>
            <a:endParaRPr lang="en-US" dirty="0"/>
          </a:p>
          <a:p>
            <a:pPr marL="0" indent="0">
              <a:buNone/>
            </a:pPr>
            <a:r>
              <a:rPr lang="en-US" dirty="0"/>
              <a:t>We can identify which types of customers are more likely or less likely to respond to a marketing campaign by using this Dataset from Kaggle called </a:t>
            </a:r>
            <a:r>
              <a:rPr lang="en-US" dirty="0">
                <a:hlinkClick r:id="rId2" tooltip="https://www.kaggle.com/datasets/rodsaldanha/arketing-campaign"/>
              </a:rPr>
              <a:t>Marketing Campaign</a:t>
            </a:r>
            <a:r>
              <a:rPr lang="en-US" dirty="0"/>
              <a:t>. By examining consumer attributes such as education level, marital status, income, number of children, and other demographic or behavioral variables</a:t>
            </a:r>
          </a:p>
          <a:p>
            <a:pPr marL="0" indent="0">
              <a:buNone/>
            </a:pPr>
            <a:endParaRPr lang="en-US" dirty="0"/>
          </a:p>
        </p:txBody>
      </p:sp>
    </p:spTree>
    <p:extLst>
      <p:ext uri="{BB962C8B-B14F-4D97-AF65-F5344CB8AC3E}">
        <p14:creationId xmlns:p14="http://schemas.microsoft.com/office/powerpoint/2010/main" val="37116361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B9E75-7284-1F6F-900B-D491261712A2}"/>
              </a:ext>
            </a:extLst>
          </p:cNvPr>
          <p:cNvSpPr>
            <a:spLocks noGrp="1"/>
          </p:cNvSpPr>
          <p:nvPr>
            <p:ph type="title"/>
          </p:nvPr>
        </p:nvSpPr>
        <p:spPr/>
        <p:txBody>
          <a:bodyPr/>
          <a:lstStyle/>
          <a:p>
            <a:r>
              <a:rPr lang="en-US" dirty="0"/>
              <a:t>Dataset Description</a:t>
            </a:r>
          </a:p>
        </p:txBody>
      </p:sp>
      <p:sp>
        <p:nvSpPr>
          <p:cNvPr id="3" name="Content Placeholder 2">
            <a:extLst>
              <a:ext uri="{FF2B5EF4-FFF2-40B4-BE49-F238E27FC236}">
                <a16:creationId xmlns:a16="http://schemas.microsoft.com/office/drawing/2014/main" id="{5CD3E1BB-2D39-CECE-8B06-3240820DF3BC}"/>
              </a:ext>
            </a:extLst>
          </p:cNvPr>
          <p:cNvSpPr>
            <a:spLocks noGrp="1"/>
          </p:cNvSpPr>
          <p:nvPr>
            <p:ph idx="1"/>
          </p:nvPr>
        </p:nvSpPr>
        <p:spPr/>
        <p:txBody>
          <a:bodyPr/>
          <a:lstStyle/>
          <a:p>
            <a:r>
              <a:rPr lang="en-US" dirty="0"/>
              <a:t>Number of samples: 2,240 customers</a:t>
            </a:r>
          </a:p>
          <a:p>
            <a:r>
              <a:rPr lang="en-US" dirty="0"/>
              <a:t>Number of features: 24 input features after encoding (skip </a:t>
            </a:r>
            <a:r>
              <a:rPr lang="en-US" dirty="0" err="1"/>
              <a:t>DTcustomer</a:t>
            </a:r>
            <a:r>
              <a:rPr lang="en-US" dirty="0"/>
              <a:t>, Complain, </a:t>
            </a:r>
            <a:r>
              <a:rPr lang="en-US" dirty="0" err="1"/>
              <a:t>Z_CostContact</a:t>
            </a:r>
            <a:r>
              <a:rPr lang="en-US" dirty="0"/>
              <a:t>, </a:t>
            </a:r>
            <a:r>
              <a:rPr lang="en-US" dirty="0" err="1"/>
              <a:t>Z_Revenue</a:t>
            </a:r>
            <a:r>
              <a:rPr lang="en-US" dirty="0"/>
              <a:t>)</a:t>
            </a:r>
          </a:p>
          <a:p>
            <a:r>
              <a:rPr lang="en-US" dirty="0"/>
              <a:t>Target variable: Response — 1 if the customer accepted the most recent campaign, 0 otherwise</a:t>
            </a:r>
          </a:p>
        </p:txBody>
      </p:sp>
    </p:spTree>
    <p:extLst>
      <p:ext uri="{BB962C8B-B14F-4D97-AF65-F5344CB8AC3E}">
        <p14:creationId xmlns:p14="http://schemas.microsoft.com/office/powerpoint/2010/main" val="9224988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C3A8E-2140-2D71-5F7F-043CA676185F}"/>
              </a:ext>
            </a:extLst>
          </p:cNvPr>
          <p:cNvSpPr>
            <a:spLocks noGrp="1"/>
          </p:cNvSpPr>
          <p:nvPr>
            <p:ph type="title"/>
          </p:nvPr>
        </p:nvSpPr>
        <p:spPr/>
        <p:txBody>
          <a:bodyPr/>
          <a:lstStyle/>
          <a:p>
            <a:r>
              <a:rPr lang="en-US" dirty="0"/>
              <a:t>Implementation – Data Preprocessing</a:t>
            </a:r>
          </a:p>
        </p:txBody>
      </p:sp>
      <p:sp>
        <p:nvSpPr>
          <p:cNvPr id="3" name="Content Placeholder 2">
            <a:extLst>
              <a:ext uri="{FF2B5EF4-FFF2-40B4-BE49-F238E27FC236}">
                <a16:creationId xmlns:a16="http://schemas.microsoft.com/office/drawing/2014/main" id="{A51337E8-9761-D153-8C53-5C0EF374856F}"/>
              </a:ext>
            </a:extLst>
          </p:cNvPr>
          <p:cNvSpPr>
            <a:spLocks noGrp="1"/>
          </p:cNvSpPr>
          <p:nvPr>
            <p:ph idx="1"/>
          </p:nvPr>
        </p:nvSpPr>
        <p:spPr/>
        <p:txBody>
          <a:bodyPr/>
          <a:lstStyle/>
          <a:p>
            <a:pPr marL="514350" indent="-514350">
              <a:buAutoNum type="arabicPeriod"/>
            </a:pPr>
            <a:r>
              <a:rPr lang="en-US" dirty="0"/>
              <a:t>Load Dataset</a:t>
            </a:r>
          </a:p>
          <a:p>
            <a:pPr marL="514350" indent="-514350">
              <a:buAutoNum type="arabicPeriod"/>
            </a:pPr>
            <a:r>
              <a:rPr lang="en-US" dirty="0"/>
              <a:t>Cleaning / Handling Missing Values</a:t>
            </a:r>
          </a:p>
          <a:p>
            <a:pPr marL="514350" indent="-514350">
              <a:buAutoNum type="arabicPeriod"/>
            </a:pPr>
            <a:r>
              <a:rPr lang="en-US" dirty="0"/>
              <a:t>Define Features and Target</a:t>
            </a:r>
          </a:p>
          <a:p>
            <a:pPr marL="514350" indent="-514350">
              <a:buAutoNum type="arabicPeriod"/>
            </a:pPr>
            <a:r>
              <a:rPr lang="en-US" dirty="0"/>
              <a:t>Preprocessing: Encoding &amp; Scaling</a:t>
            </a:r>
          </a:p>
          <a:p>
            <a:pPr marL="514350" indent="-514350">
              <a:buAutoNum type="arabicPeriod"/>
            </a:pPr>
            <a:r>
              <a:rPr lang="en-US" dirty="0"/>
              <a:t>Train / Validation / Test Split</a:t>
            </a:r>
          </a:p>
          <a:p>
            <a:pPr marL="514350" indent="-514350">
              <a:buAutoNum type="arabicPeriod"/>
            </a:pPr>
            <a:r>
              <a:rPr lang="en-US" dirty="0"/>
              <a:t>Fit Preprocessor and Transform</a:t>
            </a:r>
          </a:p>
          <a:p>
            <a:pPr marL="514350" indent="-514350">
              <a:buAutoNum type="arabicPeriod"/>
            </a:pPr>
            <a:r>
              <a:rPr lang="en-US" dirty="0"/>
              <a:t>Output shapes</a:t>
            </a:r>
          </a:p>
        </p:txBody>
      </p:sp>
    </p:spTree>
    <p:extLst>
      <p:ext uri="{BB962C8B-B14F-4D97-AF65-F5344CB8AC3E}">
        <p14:creationId xmlns:p14="http://schemas.microsoft.com/office/powerpoint/2010/main" val="11848987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BCDD62-D61D-A57E-9DD7-0B7663B932F3}"/>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br>
              <a:rPr lang="en-US" sz="2500" kern="1200">
                <a:solidFill>
                  <a:srgbClr val="FFFFFF"/>
                </a:solidFill>
                <a:latin typeface="+mj-lt"/>
                <a:ea typeface="+mj-ea"/>
                <a:cs typeface="+mj-cs"/>
              </a:rPr>
            </a:br>
            <a:r>
              <a:rPr lang="en-US" sz="2500" kern="1200">
                <a:solidFill>
                  <a:srgbClr val="FFFFFF"/>
                </a:solidFill>
                <a:latin typeface="+mj-lt"/>
                <a:ea typeface="+mj-ea"/>
                <a:cs typeface="+mj-cs"/>
              </a:rPr>
              <a:t>Implementation – Hyperparameter Search for Logistic Regression</a:t>
            </a:r>
            <a:br>
              <a:rPr lang="en-US" sz="2500" kern="1200">
                <a:solidFill>
                  <a:srgbClr val="FFFFFF"/>
                </a:solidFill>
                <a:latin typeface="+mj-lt"/>
                <a:ea typeface="+mj-ea"/>
                <a:cs typeface="+mj-cs"/>
              </a:rPr>
            </a:br>
            <a:endParaRPr lang="en-US" sz="2500" kern="1200">
              <a:solidFill>
                <a:srgbClr val="FFFFFF"/>
              </a:solidFill>
              <a:latin typeface="+mj-lt"/>
              <a:ea typeface="+mj-ea"/>
              <a:cs typeface="+mj-cs"/>
            </a:endParaRPr>
          </a:p>
        </p:txBody>
      </p:sp>
      <p:pic>
        <p:nvPicPr>
          <p:cNvPr id="5" name="Content Placeholder 4" descr="A graph of a logistic performance&#10;&#10;AI-generated content may be incorrect.">
            <a:extLst>
              <a:ext uri="{FF2B5EF4-FFF2-40B4-BE49-F238E27FC236}">
                <a16:creationId xmlns:a16="http://schemas.microsoft.com/office/drawing/2014/main" id="{9359321D-C1D7-81A3-EAE5-9E40DCAC7A4A}"/>
              </a:ext>
            </a:extLst>
          </p:cNvPr>
          <p:cNvPicPr>
            <a:picLocks noGrp="1" noChangeAspect="1"/>
          </p:cNvPicPr>
          <p:nvPr>
            <p:ph idx="1"/>
          </p:nvPr>
        </p:nvPicPr>
        <p:blipFill>
          <a:blip r:embed="rId3"/>
          <a:stretch>
            <a:fillRect/>
          </a:stretch>
        </p:blipFill>
        <p:spPr>
          <a:xfrm>
            <a:off x="4777316" y="1385150"/>
            <a:ext cx="6780700" cy="4085371"/>
          </a:xfrm>
          <a:prstGeom prst="rect">
            <a:avLst/>
          </a:prstGeom>
        </p:spPr>
      </p:pic>
    </p:spTree>
    <p:extLst>
      <p:ext uri="{BB962C8B-B14F-4D97-AF65-F5344CB8AC3E}">
        <p14:creationId xmlns:p14="http://schemas.microsoft.com/office/powerpoint/2010/main" val="12299039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Flowchart: Document 15">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rgbClr val="84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3412F1-D713-3CEC-03E7-C912B47F6E2E}"/>
              </a:ext>
            </a:extLst>
          </p:cNvPr>
          <p:cNvSpPr>
            <a:spLocks noGrp="1"/>
          </p:cNvSpPr>
          <p:nvPr>
            <p:ph type="title"/>
          </p:nvPr>
        </p:nvSpPr>
        <p:spPr>
          <a:xfrm>
            <a:off x="838200" y="171162"/>
            <a:ext cx="2840182" cy="2371148"/>
          </a:xfrm>
        </p:spPr>
        <p:txBody>
          <a:bodyPr vert="horz" lIns="91440" tIns="45720" rIns="91440" bIns="45720" rtlCol="0" anchor="ctr">
            <a:normAutofit/>
          </a:bodyPr>
          <a:lstStyle/>
          <a:p>
            <a:r>
              <a:rPr lang="en-US" sz="3200" kern="1200" dirty="0">
                <a:solidFill>
                  <a:srgbClr val="FFFFFF"/>
                </a:solidFill>
                <a:latin typeface="+mj-lt"/>
                <a:ea typeface="+mj-ea"/>
                <a:cs typeface="+mj-cs"/>
              </a:rPr>
              <a:t>Evaluation – Confusion Metrics</a:t>
            </a:r>
          </a:p>
        </p:txBody>
      </p:sp>
      <p:pic>
        <p:nvPicPr>
          <p:cNvPr id="5" name="Content Placeholder 4">
            <a:extLst>
              <a:ext uri="{FF2B5EF4-FFF2-40B4-BE49-F238E27FC236}">
                <a16:creationId xmlns:a16="http://schemas.microsoft.com/office/drawing/2014/main" id="{79B0D045-0726-CB5C-2B90-481206CA79EE}"/>
              </a:ext>
            </a:extLst>
          </p:cNvPr>
          <p:cNvPicPr>
            <a:picLocks noGrp="1" noChangeAspect="1"/>
          </p:cNvPicPr>
          <p:nvPr>
            <p:ph idx="1"/>
          </p:nvPr>
        </p:nvPicPr>
        <p:blipFill>
          <a:blip r:embed="rId3"/>
          <a:stretch>
            <a:fillRect/>
          </a:stretch>
        </p:blipFill>
        <p:spPr>
          <a:xfrm>
            <a:off x="4782358" y="640080"/>
            <a:ext cx="6198686" cy="5578816"/>
          </a:xfrm>
          <a:prstGeom prst="rect">
            <a:avLst/>
          </a:prstGeom>
        </p:spPr>
      </p:pic>
    </p:spTree>
    <p:extLst>
      <p:ext uri="{BB962C8B-B14F-4D97-AF65-F5344CB8AC3E}">
        <p14:creationId xmlns:p14="http://schemas.microsoft.com/office/powerpoint/2010/main" val="20704358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4AA125-B467-EFAB-ED95-C6C18D7A7C9B}"/>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Evaluation – ROC curve</a:t>
            </a:r>
          </a:p>
        </p:txBody>
      </p:sp>
      <p:pic>
        <p:nvPicPr>
          <p:cNvPr id="5" name="Content Placeholder 4">
            <a:extLst>
              <a:ext uri="{FF2B5EF4-FFF2-40B4-BE49-F238E27FC236}">
                <a16:creationId xmlns:a16="http://schemas.microsoft.com/office/drawing/2014/main" id="{8F64F488-7064-BDE5-7107-FF8D2BDFA428}"/>
              </a:ext>
            </a:extLst>
          </p:cNvPr>
          <p:cNvPicPr>
            <a:picLocks noGrp="1" noChangeAspect="1"/>
          </p:cNvPicPr>
          <p:nvPr>
            <p:ph idx="1"/>
          </p:nvPr>
        </p:nvPicPr>
        <p:blipFill>
          <a:blip r:embed="rId3"/>
          <a:stretch>
            <a:fillRect/>
          </a:stretch>
        </p:blipFill>
        <p:spPr>
          <a:xfrm>
            <a:off x="5717421" y="643466"/>
            <a:ext cx="4900489" cy="5568739"/>
          </a:xfrm>
          <a:prstGeom prst="rect">
            <a:avLst/>
          </a:prstGeom>
        </p:spPr>
      </p:pic>
    </p:spTree>
    <p:extLst>
      <p:ext uri="{BB962C8B-B14F-4D97-AF65-F5344CB8AC3E}">
        <p14:creationId xmlns:p14="http://schemas.microsoft.com/office/powerpoint/2010/main" val="28210754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7D30CD-0942-264A-6D5A-02A93E423072}"/>
              </a:ext>
            </a:extLst>
          </p:cNvPr>
          <p:cNvSpPr>
            <a:spLocks noGrp="1"/>
          </p:cNvSpPr>
          <p:nvPr>
            <p:ph type="title"/>
          </p:nvPr>
        </p:nvSpPr>
        <p:spPr>
          <a:xfrm>
            <a:off x="699713" y="248038"/>
            <a:ext cx="8535727" cy="1159200"/>
          </a:xfrm>
        </p:spPr>
        <p:txBody>
          <a:bodyPr vert="horz" lIns="91440" tIns="45720" rIns="91440" bIns="45720" rtlCol="0" anchor="ctr">
            <a:normAutofit/>
          </a:bodyPr>
          <a:lstStyle/>
          <a:p>
            <a:r>
              <a:rPr lang="en-US" sz="3700" kern="1200" dirty="0">
                <a:solidFill>
                  <a:srgbClr val="FFFFFF"/>
                </a:solidFill>
                <a:latin typeface="+mj-lt"/>
                <a:ea typeface="+mj-ea"/>
                <a:cs typeface="+mj-cs"/>
              </a:rPr>
              <a:t>Evaluation – Interpret the coefficients Part 1</a:t>
            </a:r>
          </a:p>
        </p:txBody>
      </p:sp>
      <p:pic>
        <p:nvPicPr>
          <p:cNvPr id="26" name="Content Placeholder 25">
            <a:extLst>
              <a:ext uri="{FF2B5EF4-FFF2-40B4-BE49-F238E27FC236}">
                <a16:creationId xmlns:a16="http://schemas.microsoft.com/office/drawing/2014/main" id="{971083FA-85AA-56E5-CA92-061B6C5C476C}"/>
              </a:ext>
            </a:extLst>
          </p:cNvPr>
          <p:cNvPicPr>
            <a:picLocks noGrp="1" noChangeAspect="1"/>
          </p:cNvPicPr>
          <p:nvPr>
            <p:ph idx="1"/>
          </p:nvPr>
        </p:nvPicPr>
        <p:blipFill>
          <a:blip r:embed="rId2"/>
          <a:stretch>
            <a:fillRect/>
          </a:stretch>
        </p:blipFill>
        <p:spPr>
          <a:xfrm>
            <a:off x="1256694" y="1966293"/>
            <a:ext cx="9678610" cy="4452160"/>
          </a:xfrm>
          <a:prstGeom prst="rect">
            <a:avLst/>
          </a:prstGeom>
        </p:spPr>
      </p:pic>
    </p:spTree>
    <p:extLst>
      <p:ext uri="{BB962C8B-B14F-4D97-AF65-F5344CB8AC3E}">
        <p14:creationId xmlns:p14="http://schemas.microsoft.com/office/powerpoint/2010/main" val="36578735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B88AC1F-999D-226C-C828-21C137E7A466}"/>
              </a:ext>
            </a:extLst>
          </p:cNvPr>
          <p:cNvSpPr>
            <a:spLocks noGrp="1"/>
          </p:cNvSpPr>
          <p:nvPr>
            <p:ph type="title"/>
          </p:nvPr>
        </p:nvSpPr>
        <p:spPr>
          <a:xfrm>
            <a:off x="699713" y="248038"/>
            <a:ext cx="8307127" cy="1159200"/>
          </a:xfrm>
        </p:spPr>
        <p:txBody>
          <a:bodyPr vert="horz" lIns="91440" tIns="45720" rIns="91440" bIns="45720" rtlCol="0" anchor="ctr">
            <a:normAutofit/>
          </a:bodyPr>
          <a:lstStyle/>
          <a:p>
            <a:r>
              <a:rPr lang="en-US" sz="3700" kern="1200" dirty="0">
                <a:solidFill>
                  <a:srgbClr val="FFFFFF"/>
                </a:solidFill>
                <a:latin typeface="+mj-lt"/>
                <a:ea typeface="+mj-ea"/>
                <a:cs typeface="+mj-cs"/>
              </a:rPr>
              <a:t>Evaluation – Interpret the coefficient Part 2</a:t>
            </a:r>
          </a:p>
        </p:txBody>
      </p:sp>
      <p:pic>
        <p:nvPicPr>
          <p:cNvPr id="5" name="Content Placeholder 4" descr="A screenshot of a data&#10;&#10;AI-generated content may be incorrect.">
            <a:extLst>
              <a:ext uri="{FF2B5EF4-FFF2-40B4-BE49-F238E27FC236}">
                <a16:creationId xmlns:a16="http://schemas.microsoft.com/office/drawing/2014/main" id="{B3F4DB54-754B-5930-539C-A3970E5EB69F}"/>
              </a:ext>
            </a:extLst>
          </p:cNvPr>
          <p:cNvPicPr>
            <a:picLocks noGrp="1" noChangeAspect="1"/>
          </p:cNvPicPr>
          <p:nvPr>
            <p:ph idx="1"/>
          </p:nvPr>
        </p:nvPicPr>
        <p:blipFill>
          <a:blip r:embed="rId2"/>
          <a:stretch>
            <a:fillRect/>
          </a:stretch>
        </p:blipFill>
        <p:spPr>
          <a:xfrm>
            <a:off x="1282851" y="1966293"/>
            <a:ext cx="9626296" cy="4452160"/>
          </a:xfrm>
          <a:prstGeom prst="rect">
            <a:avLst/>
          </a:prstGeom>
        </p:spPr>
      </p:pic>
    </p:spTree>
    <p:extLst>
      <p:ext uri="{BB962C8B-B14F-4D97-AF65-F5344CB8AC3E}">
        <p14:creationId xmlns:p14="http://schemas.microsoft.com/office/powerpoint/2010/main" val="417863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748608-0660-0DCE-FCF6-E840186A8301}"/>
              </a:ext>
            </a:extLst>
          </p:cNvPr>
          <p:cNvSpPr>
            <a:spLocks noGrp="1"/>
          </p:cNvSpPr>
          <p:nvPr>
            <p:ph type="title"/>
          </p:nvPr>
        </p:nvSpPr>
        <p:spPr>
          <a:xfrm>
            <a:off x="466722" y="586855"/>
            <a:ext cx="3201366" cy="3387497"/>
          </a:xfrm>
        </p:spPr>
        <p:txBody>
          <a:bodyPr anchor="b">
            <a:normAutofit/>
          </a:bodyPr>
          <a:lstStyle/>
          <a:p>
            <a:pPr algn="r"/>
            <a:r>
              <a:rPr lang="en-US" sz="3700" dirty="0">
                <a:solidFill>
                  <a:srgbClr val="FFFFFF"/>
                </a:solidFill>
              </a:rPr>
              <a:t>Advantages and Disadvantages</a:t>
            </a:r>
          </a:p>
        </p:txBody>
      </p:sp>
      <p:sp>
        <p:nvSpPr>
          <p:cNvPr id="3" name="Content Placeholder 2">
            <a:extLst>
              <a:ext uri="{FF2B5EF4-FFF2-40B4-BE49-F238E27FC236}">
                <a16:creationId xmlns:a16="http://schemas.microsoft.com/office/drawing/2014/main" id="{070D8703-0CB9-2D43-78C0-F29031264A49}"/>
              </a:ext>
            </a:extLst>
          </p:cNvPr>
          <p:cNvSpPr>
            <a:spLocks noGrp="1"/>
          </p:cNvSpPr>
          <p:nvPr>
            <p:ph idx="1"/>
          </p:nvPr>
        </p:nvSpPr>
        <p:spPr>
          <a:xfrm>
            <a:off x="4810259" y="649480"/>
            <a:ext cx="6555347" cy="5546047"/>
          </a:xfrm>
        </p:spPr>
        <p:txBody>
          <a:bodyPr anchor="ctr">
            <a:normAutofit fontScale="92500" lnSpcReduction="10000"/>
          </a:bodyPr>
          <a:lstStyle/>
          <a:p>
            <a:pPr marL="0" indent="0" fontAlgn="base">
              <a:buNone/>
            </a:pPr>
            <a:r>
              <a:rPr lang="en-US" sz="2400" b="1" dirty="0"/>
              <a:t>Strengths:</a:t>
            </a:r>
          </a:p>
          <a:p>
            <a:pPr marL="0" indent="0" fontAlgn="base">
              <a:buNone/>
            </a:pPr>
            <a:r>
              <a:rPr lang="en-US" sz="2400" dirty="0"/>
              <a:t>     - Coefficients are easy to interpret. They directly show how features influence the log-odds of the outcome. </a:t>
            </a:r>
          </a:p>
          <a:p>
            <a:pPr marL="0" indent="0" fontAlgn="base">
              <a:buNone/>
            </a:pPr>
            <a:r>
              <a:rPr lang="en-US" sz="2400" dirty="0"/>
              <a:t>     - High performance on linearly separable data. </a:t>
            </a:r>
          </a:p>
          <a:p>
            <a:pPr marL="0" indent="0" fontAlgn="base">
              <a:buNone/>
            </a:pPr>
            <a:r>
              <a:rPr lang="en-US" sz="2400" dirty="0"/>
              <a:t>     - Simplicity due easy to implement and tune.</a:t>
            </a:r>
          </a:p>
          <a:p>
            <a:pPr marL="0" indent="0" fontAlgn="base">
              <a:buNone/>
            </a:pPr>
            <a:r>
              <a:rPr lang="en-US" sz="2400" dirty="0"/>
              <a:t> </a:t>
            </a:r>
          </a:p>
          <a:p>
            <a:pPr marL="0" indent="0" fontAlgn="base">
              <a:buNone/>
            </a:pPr>
            <a:r>
              <a:rPr lang="en-US" sz="2400" b="1" dirty="0"/>
              <a:t>Weaknesses:</a:t>
            </a:r>
          </a:p>
          <a:p>
            <a:pPr marL="0" indent="0" fontAlgn="base">
              <a:buNone/>
            </a:pPr>
            <a:r>
              <a:rPr lang="en-US" sz="2400" dirty="0"/>
              <a:t>      - Overfitting can happen when there are many correlated features, or the dataset is small. </a:t>
            </a:r>
          </a:p>
          <a:p>
            <a:pPr marL="0" indent="0" fontAlgn="base">
              <a:buNone/>
            </a:pPr>
            <a:r>
              <a:rPr lang="en-US" sz="2400" dirty="0"/>
              <a:t>      - It heavily requires proper learning rate, regularization strength, and feature scaling. </a:t>
            </a:r>
          </a:p>
          <a:p>
            <a:pPr marL="0" indent="0" fontAlgn="base">
              <a:buNone/>
            </a:pPr>
            <a:r>
              <a:rPr lang="en-US" sz="2400" dirty="0"/>
              <a:t>      - Often struggle with datasets that have complex structure, large interactions, or unobserved nonlinear patterns. </a:t>
            </a:r>
          </a:p>
          <a:p>
            <a:pPr marL="0" indent="0">
              <a:buNone/>
            </a:pPr>
            <a:endParaRPr lang="en-US" sz="2000" dirty="0"/>
          </a:p>
        </p:txBody>
      </p:sp>
    </p:spTree>
    <p:extLst>
      <p:ext uri="{BB962C8B-B14F-4D97-AF65-F5344CB8AC3E}">
        <p14:creationId xmlns:p14="http://schemas.microsoft.com/office/powerpoint/2010/main" val="39501842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7D61D-9E8D-62E5-7CE2-2CF1810982CC}"/>
              </a:ext>
            </a:extLst>
          </p:cNvPr>
          <p:cNvSpPr>
            <a:spLocks noGrp="1"/>
          </p:cNvSpPr>
          <p:nvPr>
            <p:ph type="title"/>
          </p:nvPr>
        </p:nvSpPr>
        <p:spPr/>
        <p:txBody>
          <a:bodyPr/>
          <a:lstStyle/>
          <a:p>
            <a:r>
              <a:rPr lang="en-US" dirty="0"/>
              <a:t>Comparison and Alternatives</a:t>
            </a:r>
          </a:p>
        </p:txBody>
      </p:sp>
      <p:sp>
        <p:nvSpPr>
          <p:cNvPr id="3" name="Content Placeholder 2">
            <a:extLst>
              <a:ext uri="{FF2B5EF4-FFF2-40B4-BE49-F238E27FC236}">
                <a16:creationId xmlns:a16="http://schemas.microsoft.com/office/drawing/2014/main" id="{161E021D-91B5-29BE-84AE-D82DE45D11DD}"/>
              </a:ext>
            </a:extLst>
          </p:cNvPr>
          <p:cNvSpPr>
            <a:spLocks noGrp="1"/>
          </p:cNvSpPr>
          <p:nvPr>
            <p:ph idx="1"/>
          </p:nvPr>
        </p:nvSpPr>
        <p:spPr/>
        <p:txBody>
          <a:bodyPr/>
          <a:lstStyle/>
          <a:p>
            <a:pPr marL="0" indent="0">
              <a:buNone/>
            </a:pPr>
            <a:endParaRPr lang="en-US" dirty="0"/>
          </a:p>
        </p:txBody>
      </p:sp>
    </p:spTree>
    <p:extLst>
      <p:ext uri="{BB962C8B-B14F-4D97-AF65-F5344CB8AC3E}">
        <p14:creationId xmlns:p14="http://schemas.microsoft.com/office/powerpoint/2010/main" val="183304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D6C93-9642-EF75-9F2D-17189EAD7E1E}"/>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0253CFF5-0304-49D3-7DDA-726888003447}"/>
              </a:ext>
            </a:extLst>
          </p:cNvPr>
          <p:cNvSpPr>
            <a:spLocks noGrp="1"/>
          </p:cNvSpPr>
          <p:nvPr>
            <p:ph idx="1"/>
          </p:nvPr>
        </p:nvSpPr>
        <p:spPr/>
        <p:txBody>
          <a:bodyPr/>
          <a:lstStyle/>
          <a:p>
            <a:r>
              <a:rPr lang="en-US" dirty="0" err="1"/>
              <a:t>GeeksforGeeks</a:t>
            </a:r>
            <a:r>
              <a:rPr lang="en-US" dirty="0"/>
              <a:t>. (2017, May 9). </a:t>
            </a:r>
            <a:r>
              <a:rPr lang="en-US" i="1" dirty="0"/>
              <a:t>Logistic Regression in Machine Learning</a:t>
            </a:r>
            <a:r>
              <a:rPr lang="en-US" dirty="0"/>
              <a:t>. </a:t>
            </a:r>
            <a:r>
              <a:rPr lang="en-US" dirty="0" err="1"/>
              <a:t>GeeksforGeeks</a:t>
            </a:r>
            <a:r>
              <a:rPr lang="en-US" dirty="0"/>
              <a:t>. </a:t>
            </a:r>
            <a:r>
              <a:rPr lang="en-US" dirty="0">
                <a:hlinkClick r:id="rId2"/>
              </a:rPr>
              <a:t>https://www.geeksforgeeks.org/machine-learning/understanding-logistic-regression/</a:t>
            </a:r>
            <a:endParaRPr lang="en-US" dirty="0"/>
          </a:p>
          <a:p>
            <a:r>
              <a:rPr lang="en-US" dirty="0"/>
              <a:t>‌ Lee, F. (2025, May 14). </a:t>
            </a:r>
            <a:r>
              <a:rPr lang="en-US" i="1" dirty="0"/>
              <a:t>Logistic Regression</a:t>
            </a:r>
            <a:r>
              <a:rPr lang="en-US" dirty="0"/>
              <a:t>. Ibm.com. </a:t>
            </a:r>
            <a:r>
              <a:rPr lang="en-US" dirty="0">
                <a:hlinkClick r:id="rId3"/>
              </a:rPr>
              <a:t>https://www.ibm.com/think/topics/logistic-regression</a:t>
            </a:r>
            <a:endParaRPr lang="en-US" dirty="0"/>
          </a:p>
          <a:p>
            <a:r>
              <a:rPr lang="en-US" dirty="0"/>
              <a:t>Brownlee, J. (2016, September 22). </a:t>
            </a:r>
            <a:r>
              <a:rPr lang="en-US" i="1" dirty="0"/>
              <a:t>Logistic Regression for Machine Learning</a:t>
            </a:r>
            <a:r>
              <a:rPr lang="en-US" dirty="0"/>
              <a:t>. Machine Learning Mastery. </a:t>
            </a:r>
            <a:r>
              <a:rPr lang="en-US" dirty="0">
                <a:hlinkClick r:id="rId4"/>
              </a:rPr>
              <a:t>https://machinelearningmastery.com/logistic-regression-for-machine-learning/</a:t>
            </a:r>
            <a:endParaRPr lang="en-US" dirty="0"/>
          </a:p>
          <a:p>
            <a:endParaRPr lang="en-US" dirty="0"/>
          </a:p>
          <a:p>
            <a:pPr marL="0" indent="0">
              <a:buNone/>
            </a:pPr>
            <a:endParaRPr lang="en-US" dirty="0"/>
          </a:p>
        </p:txBody>
      </p:sp>
    </p:spTree>
    <p:extLst>
      <p:ext uri="{BB962C8B-B14F-4D97-AF65-F5344CB8AC3E}">
        <p14:creationId xmlns:p14="http://schemas.microsoft.com/office/powerpoint/2010/main" val="24952754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317</TotalTime>
  <Words>1746</Words>
  <Application>Microsoft Office PowerPoint</Application>
  <PresentationFormat>Widescreen</PresentationFormat>
  <Paragraphs>158</Paragraphs>
  <Slides>19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Aptos Display</vt:lpstr>
      <vt:lpstr>Arial</vt:lpstr>
      <vt:lpstr>Cambria Math</vt:lpstr>
      <vt:lpstr>Office Theme</vt:lpstr>
      <vt:lpstr>Logistic Regression</vt:lpstr>
      <vt:lpstr>Overview of the Algorithm – Name and Purpose</vt:lpstr>
      <vt:lpstr>Overview of the Algorithm – Background</vt:lpstr>
      <vt:lpstr>Overview of the Algorithm – Applications</vt:lpstr>
      <vt:lpstr>Problem Type</vt:lpstr>
      <vt:lpstr>How the Algorithm Works?</vt:lpstr>
      <vt:lpstr>Computational Complexity</vt:lpstr>
      <vt:lpstr>Example Application</vt:lpstr>
      <vt:lpstr>Our Mission</vt:lpstr>
      <vt:lpstr>Dataset Description</vt:lpstr>
      <vt:lpstr>Implementation – Data Preprocessing</vt:lpstr>
      <vt:lpstr> Implementation – Hyperparameter Search for Logistic Regression </vt:lpstr>
      <vt:lpstr>Evaluation – Confusion Metrics</vt:lpstr>
      <vt:lpstr>Evaluation – ROC curve</vt:lpstr>
      <vt:lpstr>Evaluation – Interpret the coefficients Part 1</vt:lpstr>
      <vt:lpstr>Evaluation – Interpret the coefficient Part 2</vt:lpstr>
      <vt:lpstr>Advantages and Disadvantages</vt:lpstr>
      <vt:lpstr>Comparison and Alternatives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Paladugu, Pranaav</dc:creator>
  <cp:lastModifiedBy>Paladugu, Pranaav</cp:lastModifiedBy>
  <cp:revision>2</cp:revision>
  <dcterms:created xsi:type="dcterms:W3CDTF">2025-12-01T20:37:00Z</dcterms:created>
  <dcterms:modified xsi:type="dcterms:W3CDTF">2025-12-04T00:13:00Z</dcterms:modified>
</cp:coreProperties>
</file>